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956713e721d4006" /><Relationship Type="http://schemas.openxmlformats.org/officeDocument/2006/relationships/extended-properties" Target="/docProps/app.xml" Id="Ra67dd9bd52434a9a" /><Relationship Type="http://schemas.openxmlformats.org/officeDocument/2006/relationships/officeDocument" Target="/ppt/presentation.xml" Id="R029ac502869a4c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48dd092d1594e29"/>
  </p:sldMasterIdLst>
  <p:notesMasterIdLst>
    <p:notesMasterId xmlns:r="http://schemas.openxmlformats.org/officeDocument/2006/relationships" r:id="R0aa65fb2dded4c9a"/>
  </p:notesMasterIdLst>
  <p:sldIdLst>
    <p:sldId xmlns:r="http://schemas.openxmlformats.org/officeDocument/2006/relationships" id="256" r:id="R71af9553fbd5466d"/>
    <p:sldId xmlns:r="http://schemas.openxmlformats.org/officeDocument/2006/relationships" id="257" r:id="Racd75de18b18492f"/>
    <p:sldId xmlns:r="http://schemas.openxmlformats.org/officeDocument/2006/relationships" id="258" r:id="R1110c4a519b149f1"/>
    <p:sldId xmlns:r="http://schemas.openxmlformats.org/officeDocument/2006/relationships" id="259" r:id="R460efe034d0041ea"/>
    <p:sldId xmlns:r="http://schemas.openxmlformats.org/officeDocument/2006/relationships" id="260" r:id="Rd71b55aa452d494b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8dd092d1594e29" /><Relationship Type="http://schemas.openxmlformats.org/officeDocument/2006/relationships/theme" Target="/ppt/theme/theme1.xml" Id="R476ad9e070f74c68" /><Relationship Type="http://schemas.openxmlformats.org/officeDocument/2006/relationships/notesMaster" Target="/ppt/notesMasters/notesMaster1.xml" Id="R0aa65fb2dded4c9a" /><Relationship Type="http://schemas.openxmlformats.org/officeDocument/2006/relationships/presProps" Target="/ppt/presProps.xml" Id="R5f57b1d80bc844d4" /><Relationship Type="http://schemas.openxmlformats.org/officeDocument/2006/relationships/viewProps" Target="/ppt/viewProps.xml" Id="R10da7d627e63486e" /><Relationship Type="http://schemas.openxmlformats.org/officeDocument/2006/relationships/tableStyles" Target="/ppt/tableStyles.xml" Id="R78fe89e99692415f" /><Relationship Type="http://schemas.openxmlformats.org/officeDocument/2006/relationships/slide" Target="/ppt/slides/slide1.xml" Id="R71af9553fbd5466d" /><Relationship Type="http://schemas.openxmlformats.org/officeDocument/2006/relationships/slide" Target="/ppt/slides/slide2.xml" Id="Racd75de18b18492f" /><Relationship Type="http://schemas.openxmlformats.org/officeDocument/2006/relationships/slide" Target="/ppt/slides/slide3.xml" Id="R1110c4a519b149f1" /><Relationship Type="http://schemas.openxmlformats.org/officeDocument/2006/relationships/slide" Target="/ppt/slides/slide4.xml" Id="R460efe034d0041ea" /><Relationship Type="http://schemas.openxmlformats.org/officeDocument/2006/relationships/slide" Target="/ppt/slides/slide5.xml" Id="Rd71b55aa452d494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3489dfd3f59431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d2c76a1e2d4434" /><Relationship Type="http://schemas.openxmlformats.org/officeDocument/2006/relationships/notesMaster" Target="/ppt/notesMasters/notesMaster1.xml" Id="R2e995158f81e4eb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73c4358ccc04939" /><Relationship Type="http://schemas.openxmlformats.org/officeDocument/2006/relationships/notesMaster" Target="/ppt/notesMasters/notesMaster1.xml" Id="R91322e9e33ba464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057fede4604df0" /><Relationship Type="http://schemas.openxmlformats.org/officeDocument/2006/relationships/notesMaster" Target="/ppt/notesMasters/notesMaster1.xml" Id="R0d4c7815928f4c2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1ab8a6d3a014fff" /><Relationship Type="http://schemas.openxmlformats.org/officeDocument/2006/relationships/notesMaster" Target="/ppt/notesMasters/notesMaster1.xml" Id="R2a91302fdfd44de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c0629befdef452c" /><Relationship Type="http://schemas.openxmlformats.org/officeDocument/2006/relationships/notesMaster" Target="/ppt/notesMasters/notesMaster1.xml" Id="R926ba4068e0e45a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56f8aece84495e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41ace9aa8daa45aa" /><Relationship Type="http://schemas.openxmlformats.org/officeDocument/2006/relationships/slideLayout" Target="/ppt/slideLayouts/slideLayout2.xml" Id="R4816a618ad83454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816a618ad83454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d637236115b483e" /><Relationship Type="http://schemas.openxmlformats.org/officeDocument/2006/relationships/notesSlide" Target="/ppt/notesSlides/notesSlide1.xml" Id="R0001154b8eb347c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4b2b6c95bf4951" /><Relationship Type="http://schemas.openxmlformats.org/officeDocument/2006/relationships/notesSlide" Target="/ppt/notesSlides/notesSlide2.xml" Id="R1aff2d173f854b3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ed65130c4c45f4" /><Relationship Type="http://schemas.openxmlformats.org/officeDocument/2006/relationships/notesSlide" Target="/ppt/notesSlides/notesSlide3.xml" Id="R934b4bace86a4e1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7a71f0728d41a8" /><Relationship Type="http://schemas.openxmlformats.org/officeDocument/2006/relationships/notesSlide" Target="/ppt/notesSlides/notesSlide4.xml" Id="R2f7ae226a16346d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0f24fea4b247a4" /><Relationship Type="http://schemas.openxmlformats.org/officeDocument/2006/relationships/notesSlide" Target="/ppt/notesSlides/notesSlide5.xml" Id="R41e0e6acfdbd457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F10259D7-A1B8-437B-9BA2-C68DC3110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  <a:prstDash val="solid"/>
          </a:ln>
        </p:spPr>
      </p:sp>
      <p:sp>
        <p:nvSpPr>
          <p:cNvPr id="2" name="header-spacer">
            <a:extLst xmlns:a="http://schemas.openxmlformats.org/drawingml/2006/main">
              <a:ext uri="{FF2B5EF4-FFF2-40B4-BE49-F238E27FC236}">
                <a16:creationId xmlns:a16="http://schemas.microsoft.com/office/drawing/2014/main" id="{F5708A92-AC0E-42A4-92D9-0A5FE257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  <a:prstDash val="solid"/>
          </a:ln>
        </p:spPr>
      </p:sp>
      <p:sp>
        <p:nvSpPr>
          <p:cNvPr id="3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BB49D782-2F26-4D50-A9E9-B008015C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81400"/>
            <a:ext cx="8286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7A58"/>
                </a:solidFill>
              </a:defRPr>
            </a:pPr>
            <a:r>
              <a:rPr sz="1800" b="1">
                <a:solidFill>
                  <a:srgbClr val="007A58"/>
                </a:solidFill>
              </a:rPr>
              <a:t>Nano-payments for supervised machine spending</a:t>
            </a:r>
          </a:p>
        </p:txBody>
      </p:sp>
      <p:sp>
        <p:nvSpPr>
          <p:cNvPr id="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919B756-F518-4599-B70A-241EE7A3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76700"/>
            <a:ext cx="82867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400" b="1">
                <a:solidFill>
                  <a:srgbClr val="0B1220"/>
                </a:solidFill>
              </a:defRPr>
            </a:pPr>
            <a:r>
              <a:rPr sz="8400" b="1">
                <a:solidFill>
                  <a:srgbClr val="0B1220"/>
                </a:solidFill>
              </a:rPr>
              <a:t>PennyPilot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8F63EFC6-441F-4D81-9988-42DC7A4C0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91150"/>
            <a:ext cx="79248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596473"/>
                </a:solidFill>
              </a:defRPr>
            </a:pPr>
            <a:r>
              <a:rPr sz="2250">
                <a:solidFill>
                  <a:srgbClr val="596473"/>
                </a:solidFill>
              </a:rPr>
              <a:t>A spend-control card for AI finance agents buying paid financial facts through Circle Gateway x402, with receipts anchored on Arc.</a:t>
            </a:r>
          </a:p>
        </p:txBody>
      </p:sp>
      <p:sp>
        <p:nvSpPr>
          <p:cNvPr id="6" name="badge-Gateway x402">
            <a:extLst xmlns:a="http://schemas.openxmlformats.org/drawingml/2006/main">
              <a:ext uri="{FF2B5EF4-FFF2-40B4-BE49-F238E27FC236}">
                <a16:creationId xmlns:a16="http://schemas.microsoft.com/office/drawing/2014/main" id="{E830FD14-BBF4-4CDB-8EBE-0B4C3386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219825"/>
            <a:ext cx="2085975" cy="371475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D948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A897D1-81A5-4339-AD94-E1A6C1059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343650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solidFill>
              <a:srgbClr val="0D9488"/>
            </a:solidFill>
            <a:prstDash val="solid"/>
          </a:ln>
        </p:spPr>
      </p:sp>
      <p:sp>
        <p:nvSpPr>
          <p:cNvPr id="8" name="badge-text-Gateway x402">
            <a:extLst xmlns:a="http://schemas.openxmlformats.org/drawingml/2006/main">
              <a:ext uri="{FF2B5EF4-FFF2-40B4-BE49-F238E27FC236}">
                <a16:creationId xmlns:a16="http://schemas.microsoft.com/office/drawing/2014/main" id="{97FDFB3B-06E4-44F7-8488-E084AE095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6324600"/>
            <a:ext cx="1504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B1220"/>
                </a:solidFill>
              </a:defRPr>
            </a:pPr>
            <a:r>
              <a:rPr sz="1275" b="1">
                <a:solidFill>
                  <a:srgbClr val="0B1220"/>
                </a:solidFill>
              </a:rPr>
              <a:t>Gateway x402</a:t>
            </a:r>
          </a:p>
        </p:txBody>
      </p:sp>
      <p:sp>
        <p:nvSpPr>
          <p:cNvPr id="9" name="badge-Arc receipts">
            <a:extLst xmlns:a="http://schemas.openxmlformats.org/drawingml/2006/main">
              <a:ext uri="{FF2B5EF4-FFF2-40B4-BE49-F238E27FC236}">
                <a16:creationId xmlns:a16="http://schemas.microsoft.com/office/drawing/2014/main" id="{89FF5073-7F32-4DC1-9ED0-1030B7071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6219825"/>
            <a:ext cx="2085975" cy="371475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07A5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D30094-072F-4250-97DB-F8207B804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6343650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58"/>
          </a:solidFill>
          <a:ln xmlns:a="http://schemas.openxmlformats.org/drawingml/2006/main" w="0">
            <a:solidFill>
              <a:srgbClr val="007A58"/>
            </a:solidFill>
            <a:prstDash val="solid"/>
          </a:ln>
        </p:spPr>
      </p:sp>
      <p:sp>
        <p:nvSpPr>
          <p:cNvPr id="11" name="badge-text-Arc receipts">
            <a:extLst xmlns:a="http://schemas.openxmlformats.org/drawingml/2006/main">
              <a:ext uri="{FF2B5EF4-FFF2-40B4-BE49-F238E27FC236}">
                <a16:creationId xmlns:a16="http://schemas.microsoft.com/office/drawing/2014/main" id="{9FB09C68-67F8-4557-A9C5-9EF55B34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6324600"/>
            <a:ext cx="1504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B1220"/>
                </a:solidFill>
              </a:defRPr>
            </a:pPr>
            <a:r>
              <a:rPr sz="1275" b="1">
                <a:solidFill>
                  <a:srgbClr val="0B1220"/>
                </a:solidFill>
              </a:rPr>
              <a:t>Arc receipts</a:t>
            </a:r>
          </a:p>
        </p:txBody>
      </p:sp>
      <p:sp>
        <p:nvSpPr>
          <p:cNvPr id="12" name="badge-50 tx proof">
            <a:extLst xmlns:a="http://schemas.openxmlformats.org/drawingml/2006/main">
              <a:ext uri="{FF2B5EF4-FFF2-40B4-BE49-F238E27FC236}">
                <a16:creationId xmlns:a16="http://schemas.microsoft.com/office/drawing/2014/main" id="{E5F0EE75-2B09-4B53-BA4E-098F066A5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6219825"/>
            <a:ext cx="1981200" cy="371475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04F4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393510-9078-4CE5-ACEC-FB5C73B96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6343650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4F43"/>
          </a:solidFill>
          <a:ln xmlns:a="http://schemas.openxmlformats.org/drawingml/2006/main" w="0">
            <a:solidFill>
              <a:srgbClr val="E04F43"/>
            </a:solidFill>
            <a:prstDash val="solid"/>
          </a:ln>
        </p:spPr>
      </p:sp>
      <p:sp>
        <p:nvSpPr>
          <p:cNvPr id="14" name="badge-text-50 tx proof">
            <a:extLst xmlns:a="http://schemas.openxmlformats.org/drawingml/2006/main">
              <a:ext uri="{FF2B5EF4-FFF2-40B4-BE49-F238E27FC236}">
                <a16:creationId xmlns:a16="http://schemas.microsoft.com/office/drawing/2014/main" id="{141F2DCA-4F4C-44A1-9342-85F60BE8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6324600"/>
            <a:ext cx="1400175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B1220"/>
                </a:solidFill>
              </a:defRPr>
            </a:pPr>
            <a:r>
              <a:rPr sz="1275" b="1">
                <a:solidFill>
                  <a:srgbClr val="0B1220"/>
                </a:solidFill>
              </a:rPr>
              <a:t>50 tx proof</a:t>
            </a:r>
          </a:p>
        </p:txBody>
      </p:sp>
      <p:sp>
        <p:nvSpPr>
          <p:cNvPr id="15" name="cover-evidence-field">
            <a:extLst xmlns:a="http://schemas.openxmlformats.org/drawingml/2006/main">
              <a:ext uri="{FF2B5EF4-FFF2-40B4-BE49-F238E27FC236}">
                <a16:creationId xmlns:a16="http://schemas.microsoft.com/office/drawing/2014/main" id="{444C09C4-F110-4A93-9305-F3FE12F8C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4466" y="2152650"/>
            <a:ext cx="7644384" cy="5857875"/>
          </a:xfrm>
          <a:prstGeom xmlns:a="http://schemas.openxmlformats.org/drawingml/2006/main" prst="roundRect">
            <a:avLst>
              <a:gd name="adj" fmla="val 1301"/>
            </a:avLst>
          </a:prstGeom>
          <a:solidFill xmlns:a="http://schemas.openxmlformats.org/drawingml/2006/main">
            <a:srgbClr val="0E1116"/>
          </a:solidFill>
          <a:ln xmlns:a="http://schemas.openxmlformats.org/drawingml/2006/main" w="0">
            <a:solidFill>
              <a:srgbClr val="0E1116"/>
            </a:solidFill>
            <a:prstDash val="solid"/>
          </a:ln>
        </p:spPr>
      </p:sp>
      <p:sp>
        <p:nvSpPr>
          <p:cNvPr id="16" name="cover-number">
            <a:extLst xmlns:a="http://schemas.openxmlformats.org/drawingml/2006/main">
              <a:ext uri="{FF2B5EF4-FFF2-40B4-BE49-F238E27FC236}">
                <a16:creationId xmlns:a16="http://schemas.microsoft.com/office/drawing/2014/main" id="{29ECCE23-F7AD-4C29-9000-02D4AFE9D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552700"/>
            <a:ext cx="68008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150" b="1">
                <a:solidFill>
                  <a:srgbClr val="FFFFFF"/>
                </a:solidFill>
              </a:defRPr>
            </a:pPr>
            <a:r>
              <a:rPr sz="6150" b="1">
                <a:solidFill>
                  <a:srgbClr val="FFFFFF"/>
                </a:solidFill>
              </a:rPr>
              <a:t>$0.003885</a:t>
            </a:r>
          </a:p>
        </p:txBody>
      </p:sp>
      <p:sp>
        <p:nvSpPr>
          <p:cNvPr id="17" name="cover-number-label">
            <a:extLst xmlns:a="http://schemas.openxmlformats.org/drawingml/2006/main">
              <a:ext uri="{FF2B5EF4-FFF2-40B4-BE49-F238E27FC236}">
                <a16:creationId xmlns:a16="http://schemas.microsoft.com/office/drawing/2014/main" id="{43CA4159-2847-4D4E-83D5-21AB4391F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505200"/>
            <a:ext cx="392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B8C2CC"/>
                </a:solidFill>
              </a:defRPr>
            </a:pPr>
            <a:r>
              <a:rPr sz="1800">
                <a:solidFill>
                  <a:srgbClr val="B8C2CC"/>
                </a:solidFill>
              </a:rPr>
              <a:t>average paid action in the compact 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532F56-0A35-494C-B446-805B9DCDD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5029200"/>
            <a:ext cx="2133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58"/>
          </a:solidFill>
          <a:ln xmlns:a="http://schemas.openxmlformats.org/drawingml/2006/main" w="0">
            <a:solidFill>
              <a:srgbClr val="007A58"/>
            </a:solidFill>
            <a:prstDash val="solid"/>
          </a:ln>
        </p:spPr>
      </p:sp>
      <p:sp>
        <p:nvSpPr>
          <p:cNvPr id="19" name="dark-metric-value-task budget">
            <a:extLst xmlns:a="http://schemas.openxmlformats.org/drawingml/2006/main">
              <a:ext uri="{FF2B5EF4-FFF2-40B4-BE49-F238E27FC236}">
                <a16:creationId xmlns:a16="http://schemas.microsoft.com/office/drawing/2014/main" id="{7A1E52B3-A096-4B62-917D-DEE20B0F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5181600"/>
            <a:ext cx="21336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$0.25</a:t>
            </a:r>
          </a:p>
        </p:txBody>
      </p:sp>
      <p:sp>
        <p:nvSpPr>
          <p:cNvPr id="20" name="dark-metric-label-task budget">
            <a:extLst xmlns:a="http://schemas.openxmlformats.org/drawingml/2006/main">
              <a:ext uri="{FF2B5EF4-FFF2-40B4-BE49-F238E27FC236}">
                <a16:creationId xmlns:a16="http://schemas.microsoft.com/office/drawing/2014/main" id="{300763EE-0834-4D7F-AABB-4F21E1B9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5676900"/>
            <a:ext cx="21336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B8C2CC"/>
                </a:solidFill>
              </a:defRPr>
            </a:pPr>
            <a:r>
              <a:rPr sz="1350">
                <a:solidFill>
                  <a:srgbClr val="B8C2CC"/>
                </a:solidFill>
              </a:rPr>
              <a:t>task budget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B879AA-D57C-4D02-9045-ABC20196A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5029200"/>
            <a:ext cx="2133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solidFill>
              <a:srgbClr val="0D9488"/>
            </a:solidFill>
            <a:prstDash val="solid"/>
          </a:ln>
        </p:spPr>
      </p:sp>
      <p:sp>
        <p:nvSpPr>
          <p:cNvPr id="22" name="dark-metric-value-max per call">
            <a:extLst xmlns:a="http://schemas.openxmlformats.org/drawingml/2006/main">
              <a:ext uri="{FF2B5EF4-FFF2-40B4-BE49-F238E27FC236}">
                <a16:creationId xmlns:a16="http://schemas.microsoft.com/office/drawing/2014/main" id="{8757A128-BEE6-426E-A4BD-593C81F1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5181600"/>
            <a:ext cx="21336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$0.006</a:t>
            </a:r>
          </a:p>
        </p:txBody>
      </p:sp>
      <p:sp>
        <p:nvSpPr>
          <p:cNvPr id="23" name="dark-metric-label-max per call">
            <a:extLst xmlns:a="http://schemas.openxmlformats.org/drawingml/2006/main">
              <a:ext uri="{FF2B5EF4-FFF2-40B4-BE49-F238E27FC236}">
                <a16:creationId xmlns:a16="http://schemas.microsoft.com/office/drawing/2014/main" id="{2DB66385-53D0-4E21-8E1D-EA85085E5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5676900"/>
            <a:ext cx="21336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B8C2CC"/>
                </a:solidFill>
              </a:defRPr>
            </a:pPr>
            <a:r>
              <a:rPr sz="1350">
                <a:solidFill>
                  <a:srgbClr val="B8C2CC"/>
                </a:solidFill>
              </a:rPr>
              <a:t>max per call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A52603-AD1E-4405-8ABC-C0CCF2F4F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5029200"/>
            <a:ext cx="2133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4F43"/>
          </a:solidFill>
          <a:ln xmlns:a="http://schemas.openxmlformats.org/drawingml/2006/main" w="0">
            <a:solidFill>
              <a:srgbClr val="E04F43"/>
            </a:solidFill>
            <a:prstDash val="solid"/>
          </a:ln>
        </p:spPr>
      </p:sp>
      <p:sp>
        <p:nvSpPr>
          <p:cNvPr id="25" name="dark-metric-value-receipt tx">
            <a:extLst xmlns:a="http://schemas.openxmlformats.org/drawingml/2006/main">
              <a:ext uri="{FF2B5EF4-FFF2-40B4-BE49-F238E27FC236}">
                <a16:creationId xmlns:a16="http://schemas.microsoft.com/office/drawing/2014/main" id="{A7789A5C-2AFE-401B-854D-C948257D2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5181600"/>
            <a:ext cx="21336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50</a:t>
            </a:r>
          </a:p>
        </p:txBody>
      </p:sp>
      <p:sp>
        <p:nvSpPr>
          <p:cNvPr id="26" name="dark-metric-label-receipt tx">
            <a:extLst xmlns:a="http://schemas.openxmlformats.org/drawingml/2006/main">
              <a:ext uri="{FF2B5EF4-FFF2-40B4-BE49-F238E27FC236}">
                <a16:creationId xmlns:a16="http://schemas.microsoft.com/office/drawing/2014/main" id="{C5CF6E0F-D187-4FC3-8063-2F0CB82E7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5676900"/>
            <a:ext cx="21336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B8C2CC"/>
                </a:solidFill>
              </a:defRPr>
            </a:pPr>
            <a:r>
              <a:rPr sz="1350">
                <a:solidFill>
                  <a:srgbClr val="B8C2CC"/>
                </a:solidFill>
              </a:rPr>
              <a:t>receipt tx</a:t>
            </a:r>
          </a:p>
        </p:txBody>
      </p:sp>
      <p:sp>
        <p:nvSpPr>
          <p:cNvPr id="27" name="cover-app-url">
            <a:extLst xmlns:a="http://schemas.openxmlformats.org/drawingml/2006/main">
              <a:ext uri="{FF2B5EF4-FFF2-40B4-BE49-F238E27FC236}">
                <a16:creationId xmlns:a16="http://schemas.microsoft.com/office/drawing/2014/main" id="{9195055B-D8A6-40DD-8C9D-87D4A5E66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7124700"/>
            <a:ext cx="68008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pennypilot-five.vercel.app</a:t>
            </a:r>
          </a:p>
        </p:txBody>
      </p:sp>
      <p:sp>
        <p:nvSpPr>
          <p:cNvPr id="28" name="cover-contract">
            <a:extLst xmlns:a="http://schemas.openxmlformats.org/drawingml/2006/main">
              <a:ext uri="{FF2B5EF4-FFF2-40B4-BE49-F238E27FC236}">
                <a16:creationId xmlns:a16="http://schemas.microsoft.com/office/drawing/2014/main" id="{00C62C5D-68E8-4659-9827-E71A67727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7448550"/>
            <a:ext cx="68008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B8C2CC"/>
                </a:solidFill>
              </a:defRPr>
            </a:pPr>
            <a:r>
              <a:rPr sz="1275">
                <a:solidFill>
                  <a:srgbClr val="B8C2CC"/>
                </a:solidFill>
              </a:rPr>
              <a:t>Contract 0x4c8E...3047</a:t>
            </a:r>
          </a:p>
        </p:txBody>
      </p:sp>
      <p:sp>
        <p:nvSpPr>
          <p:cNvPr id="29" name="footer-left">
            <a:extLst xmlns:a="http://schemas.openxmlformats.org/drawingml/2006/main">
              <a:ext uri="{FF2B5EF4-FFF2-40B4-BE49-F238E27FC236}">
                <a16:creationId xmlns:a16="http://schemas.microsoft.com/office/drawing/2014/main" id="{500ACA5D-DB19-4B85-AFCB-D5F1B33CF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525000"/>
            <a:ext cx="2000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490A0"/>
                </a:solidFill>
              </a:defRPr>
            </a:pPr>
            <a:r>
              <a:rPr sz="1125">
                <a:solidFill>
                  <a:srgbClr val="8490A0"/>
                </a:solidFill>
              </a:rPr>
              <a:t>Product demo + verifiable receipts</a:t>
            </a:r>
          </a:p>
        </p:txBody>
      </p:sp>
      <p:sp>
        <p:nvSpPr>
          <p:cNvPr id="30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1DA6D94E-B4F2-4C8B-90AC-FB7074336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9525000"/>
            <a:ext cx="4095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7A58"/>
                </a:solidFill>
              </a:defRPr>
            </a:pPr>
            <a:r>
              <a:rPr sz="1125" b="1">
                <a:solidFill>
                  <a:srgbClr val="007A58"/>
                </a:solidFill>
              </a:rPr>
              <a:t>pennypilot-five.vercel.app</a:t>
            </a:r>
          </a:p>
        </p:txBody>
      </p:sp>
    </p:spTree>
    <p:extLst>
      <p:ext uri="{BB962C8B-B14F-4D97-AF65-F5344CB8AC3E}">
        <p14:creationId xmlns:p14="http://schemas.microsoft.com/office/powerpoint/2010/main" val="59212951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CF1CC84A-7D2B-4572-9121-E3C1EE4A5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F8DE3BC9-9303-4491-98AD-354FBF6AC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"/>
            <a:ext cx="16649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7A58"/>
                </a:solidFill>
              </a:defRPr>
            </a:pPr>
            <a:r>
              <a:rPr sz="1425" b="1">
                <a:solidFill>
                  <a:srgbClr val="007A58"/>
                </a:solidFill>
              </a:rPr>
              <a:t>PennyPilot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FBB115F-DDB0-4058-81DD-07FD1A072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52500"/>
            <a:ext cx="166497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75" b="1">
                <a:solidFill>
                  <a:srgbClr val="0B1220"/>
                </a:solidFill>
              </a:defRPr>
            </a:pPr>
            <a:r>
              <a:rPr sz="3975" b="1">
                <a:solidFill>
                  <a:srgbClr val="0B1220"/>
                </a:solidFill>
              </a:rPr>
              <a:t>Tiny spend needs control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4794964-744D-4A3B-A89E-CB6410841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00200"/>
            <a:ext cx="16649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96473"/>
                </a:solidFill>
              </a:defRPr>
            </a:pPr>
            <a:r>
              <a:rPr sz="1875">
                <a:solidFill>
                  <a:srgbClr val="596473"/>
                </a:solidFill>
              </a:rPr>
              <a:t>PennyPilot turns nano-payments into supervised procurement for AI agents.</a:t>
            </a:r>
          </a:p>
        </p:txBody>
      </p:sp>
      <p:sp>
        <p:nvSpPr>
          <p:cNvPr id="5" name="problem-claim">
            <a:extLst xmlns:a="http://schemas.openxmlformats.org/drawingml/2006/main">
              <a:ext uri="{FF2B5EF4-FFF2-40B4-BE49-F238E27FC236}">
                <a16:creationId xmlns:a16="http://schemas.microsoft.com/office/drawing/2014/main" id="{8D89635B-22C8-4936-99ED-97B9D56E4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91050"/>
            <a:ext cx="742950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125" b="1">
                <a:solidFill>
                  <a:srgbClr val="0B1220"/>
                </a:solidFill>
              </a:defRPr>
            </a:pPr>
            <a:r>
              <a:rPr sz="4125" b="1">
                <a:solidFill>
                  <a:srgbClr val="0B1220"/>
                </a:solidFill>
              </a:rPr>
              <a:t>AI agents can buy useful facts, but the payment rail needs guardrails.</a:t>
            </a:r>
          </a:p>
        </p:txBody>
      </p:sp>
      <p:sp>
        <p:nvSpPr>
          <p:cNvPr id="6" name="problem-copy">
            <a:extLst xmlns:a="http://schemas.openxmlformats.org/drawingml/2006/main">
              <a:ext uri="{FF2B5EF4-FFF2-40B4-BE49-F238E27FC236}">
                <a16:creationId xmlns:a16="http://schemas.microsoft.com/office/drawing/2014/main" id="{2BC2482F-3FFF-4EBA-BC20-5ECBD57E6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67400"/>
            <a:ext cx="74295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96473"/>
                </a:solidFill>
              </a:defRPr>
            </a:pPr>
            <a:r>
              <a:rPr sz="2025">
                <a:solidFill>
                  <a:srgbClr val="596473"/>
                </a:solidFill>
              </a:rPr>
              <a:t>PennyPilot is built for finance workflows where many tiny paid API calls are valuable only if every call is bounded, signed, priced, and auditable.</a:t>
            </a:r>
          </a:p>
        </p:txBody>
      </p:sp>
      <p:sp>
        <p:nvSpPr>
          <p:cNvPr id="7" name="accent-rule">
            <a:extLst xmlns:a="http://schemas.openxmlformats.org/drawingml/2006/main">
              <a:ext uri="{FF2B5EF4-FFF2-40B4-BE49-F238E27FC236}">
                <a16:creationId xmlns:a16="http://schemas.microsoft.com/office/drawing/2014/main" id="{0818E09D-4B44-4113-AC02-4B89A14B8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676650"/>
            <a:ext cx="2190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4F43"/>
          </a:solidFill>
          <a:ln xmlns:a="http://schemas.openxmlformats.org/drawingml/2006/main" w="0">
            <a:solidFill>
              <a:srgbClr val="E04F43"/>
            </a:solidFill>
            <a:prstDash val="solid"/>
          </a:ln>
        </p:spPr>
      </p:sp>
      <p:sp>
        <p:nvSpPr>
          <p:cNvPr id="8" name="statement-title-Too small for cards">
            <a:extLst xmlns:a="http://schemas.openxmlformats.org/drawingml/2006/main">
              <a:ext uri="{FF2B5EF4-FFF2-40B4-BE49-F238E27FC236}">
                <a16:creationId xmlns:a16="http://schemas.microsoft.com/office/drawing/2014/main" id="{B660EC7A-7695-41BB-853B-7A92255F0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886200"/>
            <a:ext cx="8534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Too small for cards</a:t>
            </a:r>
          </a:p>
        </p:txBody>
      </p:sp>
      <p:sp>
        <p:nvSpPr>
          <p:cNvPr id="9" name="statement-body-Too small for cards">
            <a:extLst xmlns:a="http://schemas.openxmlformats.org/drawingml/2006/main">
              <a:ext uri="{FF2B5EF4-FFF2-40B4-BE49-F238E27FC236}">
                <a16:creationId xmlns:a16="http://schemas.microsoft.com/office/drawing/2014/main" id="{692AD7CF-1957-44B2-BCE0-6770B5D71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400550"/>
            <a:ext cx="8534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96473"/>
                </a:solidFill>
              </a:defRPr>
            </a:pPr>
            <a:r>
              <a:rPr sz="1800">
                <a:solidFill>
                  <a:srgbClr val="596473"/>
                </a:solidFill>
              </a:rPr>
              <a:t>Each proof can cost fractions of a cent. Traditional payment overhead destroys the unit economics.</a:t>
            </a:r>
          </a:p>
        </p:txBody>
      </p:sp>
      <p:sp>
        <p:nvSpPr>
          <p:cNvPr id="10" name="accent-rule">
            <a:extLst xmlns:a="http://schemas.openxmlformats.org/drawingml/2006/main">
              <a:ext uri="{FF2B5EF4-FFF2-40B4-BE49-F238E27FC236}">
                <a16:creationId xmlns:a16="http://schemas.microsoft.com/office/drawing/2014/main" id="{B303B6DC-2830-4D5F-9D54-BA21E5586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5162550"/>
            <a:ext cx="2190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E05"/>
          </a:solidFill>
          <a:ln xmlns:a="http://schemas.openxmlformats.org/drawingml/2006/main" w="0">
            <a:solidFill>
              <a:srgbClr val="D89E05"/>
            </a:solidFill>
            <a:prstDash val="solid"/>
          </a:ln>
        </p:spPr>
      </p:sp>
      <p:sp>
        <p:nvSpPr>
          <p:cNvPr id="11" name="statement-title-Too many to approve">
            <a:extLst xmlns:a="http://schemas.openxmlformats.org/drawingml/2006/main">
              <a:ext uri="{FF2B5EF4-FFF2-40B4-BE49-F238E27FC236}">
                <a16:creationId xmlns:a16="http://schemas.microsoft.com/office/drawing/2014/main" id="{20718874-3B1A-44BE-BCB9-118386F98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5353050"/>
            <a:ext cx="8534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Too many to approve</a:t>
            </a:r>
          </a:p>
        </p:txBody>
      </p:sp>
      <p:sp>
        <p:nvSpPr>
          <p:cNvPr id="12" name="statement-body-Too many to approve">
            <a:extLst xmlns:a="http://schemas.openxmlformats.org/drawingml/2006/main">
              <a:ext uri="{FF2B5EF4-FFF2-40B4-BE49-F238E27FC236}">
                <a16:creationId xmlns:a16="http://schemas.microsoft.com/office/drawing/2014/main" id="{0D98C6C3-3C87-4B0B-B3D6-2D9C4D881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5867400"/>
            <a:ext cx="8534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96473"/>
                </a:solidFill>
              </a:defRPr>
            </a:pPr>
            <a:r>
              <a:rPr sz="1800">
                <a:solidFill>
                  <a:srgbClr val="596473"/>
                </a:solidFill>
              </a:rPr>
              <a:t>A useful agent may need several checks in one task. One approval per proof becomes a UX tax.</a:t>
            </a:r>
          </a:p>
        </p:txBody>
      </p:sp>
      <p:sp>
        <p:nvSpPr>
          <p:cNvPr id="13" name="accent-rule">
            <a:extLst xmlns:a="http://schemas.openxmlformats.org/drawingml/2006/main">
              <a:ext uri="{FF2B5EF4-FFF2-40B4-BE49-F238E27FC236}">
                <a16:creationId xmlns:a16="http://schemas.microsoft.com/office/drawing/2014/main" id="{F0936245-6752-4C1D-9DA2-E38E30F3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6629400"/>
            <a:ext cx="2190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58"/>
          </a:solidFill>
          <a:ln xmlns:a="http://schemas.openxmlformats.org/drawingml/2006/main" w="0">
            <a:solidFill>
              <a:srgbClr val="007A58"/>
            </a:solidFill>
            <a:prstDash val="solid"/>
          </a:ln>
        </p:spPr>
      </p:sp>
      <p:sp>
        <p:nvSpPr>
          <p:cNvPr id="14" name="statement-title-Too risky without receipts">
            <a:extLst xmlns:a="http://schemas.openxmlformats.org/drawingml/2006/main">
              <a:ext uri="{FF2B5EF4-FFF2-40B4-BE49-F238E27FC236}">
                <a16:creationId xmlns:a16="http://schemas.microsoft.com/office/drawing/2014/main" id="{0D5ADCEB-7CA6-43BF-A41C-29918775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6838950"/>
            <a:ext cx="8534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Too risky without receipts</a:t>
            </a:r>
          </a:p>
        </p:txBody>
      </p:sp>
      <p:sp>
        <p:nvSpPr>
          <p:cNvPr id="15" name="statement-body-Too risky without receipts">
            <a:extLst xmlns:a="http://schemas.openxmlformats.org/drawingml/2006/main">
              <a:ext uri="{FF2B5EF4-FFF2-40B4-BE49-F238E27FC236}">
                <a16:creationId xmlns:a16="http://schemas.microsoft.com/office/drawing/2014/main" id="{B8BE3CFF-0690-48EF-B46E-FF5A12F1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7353300"/>
            <a:ext cx="8534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96473"/>
                </a:solidFill>
              </a:defRPr>
            </a:pPr>
            <a:r>
              <a:rPr sz="1800">
                <a:solidFill>
                  <a:srgbClr val="596473"/>
                </a:solidFill>
              </a:rPr>
              <a:t>Finance teams need to know what was bought, from whom, why, and under which policy.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5BBA8947-13E7-4059-9C7F-06121660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391650"/>
            <a:ext cx="12573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490A0"/>
                </a:solidFill>
              </a:defRPr>
            </a:pPr>
            <a:r>
              <a:rPr sz="1125">
                <a:solidFill>
                  <a:srgbClr val="8490A0"/>
                </a:solidFill>
              </a:rPr>
              <a:t>Problem and use case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4B9359FE-47A0-435F-BA0E-80340E5AF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9467850"/>
            <a:ext cx="4095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7A58"/>
                </a:solidFill>
              </a:defRPr>
            </a:pPr>
            <a:r>
              <a:rPr sz="1125" b="1">
                <a:solidFill>
                  <a:srgbClr val="007A58"/>
                </a:solidFill>
              </a:rPr>
              <a:t>pennypilot-five.vercel.app</a:t>
            </a:r>
          </a:p>
        </p:txBody>
      </p:sp>
    </p:spTree>
    <p:extLst>
      <p:ext uri="{BB962C8B-B14F-4D97-AF65-F5344CB8AC3E}">
        <p14:creationId xmlns:p14="http://schemas.microsoft.com/office/powerpoint/2010/main" val="52869125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47CF5746-DDF2-4C50-86E7-942B3AC54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A45B0592-3720-4234-BDD1-3DA480DD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"/>
            <a:ext cx="16649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7A58"/>
                </a:solidFill>
              </a:defRPr>
            </a:pPr>
            <a:r>
              <a:rPr sz="1425" b="1">
                <a:solidFill>
                  <a:srgbClr val="007A58"/>
                </a:solidFill>
              </a:rPr>
              <a:t>PennyPilot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413546F-68E6-4F9B-8E83-CF38019C5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52500"/>
            <a:ext cx="166497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75" b="1">
                <a:solidFill>
                  <a:srgbClr val="0B1220"/>
                </a:solidFill>
              </a:defRPr>
            </a:pPr>
            <a:r>
              <a:rPr sz="3975" b="1">
                <a:solidFill>
                  <a:srgbClr val="0B1220"/>
                </a:solidFill>
              </a:rPr>
              <a:t>The solution: batch-controlled agent spend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BE91D19-B941-4882-B7DA-2B7C146D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00200"/>
            <a:ext cx="16649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96473"/>
                </a:solidFill>
              </a:defRPr>
            </a:pPr>
            <a:r>
              <a:rPr sz="1875">
                <a:solidFill>
                  <a:srgbClr val="596473"/>
                </a:solidFill>
              </a:rPr>
              <a:t>The app keeps the agent useful while avoiding approval fatigue.</a:t>
            </a:r>
          </a:p>
        </p:txBody>
      </p:sp>
      <p:sp>
        <p:nvSpPr>
          <p:cNvPr id="5" name="solution-claim">
            <a:extLst xmlns:a="http://schemas.openxmlformats.org/drawingml/2006/main">
              <a:ext uri="{FF2B5EF4-FFF2-40B4-BE49-F238E27FC236}">
                <a16:creationId xmlns:a16="http://schemas.microsoft.com/office/drawing/2014/main" id="{BABD721A-85B2-4F1D-B87C-6E7F3983E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62400"/>
            <a:ext cx="802005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825" b="1">
                <a:solidFill>
                  <a:srgbClr val="0B1220"/>
                </a:solidFill>
              </a:defRPr>
            </a:pPr>
            <a:r>
              <a:rPr sz="3825" b="1">
                <a:solidFill>
                  <a:srgbClr val="0B1220"/>
                </a:solidFill>
              </a:rPr>
              <a:t>One user authorization can cover a bounded batch of paid proofs.</a:t>
            </a:r>
          </a:p>
        </p:txBody>
      </p:sp>
      <p:sp>
        <p:nvSpPr>
          <p:cNvPr id="6" name="solution-copy">
            <a:extLst xmlns:a="http://schemas.openxmlformats.org/drawingml/2006/main">
              <a:ext uri="{FF2B5EF4-FFF2-40B4-BE49-F238E27FC236}">
                <a16:creationId xmlns:a16="http://schemas.microsoft.com/office/drawing/2014/main" id="{1AC681FF-6E11-4F31-9A3E-FA349B1BA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00650"/>
            <a:ext cx="80200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96473"/>
                </a:solidFill>
              </a:defRPr>
            </a:pPr>
            <a:r>
              <a:rPr sz="2025">
                <a:solidFill>
                  <a:srgbClr val="596473"/>
                </a:solidFill>
              </a:rPr>
              <a:t>The user sets the task budget, per-call cap, provider allowlist, and proof count. The agent can spend only inside that policy.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302D97-7725-45CC-8F3C-1B8705309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007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58"/>
          </a:solidFill>
          <a:ln xmlns:a="http://schemas.openxmlformats.org/drawingml/2006/main" w="0">
            <a:solidFill>
              <a:srgbClr val="007A58"/>
            </a:solidFill>
            <a:prstDash val="solid"/>
          </a:ln>
        </p:spPr>
      </p:sp>
      <p:sp>
        <p:nvSpPr>
          <p:cNvPr id="8" name="policy-label-Task budget">
            <a:extLst xmlns:a="http://schemas.openxmlformats.org/drawingml/2006/main">
              <a:ext uri="{FF2B5EF4-FFF2-40B4-BE49-F238E27FC236}">
                <a16:creationId xmlns:a16="http://schemas.microsoft.com/office/drawing/2014/main" id="{1A6545BC-CC81-45E9-AE74-5B1F9F5A8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81700"/>
            <a:ext cx="2667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B1220"/>
                </a:solidFill>
              </a:defRPr>
            </a:pPr>
            <a:r>
              <a:rPr sz="1500" b="1">
                <a:solidFill>
                  <a:srgbClr val="0B1220"/>
                </a:solidFill>
              </a:rPr>
              <a:t>Task budget</a:t>
            </a:r>
          </a:p>
        </p:txBody>
      </p:sp>
      <p:sp>
        <p:nvSpPr>
          <p:cNvPr id="9" name="policy-value-Task budget">
            <a:extLst xmlns:a="http://schemas.openxmlformats.org/drawingml/2006/main">
              <a:ext uri="{FF2B5EF4-FFF2-40B4-BE49-F238E27FC236}">
                <a16:creationId xmlns:a16="http://schemas.microsoft.com/office/drawing/2014/main" id="{5CF61BDE-E7AF-46F1-A70A-CB032C0D0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981700"/>
            <a:ext cx="4857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96473"/>
                </a:solidFill>
              </a:defRPr>
            </a:pPr>
            <a:r>
              <a:rPr sz="1500">
                <a:solidFill>
                  <a:srgbClr val="596473"/>
                </a:solidFill>
              </a:rPr>
              <a:t>$0.25 USDC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DA6301-DBA7-4F89-9CDE-12AF2934F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3627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solidFill>
              <a:srgbClr val="0D9488"/>
            </a:solidFill>
            <a:prstDash val="solid"/>
          </a:ln>
        </p:spPr>
      </p:sp>
      <p:sp>
        <p:nvSpPr>
          <p:cNvPr id="11" name="policy-label-Per-call cap">
            <a:extLst xmlns:a="http://schemas.openxmlformats.org/drawingml/2006/main">
              <a:ext uri="{FF2B5EF4-FFF2-40B4-BE49-F238E27FC236}">
                <a16:creationId xmlns:a16="http://schemas.microsoft.com/office/drawing/2014/main" id="{576B4FAC-191C-48BA-B377-667BAD19D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343650"/>
            <a:ext cx="2667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B1220"/>
                </a:solidFill>
              </a:defRPr>
            </a:pPr>
            <a:r>
              <a:rPr sz="1500" b="1">
                <a:solidFill>
                  <a:srgbClr val="0B1220"/>
                </a:solidFill>
              </a:rPr>
              <a:t>Per-call cap</a:t>
            </a:r>
          </a:p>
        </p:txBody>
      </p:sp>
      <p:sp>
        <p:nvSpPr>
          <p:cNvPr id="12" name="policy-value-Per-call cap">
            <a:extLst xmlns:a="http://schemas.openxmlformats.org/drawingml/2006/main">
              <a:ext uri="{FF2B5EF4-FFF2-40B4-BE49-F238E27FC236}">
                <a16:creationId xmlns:a16="http://schemas.microsoft.com/office/drawing/2014/main" id="{5370A6A0-060F-4F4A-A090-10E837F61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6343650"/>
            <a:ext cx="4857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96473"/>
                </a:solidFill>
              </a:defRPr>
            </a:pPr>
            <a:r>
              <a:rPr sz="1500">
                <a:solidFill>
                  <a:srgbClr val="596473"/>
                </a:solidFill>
              </a:rPr>
              <a:t>$0.006 max per proof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400159-2BD5-4299-B184-DB4CCAFD1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7246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4F43"/>
          </a:solidFill>
          <a:ln xmlns:a="http://schemas.openxmlformats.org/drawingml/2006/main" w="0">
            <a:solidFill>
              <a:srgbClr val="E04F43"/>
            </a:solidFill>
            <a:prstDash val="solid"/>
          </a:ln>
        </p:spPr>
      </p:sp>
      <p:sp>
        <p:nvSpPr>
          <p:cNvPr id="14" name="policy-label-Batch control">
            <a:extLst xmlns:a="http://schemas.openxmlformats.org/drawingml/2006/main">
              <a:ext uri="{FF2B5EF4-FFF2-40B4-BE49-F238E27FC236}">
                <a16:creationId xmlns:a16="http://schemas.microsoft.com/office/drawing/2014/main" id="{61C66AC1-63C3-4542-A700-677C5687C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05600"/>
            <a:ext cx="2667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B1220"/>
                </a:solidFill>
              </a:defRPr>
            </a:pPr>
            <a:r>
              <a:rPr sz="1500" b="1">
                <a:solidFill>
                  <a:srgbClr val="0B1220"/>
                </a:solidFill>
              </a:rPr>
              <a:t>Batch control</a:t>
            </a:r>
          </a:p>
        </p:txBody>
      </p:sp>
      <p:sp>
        <p:nvSpPr>
          <p:cNvPr id="15" name="policy-value-Batch control">
            <a:extLst xmlns:a="http://schemas.openxmlformats.org/drawingml/2006/main">
              <a:ext uri="{FF2B5EF4-FFF2-40B4-BE49-F238E27FC236}">
                <a16:creationId xmlns:a16="http://schemas.microsoft.com/office/drawing/2014/main" id="{465533BA-F54D-4B0C-98CD-B6325EEBB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6705600"/>
            <a:ext cx="4857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96473"/>
                </a:solidFill>
              </a:defRPr>
            </a:pPr>
            <a:r>
              <a:rPr sz="1500">
                <a:solidFill>
                  <a:srgbClr val="596473"/>
                </a:solidFill>
              </a:rPr>
              <a:t>user selects how many proofs the agent may buy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DCC30A-8B60-4650-9D75-324CDADEA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086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B8"/>
          </a:solidFill>
          <a:ln xmlns:a="http://schemas.openxmlformats.org/drawingml/2006/main" w="0">
            <a:solidFill>
              <a:srgbClr val="2878B8"/>
            </a:solidFill>
            <a:prstDash val="solid"/>
          </a:ln>
        </p:spPr>
      </p:sp>
      <p:sp>
        <p:nvSpPr>
          <p:cNvPr id="17" name="policy-label-Receipt anchor">
            <a:extLst xmlns:a="http://schemas.openxmlformats.org/drawingml/2006/main">
              <a:ext uri="{FF2B5EF4-FFF2-40B4-BE49-F238E27FC236}">
                <a16:creationId xmlns:a16="http://schemas.microsoft.com/office/drawing/2014/main" id="{5F132A92-DEA5-4ADE-AF46-55E17AFD4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67550"/>
            <a:ext cx="2667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B1220"/>
                </a:solidFill>
              </a:defRPr>
            </a:pPr>
            <a:r>
              <a:rPr sz="1500" b="1">
                <a:solidFill>
                  <a:srgbClr val="0B1220"/>
                </a:solidFill>
              </a:rPr>
              <a:t>Receipt anchor</a:t>
            </a:r>
          </a:p>
        </p:txBody>
      </p:sp>
      <p:sp>
        <p:nvSpPr>
          <p:cNvPr id="18" name="policy-value-Receipt anchor">
            <a:extLst xmlns:a="http://schemas.openxmlformats.org/drawingml/2006/main">
              <a:ext uri="{FF2B5EF4-FFF2-40B4-BE49-F238E27FC236}">
                <a16:creationId xmlns:a16="http://schemas.microsoft.com/office/drawing/2014/main" id="{AE1EA1A5-3417-404F-9909-D5A191B6A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7067550"/>
            <a:ext cx="4857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96473"/>
                </a:solidFill>
              </a:defRPr>
            </a:pPr>
            <a:r>
              <a:rPr sz="1500">
                <a:solidFill>
                  <a:srgbClr val="596473"/>
                </a:solidFill>
              </a:rPr>
              <a:t>provider-signed batch recorded on Arc</a:t>
            </a:r>
          </a:p>
        </p:txBody>
      </p:sp>
      <p:sp>
        <p:nvSpPr>
          <p:cNvPr id="19" name="solution-flow-surface">
            <a:extLst xmlns:a="http://schemas.openxmlformats.org/drawingml/2006/main">
              <a:ext uri="{FF2B5EF4-FFF2-40B4-BE49-F238E27FC236}">
                <a16:creationId xmlns:a16="http://schemas.microsoft.com/office/drawing/2014/main" id="{3E0715AD-B4BF-4A54-B24F-6EBF99F0D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705100"/>
            <a:ext cx="8020050" cy="5810250"/>
          </a:xfrm>
          <a:prstGeom xmlns:a="http://schemas.openxmlformats.org/drawingml/2006/main" prst="roundRect">
            <a:avLst>
              <a:gd name="adj" fmla="val 13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7"/>
            </a:solidFill>
            <a:prstDash val="solid"/>
          </a:ln>
        </p:spPr>
      </p:sp>
      <p:sp>
        <p:nvSpPr>
          <p:cNvPr id="20" name="signature-large">
            <a:extLst xmlns:a="http://schemas.openxmlformats.org/drawingml/2006/main">
              <a:ext uri="{FF2B5EF4-FFF2-40B4-BE49-F238E27FC236}">
                <a16:creationId xmlns:a16="http://schemas.microsoft.com/office/drawing/2014/main" id="{657E2288-01C1-4175-BB86-DBF1410BA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067050"/>
            <a:ext cx="22860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07A58"/>
                </a:solidFill>
              </a:defRPr>
            </a:pPr>
            <a:r>
              <a:rPr sz="3900" b="1">
                <a:solidFill>
                  <a:srgbClr val="007A58"/>
                </a:solidFill>
              </a:rPr>
              <a:t>1 signature</a:t>
            </a:r>
          </a:p>
        </p:txBody>
      </p:sp>
      <p:sp>
        <p:nvSpPr>
          <p:cNvPr id="21" name="flow-arrow">
            <a:extLst xmlns:a="http://schemas.openxmlformats.org/drawingml/2006/main">
              <a:ext uri="{FF2B5EF4-FFF2-40B4-BE49-F238E27FC236}">
                <a16:creationId xmlns:a16="http://schemas.microsoft.com/office/drawing/2014/main" id="{D22A4C86-E903-4F2A-999C-2507841E3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0200" y="3429000"/>
            <a:ext cx="42862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8490A0"/>
                </a:solidFill>
              </a:defRPr>
            </a:pPr>
            <a:r>
              <a:rPr sz="1950" b="1">
                <a:solidFill>
                  <a:srgbClr val="8490A0"/>
                </a:solidFill>
              </a:rPr>
              <a:t>-&gt;</a:t>
            </a:r>
          </a:p>
        </p:txBody>
      </p:sp>
      <p:sp>
        <p:nvSpPr>
          <p:cNvPr id="22" name="proofs-large">
            <a:extLst xmlns:a="http://schemas.openxmlformats.org/drawingml/2006/main">
              <a:ext uri="{FF2B5EF4-FFF2-40B4-BE49-F238E27FC236}">
                <a16:creationId xmlns:a16="http://schemas.microsoft.com/office/drawing/2014/main" id="{59BA4D2C-3EA6-40E2-8885-0DC7C6CF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7900" y="3067050"/>
            <a:ext cx="268605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B1220"/>
                </a:solidFill>
              </a:defRPr>
            </a:pPr>
            <a:r>
              <a:rPr sz="3900" b="1">
                <a:solidFill>
                  <a:srgbClr val="0B1220"/>
                </a:solidFill>
              </a:rPr>
              <a:t>6 paid proofs</a:t>
            </a:r>
          </a:p>
        </p:txBody>
      </p:sp>
      <p:sp>
        <p:nvSpPr>
          <p:cNvPr id="23" name="review-label">
            <a:extLst xmlns:a="http://schemas.openxmlformats.org/drawingml/2006/main">
              <a:ext uri="{FF2B5EF4-FFF2-40B4-BE49-F238E27FC236}">
                <a16:creationId xmlns:a16="http://schemas.microsoft.com/office/drawing/2014/main" id="{ADC05917-8255-4B7D-B550-14575373E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476750"/>
            <a:ext cx="7219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490A0"/>
                </a:solidFill>
              </a:defRPr>
            </a:pPr>
            <a:r>
              <a:rPr sz="1350" b="1">
                <a:solidFill>
                  <a:srgbClr val="8490A0"/>
                </a:solidFill>
              </a:rPr>
              <a:t>Compact review example</a:t>
            </a:r>
          </a:p>
        </p:txBody>
      </p:sp>
      <p:sp>
        <p:nvSpPr>
          <p:cNvPr id="24" name="provider-ProofDesk">
            <a:extLst xmlns:a="http://schemas.openxmlformats.org/drawingml/2006/main">
              <a:ext uri="{FF2B5EF4-FFF2-40B4-BE49-F238E27FC236}">
                <a16:creationId xmlns:a16="http://schemas.microsoft.com/office/drawing/2014/main" id="{193CAE98-087E-452D-B300-1BDD2E706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5054600"/>
            <a:ext cx="3533775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7F9A12-98FD-4EC5-8AEC-D927FD2F7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00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4F43"/>
          </a:solidFill>
          <a:ln xmlns:a="http://schemas.openxmlformats.org/drawingml/2006/main" w="0">
            <a:solidFill>
              <a:srgbClr val="E04F4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0970E0-E4AB-4EDC-985E-3515A42F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5181600"/>
            <a:ext cx="1238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B1220"/>
                </a:solidFill>
              </a:defRPr>
            </a:pPr>
            <a:r>
              <a:rPr sz="1200" b="1">
                <a:solidFill>
                  <a:srgbClr val="0B1220"/>
                </a:solidFill>
              </a:rPr>
              <a:t>ProofDesk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EF5783-9DAA-4BA7-B554-F8841F554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5181600"/>
            <a:ext cx="857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473"/>
                </a:solidFill>
              </a:defRPr>
            </a:pPr>
            <a:r>
              <a:rPr sz="1125">
                <a:solidFill>
                  <a:srgbClr val="596473"/>
                </a:solidFill>
              </a:rPr>
              <a:t>$0.0030</a:t>
            </a:r>
          </a:p>
        </p:txBody>
      </p:sp>
      <p:sp>
        <p:nvSpPr>
          <p:cNvPr id="28" name="provider-KybTrail">
            <a:extLst xmlns:a="http://schemas.openxmlformats.org/drawingml/2006/main">
              <a:ext uri="{FF2B5EF4-FFF2-40B4-BE49-F238E27FC236}">
                <a16:creationId xmlns:a16="http://schemas.microsoft.com/office/drawing/2014/main" id="{16E2124A-D735-49F5-A2D7-CBA1AA907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5025" y="5054600"/>
            <a:ext cx="3533775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612120-E4BF-44C6-A008-621315157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5200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58"/>
          </a:solidFill>
          <a:ln xmlns:a="http://schemas.openxmlformats.org/drawingml/2006/main" w="0">
            <a:solidFill>
              <a:srgbClr val="007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BF6FE9-9284-4F94-9895-C58997D8D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25550" y="5181600"/>
            <a:ext cx="1238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B1220"/>
                </a:solidFill>
              </a:defRPr>
            </a:pPr>
            <a:r>
              <a:rPr sz="1200" b="1">
                <a:solidFill>
                  <a:srgbClr val="0B1220"/>
                </a:solidFill>
              </a:rPr>
              <a:t>KybTrail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1FF11A3-910C-4186-9FDF-B189BA78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0" y="5181600"/>
            <a:ext cx="857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473"/>
                </a:solidFill>
              </a:defRPr>
            </a:pPr>
            <a:r>
              <a:rPr sz="1125">
                <a:solidFill>
                  <a:srgbClr val="596473"/>
                </a:solidFill>
              </a:rPr>
              <a:t>$0.0045</a:t>
            </a:r>
          </a:p>
        </p:txBody>
      </p:sp>
      <p:sp>
        <p:nvSpPr>
          <p:cNvPr id="32" name="provider-ClearList">
            <a:extLst xmlns:a="http://schemas.openxmlformats.org/drawingml/2006/main">
              <a:ext uri="{FF2B5EF4-FFF2-40B4-BE49-F238E27FC236}">
                <a16:creationId xmlns:a16="http://schemas.microsoft.com/office/drawing/2014/main" id="{7F51FEF9-C4E1-43FD-9587-D2E6D2BAF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5616575"/>
            <a:ext cx="3533775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C23E654-5E0B-4B7D-8424-E9DA07156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7721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solidFill>
              <a:srgbClr val="0D948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90C0399-9336-4749-A45E-8C86C9128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5753100"/>
            <a:ext cx="1238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B1220"/>
                </a:solidFill>
              </a:defRPr>
            </a:pPr>
            <a:r>
              <a:rPr sz="1200" b="1">
                <a:solidFill>
                  <a:srgbClr val="0B1220"/>
                </a:solidFill>
              </a:rPr>
              <a:t>ClearList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21D8C0F-254A-4EB8-AEBD-8C6A44B9F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5753100"/>
            <a:ext cx="857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473"/>
                </a:solidFill>
              </a:defRPr>
            </a:pPr>
            <a:r>
              <a:rPr sz="1125">
                <a:solidFill>
                  <a:srgbClr val="596473"/>
                </a:solidFill>
              </a:rPr>
              <a:t>$0.0038</a:t>
            </a:r>
          </a:p>
        </p:txBody>
      </p:sp>
      <p:sp>
        <p:nvSpPr>
          <p:cNvPr id="36" name="provider-AccountLock">
            <a:extLst xmlns:a="http://schemas.openxmlformats.org/drawingml/2006/main">
              <a:ext uri="{FF2B5EF4-FFF2-40B4-BE49-F238E27FC236}">
                <a16:creationId xmlns:a16="http://schemas.microsoft.com/office/drawing/2014/main" id="{E4E3EEBD-AB89-4C72-9BBC-83CE126E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5025" y="5616575"/>
            <a:ext cx="3533775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8D02082-AA80-434C-B406-225D9E85E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57721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B8"/>
          </a:solidFill>
          <a:ln xmlns:a="http://schemas.openxmlformats.org/drawingml/2006/main" w="0">
            <a:solidFill>
              <a:srgbClr val="2878B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CF62324-8854-461A-A745-D5ADDD5A8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25550" y="5753100"/>
            <a:ext cx="1238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B1220"/>
                </a:solidFill>
              </a:defRPr>
            </a:pPr>
            <a:r>
              <a:rPr sz="1200" b="1">
                <a:solidFill>
                  <a:srgbClr val="0B1220"/>
                </a:solidFill>
              </a:rPr>
              <a:t>AccountLock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BF0CF24-185F-46F1-91CA-206E08557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0" y="5753100"/>
            <a:ext cx="857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473"/>
                </a:solidFill>
              </a:defRPr>
            </a:pPr>
            <a:r>
              <a:rPr sz="1125">
                <a:solidFill>
                  <a:srgbClr val="596473"/>
                </a:solidFill>
              </a:rPr>
              <a:t>$0.0046</a:t>
            </a:r>
          </a:p>
        </p:txBody>
      </p:sp>
      <p:sp>
        <p:nvSpPr>
          <p:cNvPr id="40" name="provider-FraudLens">
            <a:extLst xmlns:a="http://schemas.openxmlformats.org/drawingml/2006/main">
              <a:ext uri="{FF2B5EF4-FFF2-40B4-BE49-F238E27FC236}">
                <a16:creationId xmlns:a16="http://schemas.microsoft.com/office/drawing/2014/main" id="{AC4C1DD3-4794-4112-8E97-908B3DD59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6178550"/>
            <a:ext cx="3533775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AE39B20-9B05-483B-97FD-39579171B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6324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E05"/>
          </a:solidFill>
          <a:ln xmlns:a="http://schemas.openxmlformats.org/drawingml/2006/main" w="0">
            <a:solidFill>
              <a:srgbClr val="D89E05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F23BB8C-40E0-4C5D-998C-DA82B7179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6305550"/>
            <a:ext cx="1238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B1220"/>
                </a:solidFill>
              </a:defRPr>
            </a:pPr>
            <a:r>
              <a:rPr sz="1200" b="1">
                <a:solidFill>
                  <a:srgbClr val="0B1220"/>
                </a:solidFill>
              </a:rPr>
              <a:t>FraudLens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98AEB92-7EAD-45AC-AF06-DBA2F37B4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6305550"/>
            <a:ext cx="857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473"/>
                </a:solidFill>
              </a:defRPr>
            </a:pPr>
            <a:r>
              <a:rPr sz="1125">
                <a:solidFill>
                  <a:srgbClr val="596473"/>
                </a:solidFill>
              </a:rPr>
              <a:t>$0.0051</a:t>
            </a:r>
          </a:p>
        </p:txBody>
      </p:sp>
      <p:sp>
        <p:nvSpPr>
          <p:cNvPr id="44" name="provider-QuoteMesh">
            <a:extLst xmlns:a="http://schemas.openxmlformats.org/drawingml/2006/main">
              <a:ext uri="{FF2B5EF4-FFF2-40B4-BE49-F238E27FC236}">
                <a16:creationId xmlns:a16="http://schemas.microsoft.com/office/drawing/2014/main" id="{935B936E-BC13-45B8-9902-767C35AF1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5025" y="6178550"/>
            <a:ext cx="3533775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C7CE259-A2A8-4746-9054-81774FE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6324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58"/>
          </a:solidFill>
          <a:ln xmlns:a="http://schemas.openxmlformats.org/drawingml/2006/main" w="0">
            <a:solidFill>
              <a:srgbClr val="007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08D9AE2-83ED-458E-B301-A108E1D51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25550" y="6305550"/>
            <a:ext cx="1238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B1220"/>
                </a:solidFill>
              </a:defRPr>
            </a:pPr>
            <a:r>
              <a:rPr sz="1200" b="1">
                <a:solidFill>
                  <a:srgbClr val="0B1220"/>
                </a:solidFill>
              </a:rPr>
              <a:t>QuoteMesh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5869C07-A9E0-46D0-90A8-DE6F5BA5D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0" y="6305550"/>
            <a:ext cx="857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473"/>
                </a:solidFill>
              </a:defRPr>
            </a:pPr>
            <a:r>
              <a:rPr sz="1125">
                <a:solidFill>
                  <a:srgbClr val="596473"/>
                </a:solidFill>
              </a:rPr>
              <a:t>$0.0022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EAA86D1-DEB7-4D47-98E6-1FC8D960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7010400"/>
            <a:ext cx="3505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58"/>
          </a:solidFill>
          <a:ln xmlns:a="http://schemas.openxmlformats.org/drawingml/2006/main" w="0">
            <a:solidFill>
              <a:srgbClr val="007A58"/>
            </a:solidFill>
            <a:prstDash val="solid"/>
          </a:ln>
        </p:spPr>
      </p:sp>
      <p:sp>
        <p:nvSpPr>
          <p:cNvPr id="49" name="metric-value-total batch spend">
            <a:extLst xmlns:a="http://schemas.openxmlformats.org/drawingml/2006/main">
              <a:ext uri="{FF2B5EF4-FFF2-40B4-BE49-F238E27FC236}">
                <a16:creationId xmlns:a16="http://schemas.microsoft.com/office/drawing/2014/main" id="{0D3BA290-187A-4C7F-8786-9E2755D85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7162800"/>
            <a:ext cx="35052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B1220"/>
                </a:solidFill>
              </a:defRPr>
            </a:pPr>
            <a:r>
              <a:rPr sz="3750" b="1">
                <a:solidFill>
                  <a:srgbClr val="0B1220"/>
                </a:solidFill>
              </a:rPr>
              <a:t>$0.023308</a:t>
            </a:r>
          </a:p>
        </p:txBody>
      </p:sp>
      <p:sp>
        <p:nvSpPr>
          <p:cNvPr id="50" name="metric-label-total batch spend">
            <a:extLst xmlns:a="http://schemas.openxmlformats.org/drawingml/2006/main">
              <a:ext uri="{FF2B5EF4-FFF2-40B4-BE49-F238E27FC236}">
                <a16:creationId xmlns:a16="http://schemas.microsoft.com/office/drawing/2014/main" id="{C6D1CD1E-D79D-4F35-8FAB-AB5BDAF28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7715250"/>
            <a:ext cx="3505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96473"/>
                </a:solidFill>
              </a:defRPr>
            </a:pPr>
            <a:r>
              <a:rPr sz="1575">
                <a:solidFill>
                  <a:srgbClr val="596473"/>
                </a:solidFill>
              </a:rPr>
              <a:t>total batch spend</a:t>
            </a:r>
          </a:p>
        </p:txBody>
      </p:sp>
      <p:sp>
        <p:nvSpPr>
          <p:cNvPr id="51" name="metric-note-total batch spend">
            <a:extLst xmlns:a="http://schemas.openxmlformats.org/drawingml/2006/main">
              <a:ext uri="{FF2B5EF4-FFF2-40B4-BE49-F238E27FC236}">
                <a16:creationId xmlns:a16="http://schemas.microsoft.com/office/drawing/2014/main" id="{557292AB-AF48-4D65-8A34-91DB8D0A1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8001000"/>
            <a:ext cx="35052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8490A0"/>
                </a:solidFill>
              </a:defRPr>
            </a:pPr>
            <a:r>
              <a:rPr sz="1200">
                <a:solidFill>
                  <a:srgbClr val="8490A0"/>
                </a:solidFill>
              </a:rPr>
              <a:t>under budget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D26D85C-220A-4FF2-88EA-A5767993E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7010400"/>
            <a:ext cx="3505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solidFill>
              <a:srgbClr val="0D9488"/>
            </a:solidFill>
            <a:prstDash val="solid"/>
          </a:ln>
        </p:spPr>
      </p:sp>
      <p:sp>
        <p:nvSpPr>
          <p:cNvPr id="53" name="metric-value-avg paid action">
            <a:extLst xmlns:a="http://schemas.openxmlformats.org/drawingml/2006/main">
              <a:ext uri="{FF2B5EF4-FFF2-40B4-BE49-F238E27FC236}">
                <a16:creationId xmlns:a16="http://schemas.microsoft.com/office/drawing/2014/main" id="{AFE79947-BE22-4B19-AC74-B080A61B6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7162800"/>
            <a:ext cx="35052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B1220"/>
                </a:solidFill>
              </a:defRPr>
            </a:pPr>
            <a:r>
              <a:rPr sz="3750" b="1">
                <a:solidFill>
                  <a:srgbClr val="0B1220"/>
                </a:solidFill>
              </a:rPr>
              <a:t>$0.003885</a:t>
            </a:r>
          </a:p>
        </p:txBody>
      </p:sp>
      <p:sp>
        <p:nvSpPr>
          <p:cNvPr id="54" name="metric-label-avg paid action">
            <a:extLst xmlns:a="http://schemas.openxmlformats.org/drawingml/2006/main">
              <a:ext uri="{FF2B5EF4-FFF2-40B4-BE49-F238E27FC236}">
                <a16:creationId xmlns:a16="http://schemas.microsoft.com/office/drawing/2014/main" id="{CE193C0E-FB9B-4CAF-90AF-9C99CCD51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7715250"/>
            <a:ext cx="3505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96473"/>
                </a:solidFill>
              </a:defRPr>
            </a:pPr>
            <a:r>
              <a:rPr sz="1575">
                <a:solidFill>
                  <a:srgbClr val="596473"/>
                </a:solidFill>
              </a:rPr>
              <a:t>avg paid action</a:t>
            </a:r>
          </a:p>
        </p:txBody>
      </p:sp>
      <p:sp>
        <p:nvSpPr>
          <p:cNvPr id="55" name="metric-note-avg paid action">
            <a:extLst xmlns:a="http://schemas.openxmlformats.org/drawingml/2006/main">
              <a:ext uri="{FF2B5EF4-FFF2-40B4-BE49-F238E27FC236}">
                <a16:creationId xmlns:a16="http://schemas.microsoft.com/office/drawing/2014/main" id="{C7098E38-A98A-4445-81C7-CCAEBD8B7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8001000"/>
            <a:ext cx="35052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8490A0"/>
                </a:solidFill>
              </a:defRPr>
            </a:pPr>
            <a:r>
              <a:rPr sz="1200">
                <a:solidFill>
                  <a:srgbClr val="8490A0"/>
                </a:solidFill>
              </a:rPr>
              <a:t>below $0.01</a:t>
            </a:r>
          </a:p>
        </p:txBody>
      </p:sp>
      <p:sp>
        <p:nvSpPr>
          <p:cNvPr id="5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6061AF3-3013-4CA1-A921-00E0FA786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391650"/>
            <a:ext cx="11239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490A0"/>
                </a:solidFill>
              </a:defRPr>
            </a:pPr>
            <a:r>
              <a:rPr sz="1125">
                <a:solidFill>
                  <a:srgbClr val="8490A0"/>
                </a:solidFill>
              </a:rPr>
              <a:t>Live app demo flow</a:t>
            </a:r>
          </a:p>
        </p:txBody>
      </p:sp>
      <p:sp>
        <p:nvSpPr>
          <p:cNvPr id="5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10FDA2C9-7173-4D33-A39B-CD8999671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9467850"/>
            <a:ext cx="4095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7A58"/>
                </a:solidFill>
              </a:defRPr>
            </a:pPr>
            <a:r>
              <a:rPr sz="1125" b="1">
                <a:solidFill>
                  <a:srgbClr val="007A58"/>
                </a:solidFill>
              </a:rPr>
              <a:t>pennypilot-five.vercel.app</a:t>
            </a:r>
          </a:p>
        </p:txBody>
      </p:sp>
    </p:spTree>
    <p:extLst>
      <p:ext uri="{BB962C8B-B14F-4D97-AF65-F5344CB8AC3E}">
        <p14:creationId xmlns:p14="http://schemas.microsoft.com/office/powerpoint/2010/main" val="123475786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58DB55C3-22E3-4D35-94E7-4854A3C71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94197816-C156-4156-A76A-D292FC85D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"/>
            <a:ext cx="16649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7A58"/>
                </a:solidFill>
              </a:defRPr>
            </a:pPr>
            <a:r>
              <a:rPr sz="1425" b="1">
                <a:solidFill>
                  <a:srgbClr val="007A58"/>
                </a:solidFill>
              </a:rPr>
              <a:t>PennyPilot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1004982-E2E2-4C8A-8CE8-583C00B1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52500"/>
            <a:ext cx="166497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75" b="1">
                <a:solidFill>
                  <a:srgbClr val="0B1220"/>
                </a:solidFill>
              </a:defRPr>
            </a:pPr>
            <a:r>
              <a:rPr sz="3975" b="1">
                <a:solidFill>
                  <a:srgbClr val="0B1220"/>
                </a:solidFill>
              </a:rPr>
              <a:t>Payment first, proof next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0FAF434-1AF8-4B12-8BDE-AE7987F0C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00200"/>
            <a:ext cx="16649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96473"/>
                </a:solidFill>
              </a:defRPr>
            </a:pPr>
            <a:r>
              <a:rPr sz="1875">
                <a:solidFill>
                  <a:srgbClr val="596473"/>
                </a:solidFill>
              </a:rPr>
              <a:t>Circle Gateway handles payment authorization; Arc keeps the audit trail verifiable.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25D298-9933-44F3-A906-AA26C7054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481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58"/>
          </a:solidFill>
          <a:ln xmlns:a="http://schemas.openxmlformats.org/drawingml/2006/main" w="0">
            <a:solidFill>
              <a:srgbClr val="007A58"/>
            </a:solidFill>
            <a:prstDash val="solid"/>
          </a:ln>
        </p:spPr>
      </p:sp>
      <p:sp>
        <p:nvSpPr>
          <p:cNvPr id="6" name="lane-label-Policy">
            <a:extLst xmlns:a="http://schemas.openxmlformats.org/drawingml/2006/main">
              <a:ext uri="{FF2B5EF4-FFF2-40B4-BE49-F238E27FC236}">
                <a16:creationId xmlns:a16="http://schemas.microsoft.com/office/drawing/2014/main" id="{F1CCF973-FDD5-4B8C-A3F7-CCEF24E62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90950"/>
            <a:ext cx="2476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1220"/>
                </a:solidFill>
              </a:defRPr>
            </a:pPr>
            <a:r>
              <a:rPr sz="2025" b="1">
                <a:solidFill>
                  <a:srgbClr val="0B1220"/>
                </a:solidFill>
              </a:rPr>
              <a:t>Policy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FC737B-8BCE-4781-9494-6D34F470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91000"/>
            <a:ext cx="2781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58"/>
          </a:solidFill>
          <a:ln xmlns:a="http://schemas.openxmlformats.org/drawingml/2006/main" w="0">
            <a:solidFill>
              <a:srgbClr val="007A58"/>
            </a:solidFill>
            <a:prstDash val="solid"/>
          </a:ln>
        </p:spPr>
      </p:sp>
      <p:sp>
        <p:nvSpPr>
          <p:cNvPr id="8" name="lane-detail-Policy">
            <a:extLst xmlns:a="http://schemas.openxmlformats.org/drawingml/2006/main">
              <a:ext uri="{FF2B5EF4-FFF2-40B4-BE49-F238E27FC236}">
                <a16:creationId xmlns:a16="http://schemas.microsoft.com/office/drawing/2014/main" id="{6FD202EB-1466-4D50-A869-4A07E705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81500"/>
            <a:ext cx="2781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96473"/>
                </a:solidFill>
              </a:defRPr>
            </a:pPr>
            <a:r>
              <a:rPr sz="1425">
                <a:solidFill>
                  <a:srgbClr val="596473"/>
                </a:solidFill>
              </a:rPr>
              <a:t>Budget, cap, expiry, provider allowlist, and proof count are set before spend.</a:t>
            </a:r>
          </a:p>
        </p:txBody>
      </p:sp>
      <p:sp>
        <p:nvSpPr>
          <p:cNvPr id="9" name="flow-arrow">
            <a:extLst xmlns:a="http://schemas.openxmlformats.org/drawingml/2006/main">
              <a:ext uri="{FF2B5EF4-FFF2-40B4-BE49-F238E27FC236}">
                <a16:creationId xmlns:a16="http://schemas.microsoft.com/office/drawing/2014/main" id="{D7F3C4ED-C217-4603-9073-9E8F91C1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90950"/>
            <a:ext cx="42862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8490A0"/>
                </a:solidFill>
              </a:defRPr>
            </a:pPr>
            <a:r>
              <a:rPr sz="1950" b="1">
                <a:solidFill>
                  <a:srgbClr val="8490A0"/>
                </a:solidFill>
              </a:rPr>
              <a:t>-&gt;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803404-1D9E-4BA0-820C-CFA36BE77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481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solidFill>
              <a:srgbClr val="0D9488"/>
            </a:solidFill>
            <a:prstDash val="solid"/>
          </a:ln>
        </p:spPr>
      </p:sp>
      <p:sp>
        <p:nvSpPr>
          <p:cNvPr id="11" name="lane-label-x402">
            <a:extLst xmlns:a="http://schemas.openxmlformats.org/drawingml/2006/main">
              <a:ext uri="{FF2B5EF4-FFF2-40B4-BE49-F238E27FC236}">
                <a16:creationId xmlns:a16="http://schemas.microsoft.com/office/drawing/2014/main" id="{828AF480-73C0-486F-8BBD-542FD50F3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790950"/>
            <a:ext cx="2476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1220"/>
                </a:solidFill>
              </a:defRPr>
            </a:pPr>
            <a:r>
              <a:rPr sz="2025" b="1">
                <a:solidFill>
                  <a:srgbClr val="0B1220"/>
                </a:solidFill>
              </a:rPr>
              <a:t>x402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152C43-6EAF-4B92-B8FE-26A7AC4B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91000"/>
            <a:ext cx="2781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solidFill>
              <a:srgbClr val="0D9488"/>
            </a:solidFill>
            <a:prstDash val="solid"/>
          </a:ln>
        </p:spPr>
      </p:sp>
      <p:sp>
        <p:nvSpPr>
          <p:cNvPr id="13" name="lane-detail-x402">
            <a:extLst xmlns:a="http://schemas.openxmlformats.org/drawingml/2006/main">
              <a:ext uri="{FF2B5EF4-FFF2-40B4-BE49-F238E27FC236}">
                <a16:creationId xmlns:a16="http://schemas.microsoft.com/office/drawing/2014/main" id="{63FEF088-A6B8-4DD7-8242-E25A2073C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81500"/>
            <a:ext cx="2781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96473"/>
                </a:solidFill>
              </a:defRPr>
            </a:pPr>
            <a:r>
              <a:rPr sz="1425">
                <a:solidFill>
                  <a:srgbClr val="596473"/>
                </a:solidFill>
              </a:rPr>
              <a:t>Paid API endpoint returns PAYMENT-REQUIRED for the selected batch.</a:t>
            </a:r>
          </a:p>
        </p:txBody>
      </p:sp>
      <p:sp>
        <p:nvSpPr>
          <p:cNvPr id="14" name="flow-arrow">
            <a:extLst xmlns:a="http://schemas.openxmlformats.org/drawingml/2006/main">
              <a:ext uri="{FF2B5EF4-FFF2-40B4-BE49-F238E27FC236}">
                <a16:creationId xmlns:a16="http://schemas.microsoft.com/office/drawing/2014/main" id="{261C7E8E-46C2-46CF-AC44-B7DD98FEE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90950"/>
            <a:ext cx="42862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8490A0"/>
                </a:solidFill>
              </a:defRPr>
            </a:pPr>
            <a:r>
              <a:rPr sz="1950" b="1">
                <a:solidFill>
                  <a:srgbClr val="8490A0"/>
                </a:solidFill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02AFBF-D83F-4AD1-857A-21415F03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8481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B8"/>
          </a:solidFill>
          <a:ln xmlns:a="http://schemas.openxmlformats.org/drawingml/2006/main" w="0">
            <a:solidFill>
              <a:srgbClr val="2878B8"/>
            </a:solidFill>
            <a:prstDash val="solid"/>
          </a:ln>
        </p:spPr>
      </p:sp>
      <p:sp>
        <p:nvSpPr>
          <p:cNvPr id="16" name="lane-label-Gateway">
            <a:extLst xmlns:a="http://schemas.openxmlformats.org/drawingml/2006/main">
              <a:ext uri="{FF2B5EF4-FFF2-40B4-BE49-F238E27FC236}">
                <a16:creationId xmlns:a16="http://schemas.microsoft.com/office/drawing/2014/main" id="{EFF37EED-8E55-4756-8DA1-2CC9A3D06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90950"/>
            <a:ext cx="2476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1220"/>
                </a:solidFill>
              </a:defRPr>
            </a:pPr>
            <a:r>
              <a:rPr sz="2025" b="1">
                <a:solidFill>
                  <a:srgbClr val="0B1220"/>
                </a:solidFill>
              </a:rPr>
              <a:t>Gateway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61354D-5BE5-47F8-A470-AD8D1E148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91000"/>
            <a:ext cx="2781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B8"/>
          </a:solidFill>
          <a:ln xmlns:a="http://schemas.openxmlformats.org/drawingml/2006/main" w="0">
            <a:solidFill>
              <a:srgbClr val="2878B8"/>
            </a:solidFill>
            <a:prstDash val="solid"/>
          </a:ln>
        </p:spPr>
      </p:sp>
      <p:sp>
        <p:nvSpPr>
          <p:cNvPr id="18" name="lane-detail-Gateway">
            <a:extLst xmlns:a="http://schemas.openxmlformats.org/drawingml/2006/main">
              <a:ext uri="{FF2B5EF4-FFF2-40B4-BE49-F238E27FC236}">
                <a16:creationId xmlns:a16="http://schemas.microsoft.com/office/drawing/2014/main" id="{DF61A534-3EEE-4DA1-9288-CF069481D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381500"/>
            <a:ext cx="27813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96473"/>
                </a:solidFill>
              </a:defRPr>
            </a:pPr>
            <a:r>
              <a:rPr sz="1425">
                <a:solidFill>
                  <a:srgbClr val="596473"/>
                </a:solidFill>
              </a:rPr>
              <a:t>Wallet signs once. Circle Gateway verifies the payment authorization.</a:t>
            </a:r>
          </a:p>
        </p:txBody>
      </p:sp>
      <p:sp>
        <p:nvSpPr>
          <p:cNvPr id="19" name="flow-arrow">
            <a:extLst xmlns:a="http://schemas.openxmlformats.org/drawingml/2006/main">
              <a:ext uri="{FF2B5EF4-FFF2-40B4-BE49-F238E27FC236}">
                <a16:creationId xmlns:a16="http://schemas.microsoft.com/office/drawing/2014/main" id="{ADE36EB7-5286-41CD-A2B4-AE6F8400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3790950"/>
            <a:ext cx="42862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8490A0"/>
                </a:solidFill>
              </a:defRPr>
            </a:pPr>
            <a:r>
              <a:rPr sz="1950" b="1">
                <a:solidFill>
                  <a:srgbClr val="8490A0"/>
                </a:solidFill>
              </a:rPr>
              <a:t>-&gt;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C5CC8B-CA04-41BD-BDD8-7841A3A8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481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E05"/>
          </a:solidFill>
          <a:ln xmlns:a="http://schemas.openxmlformats.org/drawingml/2006/main" w="0">
            <a:solidFill>
              <a:srgbClr val="D89E05"/>
            </a:solidFill>
            <a:prstDash val="solid"/>
          </a:ln>
        </p:spPr>
      </p:sp>
      <p:sp>
        <p:nvSpPr>
          <p:cNvPr id="21" name="lane-label-Provider">
            <a:extLst xmlns:a="http://schemas.openxmlformats.org/drawingml/2006/main">
              <a:ext uri="{FF2B5EF4-FFF2-40B4-BE49-F238E27FC236}">
                <a16:creationId xmlns:a16="http://schemas.microsoft.com/office/drawing/2014/main" id="{2776FBD1-0FC7-4C2D-A6C0-8AB6A4199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3790950"/>
            <a:ext cx="2476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1220"/>
                </a:solidFill>
              </a:defRPr>
            </a:pPr>
            <a:r>
              <a:rPr sz="2025" b="1">
                <a:solidFill>
                  <a:srgbClr val="0B1220"/>
                </a:solidFill>
              </a:rPr>
              <a:t>Provider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A0F0F3-35A0-437C-B849-0267A7C1D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4191000"/>
            <a:ext cx="2781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E05"/>
          </a:solidFill>
          <a:ln xmlns:a="http://schemas.openxmlformats.org/drawingml/2006/main" w="0">
            <a:solidFill>
              <a:srgbClr val="D89E05"/>
            </a:solidFill>
            <a:prstDash val="solid"/>
          </a:ln>
        </p:spPr>
      </p:sp>
      <p:sp>
        <p:nvSpPr>
          <p:cNvPr id="23" name="lane-detail-Provider">
            <a:extLst xmlns:a="http://schemas.openxmlformats.org/drawingml/2006/main">
              <a:ext uri="{FF2B5EF4-FFF2-40B4-BE49-F238E27FC236}">
                <a16:creationId xmlns:a16="http://schemas.microsoft.com/office/drawing/2014/main" id="{472DF801-9FE4-4A40-A307-79BD4E7CF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4381500"/>
            <a:ext cx="27813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96473"/>
                </a:solidFill>
              </a:defRPr>
            </a:pPr>
            <a:r>
              <a:rPr sz="1425">
                <a:solidFill>
                  <a:srgbClr val="596473"/>
                </a:solidFill>
              </a:rPr>
              <a:t>Each proof returns data plus a provider-signed receipt.</a:t>
            </a:r>
          </a:p>
        </p:txBody>
      </p:sp>
      <p:sp>
        <p:nvSpPr>
          <p:cNvPr id="24" name="flow-arrow">
            <a:extLst xmlns:a="http://schemas.openxmlformats.org/drawingml/2006/main">
              <a:ext uri="{FF2B5EF4-FFF2-40B4-BE49-F238E27FC236}">
                <a16:creationId xmlns:a16="http://schemas.microsoft.com/office/drawing/2014/main" id="{489692F0-5405-4B5C-93F6-EA87E9425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0" y="3790950"/>
            <a:ext cx="42862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8490A0"/>
                </a:solidFill>
              </a:defRPr>
            </a:pPr>
            <a:r>
              <a:rPr sz="1950" b="1">
                <a:solidFill>
                  <a:srgbClr val="8490A0"/>
                </a:solidFill>
              </a:rPr>
              <a:t>-&gt;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1DA8E12-0CA7-462A-B585-3DAED3358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06600" y="38481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4F43"/>
          </a:solidFill>
          <a:ln xmlns:a="http://schemas.openxmlformats.org/drawingml/2006/main" w="0">
            <a:solidFill>
              <a:srgbClr val="E04F43"/>
            </a:solidFill>
            <a:prstDash val="solid"/>
          </a:ln>
        </p:spPr>
      </p:sp>
      <p:sp>
        <p:nvSpPr>
          <p:cNvPr id="26" name="lane-label-Arc">
            <a:extLst xmlns:a="http://schemas.openxmlformats.org/drawingml/2006/main">
              <a:ext uri="{FF2B5EF4-FFF2-40B4-BE49-F238E27FC236}">
                <a16:creationId xmlns:a16="http://schemas.microsoft.com/office/drawing/2014/main" id="{E25AA219-156A-4912-A2AE-2C6F29BEC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2350" y="3790950"/>
            <a:ext cx="2476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1220"/>
                </a:solidFill>
              </a:defRPr>
            </a:pPr>
            <a:r>
              <a:rPr sz="2025" b="1">
                <a:solidFill>
                  <a:srgbClr val="0B1220"/>
                </a:solidFill>
              </a:rPr>
              <a:t>Arc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0CD89B-CA8F-4688-84A1-55B348B7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7550" y="4191000"/>
            <a:ext cx="2781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4F43"/>
          </a:solidFill>
          <a:ln xmlns:a="http://schemas.openxmlformats.org/drawingml/2006/main" w="0">
            <a:solidFill>
              <a:srgbClr val="E04F43"/>
            </a:solidFill>
            <a:prstDash val="solid"/>
          </a:ln>
        </p:spPr>
      </p:sp>
      <p:sp>
        <p:nvSpPr>
          <p:cNvPr id="28" name="lane-detail-Arc">
            <a:extLst xmlns:a="http://schemas.openxmlformats.org/drawingml/2006/main">
              <a:ext uri="{FF2B5EF4-FFF2-40B4-BE49-F238E27FC236}">
                <a16:creationId xmlns:a16="http://schemas.microsoft.com/office/drawing/2014/main" id="{4E6EDB33-51F3-454B-8105-EF691A36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7550" y="4381500"/>
            <a:ext cx="27813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96473"/>
                </a:solidFill>
              </a:defRPr>
            </a:pPr>
            <a:r>
              <a:rPr sz="1425">
                <a:solidFill>
                  <a:srgbClr val="596473"/>
                </a:solidFill>
              </a:rPr>
              <a:t>PennyPilot anchors the receipt batch on the user's spend card.</a:t>
            </a:r>
          </a:p>
        </p:txBody>
      </p:sp>
      <p:sp>
        <p:nvSpPr>
          <p:cNvPr id="29" name="payment-flow-proof-note">
            <a:extLst xmlns:a="http://schemas.openxmlformats.org/drawingml/2006/main">
              <a:ext uri="{FF2B5EF4-FFF2-40B4-BE49-F238E27FC236}">
                <a16:creationId xmlns:a16="http://schemas.microsoft.com/office/drawing/2014/main" id="{428F81BC-4F76-40DA-AC0E-AA1590CB5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619875"/>
            <a:ext cx="16649700" cy="962025"/>
          </a:xfrm>
          <a:prstGeom xmlns:a="http://schemas.openxmlformats.org/drawingml/2006/main" prst="roundRect">
            <a:avLst>
              <a:gd name="adj" fmla="val 7921"/>
            </a:avLst>
          </a:prstGeom>
          <a:solidFill xmlns:a="http://schemas.openxmlformats.org/drawingml/2006/main">
            <a:srgbClr val="0E1116"/>
          </a:solidFill>
          <a:ln xmlns:a="http://schemas.openxmlformats.org/drawingml/2006/main" w="0">
            <a:solidFill>
              <a:srgbClr val="0E1116"/>
            </a:solidFill>
            <a:prstDash val="solid"/>
          </a:ln>
        </p:spPr>
      </p:sp>
      <p:sp>
        <p:nvSpPr>
          <p:cNvPr id="30" name="watch-label">
            <a:extLst xmlns:a="http://schemas.openxmlformats.org/drawingml/2006/main">
              <a:ext uri="{FF2B5EF4-FFF2-40B4-BE49-F238E27FC236}">
                <a16:creationId xmlns:a16="http://schemas.microsoft.com/office/drawing/2014/main" id="{FA9E24D4-B03A-4FB9-86A8-EDFA18C6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858000"/>
            <a:ext cx="10687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8C2CC"/>
                </a:solidFill>
              </a:defRPr>
            </a:pPr>
            <a:r>
              <a:rPr sz="1425" b="1">
                <a:solidFill>
                  <a:srgbClr val="B8C2CC"/>
                </a:solidFill>
              </a:rPr>
              <a:t>Proof chain</a:t>
            </a:r>
          </a:p>
        </p:txBody>
      </p:sp>
      <p:sp>
        <p:nvSpPr>
          <p:cNvPr id="31" name="watch-copy">
            <a:extLst xmlns:a="http://schemas.openxmlformats.org/drawingml/2006/main">
              <a:ext uri="{FF2B5EF4-FFF2-40B4-BE49-F238E27FC236}">
                <a16:creationId xmlns:a16="http://schemas.microsoft.com/office/drawing/2014/main" id="{00713236-FBCA-4780-8467-F8AF88223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124700"/>
            <a:ext cx="10687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FFFFFF"/>
                </a:solidFill>
              </a:defRPr>
            </a:pPr>
            <a:r>
              <a:rPr sz="1950">
                <a:solidFill>
                  <a:srgbClr val="FFFFFF"/>
                </a:solidFill>
              </a:rPr>
              <a:t>One batch payment authorization is followed by provider-signed receipts and an Arc receipt anchor.</a:t>
            </a:r>
          </a:p>
        </p:txBody>
      </p:sp>
      <p:sp>
        <p:nvSpPr>
          <p:cNvPr id="32" name="contract-function">
            <a:extLst xmlns:a="http://schemas.openxmlformats.org/drawingml/2006/main">
              <a:ext uri="{FF2B5EF4-FFF2-40B4-BE49-F238E27FC236}">
                <a16:creationId xmlns:a16="http://schemas.microsoft.com/office/drawing/2014/main" id="{B3A3A920-ACE4-45EB-AED1-1DB0A73DE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6991350"/>
            <a:ext cx="495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7F3D0"/>
                </a:solidFill>
              </a:defRPr>
            </a:pPr>
            <a:r>
              <a:rPr sz="1650" b="1">
                <a:solidFill>
                  <a:srgbClr val="A7F3D0"/>
                </a:solidFill>
              </a:rPr>
              <a:t>x402 authorization -&gt; signed receipts -&gt; Arc anchor</a:t>
            </a:r>
          </a:p>
        </p:txBody>
      </p:sp>
      <p:sp>
        <p:nvSpPr>
          <p:cNvPr id="3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B0E0C4D3-64F4-4E89-A6FE-AA10A81D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525000"/>
            <a:ext cx="19812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490A0"/>
                </a:solidFill>
              </a:defRPr>
            </a:pPr>
            <a:r>
              <a:rPr sz="1125">
                <a:solidFill>
                  <a:srgbClr val="8490A0"/>
                </a:solidFill>
              </a:rPr>
              <a:t>Circle Gateway x402 + Arc receipts</a:t>
            </a:r>
          </a:p>
        </p:txBody>
      </p:sp>
      <p:sp>
        <p:nvSpPr>
          <p:cNvPr id="34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4423DFB9-4547-4A2F-8615-8410451E3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9525000"/>
            <a:ext cx="4095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7A58"/>
                </a:solidFill>
              </a:defRPr>
            </a:pPr>
            <a:r>
              <a:rPr sz="1125" b="1">
                <a:solidFill>
                  <a:srgbClr val="007A58"/>
                </a:solidFill>
              </a:rPr>
              <a:t>pennypilot-five.vercel.app</a:t>
            </a:r>
          </a:p>
        </p:txBody>
      </p:sp>
    </p:spTree>
    <p:extLst>
      <p:ext uri="{BB962C8B-B14F-4D97-AF65-F5344CB8AC3E}">
        <p14:creationId xmlns:p14="http://schemas.microsoft.com/office/powerpoint/2010/main" val="205671074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4881C885-AC53-41C5-9BFA-62BD77BBA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1BC2972D-0F80-4BD2-94F3-93EF35D94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"/>
            <a:ext cx="16649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7A58"/>
                </a:solidFill>
              </a:defRPr>
            </a:pPr>
            <a:r>
              <a:rPr sz="1425" b="1">
                <a:solidFill>
                  <a:srgbClr val="007A58"/>
                </a:solidFill>
              </a:rPr>
              <a:t>PennyPilot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CF7C4D1-B24B-4ED8-839B-7388C8473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52500"/>
            <a:ext cx="166497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75" b="1">
                <a:solidFill>
                  <a:srgbClr val="0B1220"/>
                </a:solidFill>
              </a:defRPr>
            </a:pPr>
            <a:r>
              <a:rPr sz="3975" b="1">
                <a:solidFill>
                  <a:srgbClr val="0B1220"/>
                </a:solidFill>
              </a:rPr>
              <a:t>Agentic commerce with guardrails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6B4D639-CCF9-496D-A4A5-93A68FF6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00200"/>
            <a:ext cx="16649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96473"/>
                </a:solidFill>
              </a:defRPr>
            </a:pPr>
            <a:r>
              <a:rPr sz="1875">
                <a:solidFill>
                  <a:srgbClr val="596473"/>
                </a:solidFill>
              </a:rPr>
              <a:t>A reusable payment pattern for AI agents that need to buy many small paid facts safely.</a:t>
            </a:r>
          </a:p>
        </p:txBody>
      </p:sp>
      <p:sp>
        <p:nvSpPr>
          <p:cNvPr id="5" name="closing-claim">
            <a:extLst xmlns:a="http://schemas.openxmlformats.org/drawingml/2006/main">
              <a:ext uri="{FF2B5EF4-FFF2-40B4-BE49-F238E27FC236}">
                <a16:creationId xmlns:a16="http://schemas.microsoft.com/office/drawing/2014/main" id="{107EA6DA-FEA9-4A99-9DBF-C2C2A5237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33750"/>
            <a:ext cx="86677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B1220"/>
                </a:solidFill>
              </a:defRPr>
            </a:pPr>
            <a:r>
              <a:rPr sz="4350" b="1">
                <a:solidFill>
                  <a:srgbClr val="0B1220"/>
                </a:solidFill>
              </a:rPr>
              <a:t>Let agents spend without letting spend go dark.</a:t>
            </a:r>
          </a:p>
        </p:txBody>
      </p:sp>
      <p:sp>
        <p:nvSpPr>
          <p:cNvPr id="6" name="closing-copy">
            <a:extLst xmlns:a="http://schemas.openxmlformats.org/drawingml/2006/main">
              <a:ext uri="{FF2B5EF4-FFF2-40B4-BE49-F238E27FC236}">
                <a16:creationId xmlns:a16="http://schemas.microsoft.com/office/drawing/2014/main" id="{A65C9560-B312-4398-94C5-C47F2023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86300"/>
            <a:ext cx="86677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596473"/>
                </a:solidFill>
              </a:defRPr>
            </a:pPr>
            <a:r>
              <a:rPr sz="2100">
                <a:solidFill>
                  <a:srgbClr val="596473"/>
                </a:solidFill>
              </a:rPr>
              <a:t>PennyPilot turns paid API calls into governed agent procurement: a user sets policy, the agent buys only approved facts, and every receipt remains traceable.</a:t>
            </a:r>
          </a:p>
        </p:txBody>
      </p:sp>
      <p:sp>
        <p:nvSpPr>
          <p:cNvPr id="7" name="accent-rule">
            <a:extLst xmlns:a="http://schemas.openxmlformats.org/drawingml/2006/main">
              <a:ext uri="{FF2B5EF4-FFF2-40B4-BE49-F238E27FC236}">
                <a16:creationId xmlns:a16="http://schemas.microsoft.com/office/drawing/2014/main" id="{E6758416-A006-442D-94E0-3F34C6A46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67350"/>
            <a:ext cx="2190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58"/>
          </a:solidFill>
          <a:ln xmlns:a="http://schemas.openxmlformats.org/drawingml/2006/main" w="0">
            <a:solidFill>
              <a:srgbClr val="007A58"/>
            </a:solidFill>
            <a:prstDash val="solid"/>
          </a:ln>
        </p:spPr>
      </p:sp>
      <p:sp>
        <p:nvSpPr>
          <p:cNvPr id="8" name="statement-title-Controlled">
            <a:extLst xmlns:a="http://schemas.openxmlformats.org/drawingml/2006/main">
              <a:ext uri="{FF2B5EF4-FFF2-40B4-BE49-F238E27FC236}">
                <a16:creationId xmlns:a16="http://schemas.microsoft.com/office/drawing/2014/main" id="{522A0041-4088-45CB-A5E9-70696BF37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76900"/>
            <a:ext cx="41910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Controlled</a:t>
            </a:r>
          </a:p>
        </p:txBody>
      </p:sp>
      <p:sp>
        <p:nvSpPr>
          <p:cNvPr id="9" name="statement-body-Controlled">
            <a:extLst xmlns:a="http://schemas.openxmlformats.org/drawingml/2006/main">
              <a:ext uri="{FF2B5EF4-FFF2-40B4-BE49-F238E27FC236}">
                <a16:creationId xmlns:a16="http://schemas.microsoft.com/office/drawing/2014/main" id="{181DB139-7104-4326-AAA4-7174CC3E8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191250"/>
            <a:ext cx="4191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96473"/>
                </a:solidFill>
              </a:defRPr>
            </a:pPr>
            <a:r>
              <a:rPr sz="1800">
                <a:solidFill>
                  <a:srgbClr val="596473"/>
                </a:solidFill>
              </a:rPr>
              <a:t>Budget, per-call cap, provider allowlist, and batch size are defined before spend.</a:t>
            </a:r>
          </a:p>
        </p:txBody>
      </p:sp>
      <p:sp>
        <p:nvSpPr>
          <p:cNvPr id="10" name="accent-rule">
            <a:extLst xmlns:a="http://schemas.openxmlformats.org/drawingml/2006/main">
              <a:ext uri="{FF2B5EF4-FFF2-40B4-BE49-F238E27FC236}">
                <a16:creationId xmlns:a16="http://schemas.microsoft.com/office/drawing/2014/main" id="{AB1CD2EE-398A-4148-8B62-D868BB71C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5467350"/>
            <a:ext cx="2190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solidFill>
              <a:srgbClr val="0D9488"/>
            </a:solidFill>
            <a:prstDash val="solid"/>
          </a:ln>
        </p:spPr>
      </p:sp>
      <p:sp>
        <p:nvSpPr>
          <p:cNvPr id="11" name="statement-title-API-native">
            <a:extLst xmlns:a="http://schemas.openxmlformats.org/drawingml/2006/main">
              <a:ext uri="{FF2B5EF4-FFF2-40B4-BE49-F238E27FC236}">
                <a16:creationId xmlns:a16="http://schemas.microsoft.com/office/drawing/2014/main" id="{B6E99DCF-ECD0-4BF9-9C6B-1EEF3C0F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5676900"/>
            <a:ext cx="41910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API-native</a:t>
            </a:r>
          </a:p>
        </p:txBody>
      </p:sp>
      <p:sp>
        <p:nvSpPr>
          <p:cNvPr id="12" name="statement-body-API-native">
            <a:extLst xmlns:a="http://schemas.openxmlformats.org/drawingml/2006/main">
              <a:ext uri="{FF2B5EF4-FFF2-40B4-BE49-F238E27FC236}">
                <a16:creationId xmlns:a16="http://schemas.microsoft.com/office/drawing/2014/main" id="{1254832E-7455-4BBE-8E49-F7F5F0E08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6191250"/>
            <a:ext cx="4191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96473"/>
                </a:solidFill>
              </a:defRPr>
            </a:pPr>
            <a:r>
              <a:rPr sz="1800">
                <a:solidFill>
                  <a:srgbClr val="596473"/>
                </a:solidFill>
              </a:rPr>
              <a:t>Circle Gateway x402 lets providers monetize tiny proof calls below one cent.</a:t>
            </a:r>
          </a:p>
        </p:txBody>
      </p:sp>
      <p:sp>
        <p:nvSpPr>
          <p:cNvPr id="13" name="accent-rule">
            <a:extLst xmlns:a="http://schemas.openxmlformats.org/drawingml/2006/main">
              <a:ext uri="{FF2B5EF4-FFF2-40B4-BE49-F238E27FC236}">
                <a16:creationId xmlns:a16="http://schemas.microsoft.com/office/drawing/2014/main" id="{74CEA120-C601-4700-93C9-AF8A0537D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877050"/>
            <a:ext cx="2190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4F43"/>
          </a:solidFill>
          <a:ln xmlns:a="http://schemas.openxmlformats.org/drawingml/2006/main" w="0">
            <a:solidFill>
              <a:srgbClr val="E04F43"/>
            </a:solidFill>
            <a:prstDash val="solid"/>
          </a:ln>
        </p:spPr>
      </p:sp>
      <p:sp>
        <p:nvSpPr>
          <p:cNvPr id="14" name="statement-title-Auditable">
            <a:extLst xmlns:a="http://schemas.openxmlformats.org/drawingml/2006/main">
              <a:ext uri="{FF2B5EF4-FFF2-40B4-BE49-F238E27FC236}">
                <a16:creationId xmlns:a16="http://schemas.microsoft.com/office/drawing/2014/main" id="{F4ACAA4B-68C2-43BB-861A-1FEE057F1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067550"/>
            <a:ext cx="41910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Auditable</a:t>
            </a:r>
          </a:p>
        </p:txBody>
      </p:sp>
      <p:sp>
        <p:nvSpPr>
          <p:cNvPr id="15" name="statement-body-Auditable">
            <a:extLst xmlns:a="http://schemas.openxmlformats.org/drawingml/2006/main">
              <a:ext uri="{FF2B5EF4-FFF2-40B4-BE49-F238E27FC236}">
                <a16:creationId xmlns:a16="http://schemas.microsoft.com/office/drawing/2014/main" id="{B526C733-24A0-4A66-A9A5-24F11292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81900"/>
            <a:ext cx="4191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96473"/>
                </a:solidFill>
              </a:defRPr>
            </a:pPr>
            <a:r>
              <a:rPr sz="1800">
                <a:solidFill>
                  <a:srgbClr val="596473"/>
                </a:solidFill>
              </a:rPr>
              <a:t>Provider signatures and Arc anchors make the spend trail independently checkable.</a:t>
            </a:r>
          </a:p>
        </p:txBody>
      </p:sp>
      <p:sp>
        <p:nvSpPr>
          <p:cNvPr id="16" name="accent-rule">
            <a:extLst xmlns:a="http://schemas.openxmlformats.org/drawingml/2006/main">
              <a:ext uri="{FF2B5EF4-FFF2-40B4-BE49-F238E27FC236}">
                <a16:creationId xmlns:a16="http://schemas.microsoft.com/office/drawing/2014/main" id="{D34328C7-11A0-4095-B33D-602441FCD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6877050"/>
            <a:ext cx="2190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B8"/>
          </a:solidFill>
          <a:ln xmlns:a="http://schemas.openxmlformats.org/drawingml/2006/main" w="0">
            <a:solidFill>
              <a:srgbClr val="2878B8"/>
            </a:solidFill>
            <a:prstDash val="solid"/>
          </a:ln>
        </p:spPr>
      </p:sp>
      <p:sp>
        <p:nvSpPr>
          <p:cNvPr id="17" name="statement-title-Reusable">
            <a:extLst xmlns:a="http://schemas.openxmlformats.org/drawingml/2006/main">
              <a:ext uri="{FF2B5EF4-FFF2-40B4-BE49-F238E27FC236}">
                <a16:creationId xmlns:a16="http://schemas.microsoft.com/office/drawing/2014/main" id="{3364F69B-BBB1-450C-AC8A-9BE1A942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7067550"/>
            <a:ext cx="41910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Reusable</a:t>
            </a:r>
          </a:p>
        </p:txBody>
      </p:sp>
      <p:sp>
        <p:nvSpPr>
          <p:cNvPr id="18" name="statement-body-Reusable">
            <a:extLst xmlns:a="http://schemas.openxmlformats.org/drawingml/2006/main">
              <a:ext uri="{FF2B5EF4-FFF2-40B4-BE49-F238E27FC236}">
                <a16:creationId xmlns:a16="http://schemas.microsoft.com/office/drawing/2014/main" id="{830D543F-CE1F-406E-9BA4-572112DAA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7581900"/>
            <a:ext cx="4191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96473"/>
                </a:solidFill>
              </a:defRPr>
            </a:pPr>
            <a:r>
              <a:rPr sz="1800">
                <a:solidFill>
                  <a:srgbClr val="596473"/>
                </a:solidFill>
              </a:rPr>
              <a:t>The same loop fits KYB, sanctions, invoice, FX, risk, and identity checks.</a:t>
            </a:r>
          </a:p>
        </p:txBody>
      </p:sp>
      <p:sp>
        <p:nvSpPr>
          <p:cNvPr id="19" name="closing-proof-field">
            <a:extLst xmlns:a="http://schemas.openxmlformats.org/drawingml/2006/main">
              <a:ext uri="{FF2B5EF4-FFF2-40B4-BE49-F238E27FC236}">
                <a16:creationId xmlns:a16="http://schemas.microsoft.com/office/drawing/2014/main" id="{A687CB2A-146C-4728-A0E8-1846C8F3E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1641" y="3028950"/>
            <a:ext cx="7387209" cy="5334000"/>
          </a:xfrm>
          <a:prstGeom xmlns:a="http://schemas.openxmlformats.org/drawingml/2006/main" prst="roundRect">
            <a:avLst>
              <a:gd name="adj" fmla="val 1429"/>
            </a:avLst>
          </a:prstGeom>
          <a:solidFill xmlns:a="http://schemas.openxmlformats.org/drawingml/2006/main">
            <a:srgbClr val="0E1116"/>
          </a:solidFill>
          <a:ln xmlns:a="http://schemas.openxmlformats.org/drawingml/2006/main" w="0">
            <a:solidFill>
              <a:srgbClr val="0E1116"/>
            </a:solidFill>
            <a:prstDash val="solid"/>
          </a:ln>
        </p:spPr>
      </p:sp>
      <p:sp>
        <p:nvSpPr>
          <p:cNvPr id="20" name="closing-proof-label">
            <a:extLst xmlns:a="http://schemas.openxmlformats.org/drawingml/2006/main">
              <a:ext uri="{FF2B5EF4-FFF2-40B4-BE49-F238E27FC236}">
                <a16:creationId xmlns:a16="http://schemas.microsoft.com/office/drawing/2014/main" id="{B31EC9B6-9FC0-43C1-A9B4-0EE15D57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390900"/>
            <a:ext cx="6591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8C2CC"/>
                </a:solidFill>
              </a:defRPr>
            </a:pPr>
            <a:r>
              <a:rPr sz="1425" b="1">
                <a:solidFill>
                  <a:srgbClr val="B8C2CC"/>
                </a:solidFill>
              </a:rPr>
              <a:t>Operational proof</a:t>
            </a:r>
          </a:p>
        </p:txBody>
      </p:sp>
      <p:sp>
        <p:nvSpPr>
          <p:cNvPr id="21" name="closing-proof-headline">
            <a:extLst xmlns:a="http://schemas.openxmlformats.org/drawingml/2006/main">
              <a:ext uri="{FF2B5EF4-FFF2-40B4-BE49-F238E27FC236}">
                <a16:creationId xmlns:a16="http://schemas.microsoft.com/office/drawing/2014/main" id="{4D5BD35D-E8B5-4F89-802F-2D71D6B9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733800"/>
            <a:ext cx="65913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Deployed app. Public repo. Arc receipts. 50+ transaction proof.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F342FA-86C3-4430-AF3F-F3D8D38F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5105400"/>
            <a:ext cx="3181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58"/>
          </a:solidFill>
          <a:ln xmlns:a="http://schemas.openxmlformats.org/drawingml/2006/main" w="0">
            <a:solidFill>
              <a:srgbClr val="007A58"/>
            </a:solidFill>
            <a:prstDash val="solid"/>
          </a:ln>
        </p:spPr>
      </p:sp>
      <p:sp>
        <p:nvSpPr>
          <p:cNvPr id="23" name="dark-metric-value-max proofs per batch">
            <a:extLst xmlns:a="http://schemas.openxmlformats.org/drawingml/2006/main">
              <a:ext uri="{FF2B5EF4-FFF2-40B4-BE49-F238E27FC236}">
                <a16:creationId xmlns:a16="http://schemas.microsoft.com/office/drawing/2014/main" id="{4088E89A-6C08-4EDB-BE64-9568DC8F4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525780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60</a:t>
            </a:r>
          </a:p>
        </p:txBody>
      </p:sp>
      <p:sp>
        <p:nvSpPr>
          <p:cNvPr id="24" name="dark-metric-label-max proofs per batch">
            <a:extLst xmlns:a="http://schemas.openxmlformats.org/drawingml/2006/main">
              <a:ext uri="{FF2B5EF4-FFF2-40B4-BE49-F238E27FC236}">
                <a16:creationId xmlns:a16="http://schemas.microsoft.com/office/drawing/2014/main" id="{CF5AF4CD-306F-4C17-BCB0-60A5E320D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5753100"/>
            <a:ext cx="31813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B8C2CC"/>
                </a:solidFill>
              </a:defRPr>
            </a:pPr>
            <a:r>
              <a:rPr sz="1350">
                <a:solidFill>
                  <a:srgbClr val="B8C2CC"/>
                </a:solidFill>
              </a:rPr>
              <a:t>max proofs per batch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1ADDCA-FF3B-4272-817A-1DA899D7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5105400"/>
            <a:ext cx="3181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4F43"/>
          </a:solidFill>
          <a:ln xmlns:a="http://schemas.openxmlformats.org/drawingml/2006/main" w="0">
            <a:solidFill>
              <a:srgbClr val="E04F43"/>
            </a:solidFill>
            <a:prstDash val="solid"/>
          </a:ln>
        </p:spPr>
      </p:sp>
      <p:sp>
        <p:nvSpPr>
          <p:cNvPr id="26" name="dark-metric-value-verified receipt tx">
            <a:extLst xmlns:a="http://schemas.openxmlformats.org/drawingml/2006/main">
              <a:ext uri="{FF2B5EF4-FFF2-40B4-BE49-F238E27FC236}">
                <a16:creationId xmlns:a16="http://schemas.microsoft.com/office/drawing/2014/main" id="{11C511DB-C1E9-4FC1-A904-6837ADCEC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525780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50+</a:t>
            </a:r>
          </a:p>
        </p:txBody>
      </p:sp>
      <p:sp>
        <p:nvSpPr>
          <p:cNvPr id="27" name="dark-metric-label-verified receipt tx">
            <a:extLst xmlns:a="http://schemas.openxmlformats.org/drawingml/2006/main">
              <a:ext uri="{FF2B5EF4-FFF2-40B4-BE49-F238E27FC236}">
                <a16:creationId xmlns:a16="http://schemas.microsoft.com/office/drawing/2014/main" id="{2B1A9817-2B1D-4981-952E-2C7DE5C74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5753100"/>
            <a:ext cx="31813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B8C2CC"/>
                </a:solidFill>
              </a:defRPr>
            </a:pPr>
            <a:r>
              <a:rPr sz="1350">
                <a:solidFill>
                  <a:srgbClr val="B8C2CC"/>
                </a:solidFill>
              </a:rPr>
              <a:t>verified receipt tx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941821-CE9E-4B20-8565-7764CF073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172200"/>
            <a:ext cx="3181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solidFill>
              <a:srgbClr val="0D9488"/>
            </a:solidFill>
            <a:prstDash val="solid"/>
          </a:ln>
        </p:spPr>
      </p:sp>
      <p:sp>
        <p:nvSpPr>
          <p:cNvPr id="29" name="dark-metric-value-per paid action">
            <a:extLst xmlns:a="http://schemas.openxmlformats.org/drawingml/2006/main">
              <a:ext uri="{FF2B5EF4-FFF2-40B4-BE49-F238E27FC236}">
                <a16:creationId xmlns:a16="http://schemas.microsoft.com/office/drawing/2014/main" id="{8B89B210-52B6-49C6-81C1-B5BCE6ADA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2460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&lt; $0.01</a:t>
            </a:r>
          </a:p>
        </p:txBody>
      </p:sp>
      <p:sp>
        <p:nvSpPr>
          <p:cNvPr id="30" name="dark-metric-label-per paid action">
            <a:extLst xmlns:a="http://schemas.openxmlformats.org/drawingml/2006/main">
              <a:ext uri="{FF2B5EF4-FFF2-40B4-BE49-F238E27FC236}">
                <a16:creationId xmlns:a16="http://schemas.microsoft.com/office/drawing/2014/main" id="{5C788F79-142A-40F0-A1CD-D9B9EA6BD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819900"/>
            <a:ext cx="31813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B8C2CC"/>
                </a:solidFill>
              </a:defRPr>
            </a:pPr>
            <a:r>
              <a:rPr sz="1350">
                <a:solidFill>
                  <a:srgbClr val="B8C2CC"/>
                </a:solidFill>
              </a:rPr>
              <a:t>per paid action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955175-DF0C-40AC-8FB8-D4FED32E7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6172200"/>
            <a:ext cx="3181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B8"/>
          </a:solidFill>
          <a:ln xmlns:a="http://schemas.openxmlformats.org/drawingml/2006/main" w="0">
            <a:solidFill>
              <a:srgbClr val="2878B8"/>
            </a:solidFill>
            <a:prstDash val="solid"/>
          </a:ln>
        </p:spPr>
      </p:sp>
      <p:sp>
        <p:nvSpPr>
          <p:cNvPr id="32" name="dark-metric-value-batch authorization">
            <a:extLst xmlns:a="http://schemas.openxmlformats.org/drawingml/2006/main">
              <a:ext uri="{FF2B5EF4-FFF2-40B4-BE49-F238E27FC236}">
                <a16:creationId xmlns:a16="http://schemas.microsoft.com/office/drawing/2014/main" id="{2AC8BB83-06F5-4C31-8C95-78A90450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632460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3" name="dark-metric-label-batch authorization">
            <a:extLst xmlns:a="http://schemas.openxmlformats.org/drawingml/2006/main">
              <a:ext uri="{FF2B5EF4-FFF2-40B4-BE49-F238E27FC236}">
                <a16:creationId xmlns:a16="http://schemas.microsoft.com/office/drawing/2014/main" id="{517AA2B8-8225-499B-83E0-FA805FC2D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6819900"/>
            <a:ext cx="31813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B8C2CC"/>
                </a:solidFill>
              </a:defRPr>
            </a:pPr>
            <a:r>
              <a:rPr sz="1350">
                <a:solidFill>
                  <a:srgbClr val="B8C2CC"/>
                </a:solidFill>
              </a:rPr>
              <a:t>batch authorization</a:t>
            </a:r>
          </a:p>
        </p:txBody>
      </p:sp>
      <p:sp>
        <p:nvSpPr>
          <p:cNvPr id="34" name="closing-app-url">
            <a:extLst xmlns:a="http://schemas.openxmlformats.org/drawingml/2006/main">
              <a:ext uri="{FF2B5EF4-FFF2-40B4-BE49-F238E27FC236}">
                <a16:creationId xmlns:a16="http://schemas.microsoft.com/office/drawing/2014/main" id="{561FE241-5514-4188-A769-E62462B04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7562850"/>
            <a:ext cx="65913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pennypilot-five.vercel.app</a:t>
            </a:r>
          </a:p>
        </p:txBody>
      </p:sp>
      <p:sp>
        <p:nvSpPr>
          <p:cNvPr id="35" name="closing-proof-links">
            <a:extLst xmlns:a="http://schemas.openxmlformats.org/drawingml/2006/main">
              <a:ext uri="{FF2B5EF4-FFF2-40B4-BE49-F238E27FC236}">
                <a16:creationId xmlns:a16="http://schemas.microsoft.com/office/drawing/2014/main" id="{B6FCB0BF-6D4B-438B-9A5C-87728C71B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7867650"/>
            <a:ext cx="65913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B8C2CC"/>
                </a:solidFill>
              </a:defRPr>
            </a:pPr>
            <a:r>
              <a:rPr sz="1125">
                <a:solidFill>
                  <a:srgbClr val="B8C2CC"/>
                </a:solidFill>
              </a:rPr>
              <a:t>github.com/Kxazar/pennypilot   /   Arc contract 0x4c8E...3047   /   50 tx 0x9f65...8ee7</a:t>
            </a:r>
          </a:p>
        </p:txBody>
      </p:sp>
      <p:sp>
        <p:nvSpPr>
          <p:cNvPr id="3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EF6C3923-CB2F-4AD5-B47C-FB0535D9E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525000"/>
            <a:ext cx="8191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490A0"/>
                </a:solidFill>
              </a:defRPr>
            </a:pPr>
            <a:r>
              <a:rPr sz="1125">
                <a:solidFill>
                  <a:srgbClr val="8490A0"/>
                </a:solidFill>
              </a:rPr>
              <a:t>Product thesis</a:t>
            </a:r>
          </a:p>
        </p:txBody>
      </p:sp>
      <p:sp>
        <p:nvSpPr>
          <p:cNvPr id="3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0573EB3F-C4C0-425B-B7EA-9AC13AB3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9525000"/>
            <a:ext cx="4095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7A58"/>
                </a:solidFill>
              </a:defRPr>
            </a:pPr>
            <a:r>
              <a:rPr sz="1125" b="1">
                <a:solidFill>
                  <a:srgbClr val="007A58"/>
                </a:solidFill>
              </a:rPr>
              <a:t>pennypilot-five.vercel.app</a:t>
            </a:r>
          </a:p>
        </p:txBody>
      </p:sp>
    </p:spTree>
    <p:extLst>
      <p:ext uri="{BB962C8B-B14F-4D97-AF65-F5344CB8AC3E}">
        <p14:creationId xmlns:p14="http://schemas.microsoft.com/office/powerpoint/2010/main" val="6081899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2026-04-24T14:32:49.9420000Z</dcterms:created>
  <dcterms:modified xsi:type="dcterms:W3CDTF">2026-04-24T14:32:49.9420000Z</dcterms:modified>
</coreProperties>
</file>