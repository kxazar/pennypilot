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6aa4477a3d42ad" /><Relationship Type="http://schemas.openxmlformats.org/officeDocument/2006/relationships/extended-properties" Target="/docProps/app.xml" Id="Rbf7b4dce9cab4f80" /><Relationship Type="http://schemas.openxmlformats.org/officeDocument/2006/relationships/officeDocument" Target="/ppt/presentation.xml" Id="Rdad786743fd348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cb6fec63734da0"/>
  </p:sldMasterIdLst>
  <p:notesMasterIdLst>
    <p:notesMasterId xmlns:r="http://schemas.openxmlformats.org/officeDocument/2006/relationships" r:id="Rf15789b5f6be4604"/>
  </p:notesMasterIdLst>
  <p:sldIdLst>
    <p:sldId xmlns:r="http://schemas.openxmlformats.org/officeDocument/2006/relationships" id="256" r:id="R2835624148b84a8f"/>
    <p:sldId xmlns:r="http://schemas.openxmlformats.org/officeDocument/2006/relationships" id="257" r:id="R2e56fbc5dffe41e1"/>
    <p:sldId xmlns:r="http://schemas.openxmlformats.org/officeDocument/2006/relationships" id="258" r:id="Ra2ec7f4e6f3a4b82"/>
    <p:sldId xmlns:r="http://schemas.openxmlformats.org/officeDocument/2006/relationships" id="259" r:id="R94a54e11599a45b6"/>
    <p:sldId xmlns:r="http://schemas.openxmlformats.org/officeDocument/2006/relationships" id="260" r:id="R5b67989727824e28"/>
    <p:sldId xmlns:r="http://schemas.openxmlformats.org/officeDocument/2006/relationships" id="261" r:id="Rba75b52e69ff4b0c"/>
    <p:sldId xmlns:r="http://schemas.openxmlformats.org/officeDocument/2006/relationships" id="262" r:id="R4e4a9c10f11a4d0f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cb6fec63734da0" /><Relationship Type="http://schemas.openxmlformats.org/officeDocument/2006/relationships/theme" Target="/ppt/theme/theme1.xml" Id="Rb82f9451097045ff" /><Relationship Type="http://schemas.openxmlformats.org/officeDocument/2006/relationships/notesMaster" Target="/ppt/notesMasters/notesMaster1.xml" Id="Rf15789b5f6be4604" /><Relationship Type="http://schemas.openxmlformats.org/officeDocument/2006/relationships/presProps" Target="/ppt/presProps.xml" Id="Rb9416712e7014b9c" /><Relationship Type="http://schemas.openxmlformats.org/officeDocument/2006/relationships/viewProps" Target="/ppt/viewProps.xml" Id="R74ec9884b1214e66" /><Relationship Type="http://schemas.openxmlformats.org/officeDocument/2006/relationships/tableStyles" Target="/ppt/tableStyles.xml" Id="R1e2beb81375c4f9d" /><Relationship Type="http://schemas.openxmlformats.org/officeDocument/2006/relationships/slide" Target="/ppt/slides/slide1.xml" Id="R2835624148b84a8f" /><Relationship Type="http://schemas.openxmlformats.org/officeDocument/2006/relationships/slide" Target="/ppt/slides/slide2.xml" Id="R2e56fbc5dffe41e1" /><Relationship Type="http://schemas.openxmlformats.org/officeDocument/2006/relationships/slide" Target="/ppt/slides/slide3.xml" Id="Ra2ec7f4e6f3a4b82" /><Relationship Type="http://schemas.openxmlformats.org/officeDocument/2006/relationships/slide" Target="/ppt/slides/slide4.xml" Id="R94a54e11599a45b6" /><Relationship Type="http://schemas.openxmlformats.org/officeDocument/2006/relationships/slide" Target="/ppt/slides/slide5.xml" Id="R5b67989727824e28" /><Relationship Type="http://schemas.openxmlformats.org/officeDocument/2006/relationships/slide" Target="/ppt/slides/slide6.xml" Id="Rba75b52e69ff4b0c" /><Relationship Type="http://schemas.openxmlformats.org/officeDocument/2006/relationships/slide" Target="/ppt/slides/slide7.xml" Id="R4e4a9c10f11a4d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f63e06a90374c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acabdafa684400" /><Relationship Type="http://schemas.openxmlformats.org/officeDocument/2006/relationships/notesMaster" Target="/ppt/notesMasters/notesMaster1.xml" Id="Rb5dd7788097545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f3fb3c3b8f444a" /><Relationship Type="http://schemas.openxmlformats.org/officeDocument/2006/relationships/notesMaster" Target="/ppt/notesMasters/notesMaster1.xml" Id="Rbb84ddce98604f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22078b194f480a" /><Relationship Type="http://schemas.openxmlformats.org/officeDocument/2006/relationships/notesMaster" Target="/ppt/notesMasters/notesMaster1.xml" Id="R7c091130aa0a48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2251ddcbed4087" /><Relationship Type="http://schemas.openxmlformats.org/officeDocument/2006/relationships/notesMaster" Target="/ppt/notesMasters/notesMaster1.xml" Id="R0448ddb21a6a42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c9ea19bd89444f" /><Relationship Type="http://schemas.openxmlformats.org/officeDocument/2006/relationships/notesMaster" Target="/ppt/notesMasters/notesMaster1.xml" Id="R230b14d278334c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fe134d319f42d2" /><Relationship Type="http://schemas.openxmlformats.org/officeDocument/2006/relationships/notesMaster" Target="/ppt/notesMasters/notesMaster1.xml" Id="Rb203c0f0e5544e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6302734fa74d75" /><Relationship Type="http://schemas.openxmlformats.org/officeDocument/2006/relationships/notesMaster" Target="/ppt/notesMasters/notesMaster1.xml" Id="Rca649eefb9db47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bec4fd4067495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e8bf7ce6a41490c" /><Relationship Type="http://schemas.openxmlformats.org/officeDocument/2006/relationships/slideLayout" Target="/ppt/slideLayouts/slideLayout2.xml" Id="R9d97997eac154e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97997eac154e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b8f5473c3c4f52" /><Relationship Type="http://schemas.openxmlformats.org/officeDocument/2006/relationships/notesSlide" Target="/ppt/notesSlides/notesSlide1.xml" Id="Ra43f06576fb74f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aa74c941b74b9f" /><Relationship Type="http://schemas.openxmlformats.org/officeDocument/2006/relationships/notesSlide" Target="/ppt/notesSlides/notesSlide2.xml" Id="R4cf19bab9b7b43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05a6e50e6c4d58" /><Relationship Type="http://schemas.openxmlformats.org/officeDocument/2006/relationships/notesSlide" Target="/ppt/notesSlides/notesSlide3.xml" Id="Rc8f0e957d4f942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a7ed2fff024644" /><Relationship Type="http://schemas.openxmlformats.org/officeDocument/2006/relationships/notesSlide" Target="/ppt/notesSlides/notesSlide4.xml" Id="Rd27e0557ed6a49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7db222568b4f96" /><Relationship Type="http://schemas.openxmlformats.org/officeDocument/2006/relationships/notesSlide" Target="/ppt/notesSlides/notesSlide5.xml" Id="Rf680963c7b8b4b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90be460fc54d5c" /><Relationship Type="http://schemas.openxmlformats.org/officeDocument/2006/relationships/notesSlide" Target="/ppt/notesSlides/notesSlide6.xml" Id="Rbf276f953ec549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efd02fa6a548ae" /><Relationship Type="http://schemas.openxmlformats.org/officeDocument/2006/relationships/notesSlide" Target="/ppt/notesSlides/notesSlide7.xml" Id="Rb5a9870eaaaf44a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CD0703D1-66C1-4176-B416-617E6AF1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cover-spacer">
            <a:extLst xmlns:a="http://schemas.openxmlformats.org/drawingml/2006/main">
              <a:ext uri="{FF2B5EF4-FFF2-40B4-BE49-F238E27FC236}">
                <a16:creationId xmlns:a16="http://schemas.microsoft.com/office/drawing/2014/main" id="{92925970-28FA-4AA8-B8C9-CEB90FEF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0DAFD6C-B571-41E4-8BCA-BA0D017D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87820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7A58"/>
                </a:solidFill>
              </a:defRPr>
            </a:pPr>
            <a:r>
              <a:rPr sz="1800" b="1">
                <a:solidFill>
                  <a:srgbClr val="007A58"/>
                </a:solidFill>
              </a:rPr>
              <a:t>Nano-payments for supervised machine spending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C3FCA2C-6BBB-4A3D-A464-5FBA2C30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87820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400" b="1">
                <a:solidFill>
                  <a:srgbClr val="111827"/>
                </a:solidFill>
              </a:defRPr>
            </a:pPr>
            <a:r>
              <a:rPr sz="8400" b="1">
                <a:solidFill>
                  <a:srgbClr val="111827"/>
                </a:solidFill>
              </a:rPr>
              <a:t>PennyPilot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1725F6A-3D53-47D3-9BB0-791053FD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8191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B6472"/>
                </a:solidFill>
              </a:defRPr>
            </a:pPr>
            <a:r>
              <a:rPr sz="2325">
                <a:solidFill>
                  <a:srgbClr val="5B6472"/>
                </a:solidFill>
              </a:rPr>
              <a:t>A spend-control card for AI finance agents buying paid financial facts through Circle Gateway x402, with receipts anchored on Arc.</a:t>
            </a:r>
          </a:p>
        </p:txBody>
      </p:sp>
      <p:sp>
        <p:nvSpPr>
          <p:cNvPr id="6" name="chip-Arc proof live">
            <a:extLst xmlns:a="http://schemas.openxmlformats.org/drawingml/2006/main">
              <a:ext uri="{FF2B5EF4-FFF2-40B4-BE49-F238E27FC236}">
                <a16:creationId xmlns:a16="http://schemas.microsoft.com/office/drawing/2014/main" id="{9C36F449-B73E-4FEB-832F-654FBACF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57900"/>
            <a:ext cx="1560766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A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304C9-471D-4892-97B0-A93E4ED3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67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7C6F1C-ACD4-4513-92F9-9C354A19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172200"/>
            <a:ext cx="95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Arc proof live</a:t>
            </a:r>
          </a:p>
        </p:txBody>
      </p:sp>
      <p:sp>
        <p:nvSpPr>
          <p:cNvPr id="9" name="chip-Gateway x402">
            <a:extLst xmlns:a="http://schemas.openxmlformats.org/drawingml/2006/main">
              <a:ext uri="{FF2B5EF4-FFF2-40B4-BE49-F238E27FC236}">
                <a16:creationId xmlns:a16="http://schemas.microsoft.com/office/drawing/2014/main" id="{A665C2EE-5D12-49E9-AB16-0E3992F4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9466" y="6057900"/>
            <a:ext cx="16117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D948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2A50CC-BFB0-46CB-B137-47CB6A51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267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4E617C-622B-43F2-AE8E-EBBB3BC7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172200"/>
            <a:ext cx="1009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Gateway x402</a:t>
            </a:r>
          </a:p>
        </p:txBody>
      </p:sp>
      <p:sp>
        <p:nvSpPr>
          <p:cNvPr id="12" name="chip-50 tx proof">
            <a:extLst xmlns:a="http://schemas.openxmlformats.org/drawingml/2006/main">
              <a:ext uri="{FF2B5EF4-FFF2-40B4-BE49-F238E27FC236}">
                <a16:creationId xmlns:a16="http://schemas.microsoft.com/office/drawing/2014/main" id="{871BE094-15B8-4D5C-BB23-9B1CF4F9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742" y="6057900"/>
            <a:ext cx="1388554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04F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CAACC4-1F7B-4E5E-A28D-08B62B2F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62674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80C11-EC35-4D2F-91DE-1B80A24F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172200"/>
            <a:ext cx="7810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50 tx proof</a:t>
            </a:r>
          </a:p>
        </p:txBody>
      </p:sp>
      <p:sp>
        <p:nvSpPr>
          <p:cNvPr id="15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364CE1DC-72E2-40C2-B176-D1387C0A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76650"/>
            <a:ext cx="71818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111827"/>
                </a:solidFill>
              </a:defRPr>
            </a:pPr>
            <a:r>
              <a:rPr sz="6600" b="1">
                <a:solidFill>
                  <a:srgbClr val="111827"/>
                </a:solidFill>
              </a:rPr>
              <a:t>$0.003885</a:t>
            </a:r>
          </a:p>
        </p:txBody>
      </p:sp>
      <p:sp>
        <p:nvSpPr>
          <p:cNvPr id="16" name="cover-number-label">
            <a:extLst xmlns:a="http://schemas.openxmlformats.org/drawingml/2006/main">
              <a:ext uri="{FF2B5EF4-FFF2-40B4-BE49-F238E27FC236}">
                <a16:creationId xmlns:a16="http://schemas.microsoft.com/office/drawing/2014/main" id="{892245DB-13F4-4B90-98BB-871DC200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743450"/>
            <a:ext cx="4248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B6472"/>
                </a:solidFill>
              </a:defRPr>
            </a:pPr>
            <a:r>
              <a:rPr sz="1950">
                <a:solidFill>
                  <a:srgbClr val="5B6472"/>
                </a:solidFill>
              </a:rPr>
              <a:t>average paid action in the compact 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4FBFB-9FAC-4A50-A373-DF6FC13F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219700"/>
            <a:ext cx="22479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18" name="metric-value-task budget">
            <a:extLst xmlns:a="http://schemas.openxmlformats.org/drawingml/2006/main">
              <a:ext uri="{FF2B5EF4-FFF2-40B4-BE49-F238E27FC236}">
                <a16:creationId xmlns:a16="http://schemas.microsoft.com/office/drawing/2014/main" id="{5A20CFE1-D223-4674-B100-ACAB8322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410200"/>
            <a:ext cx="2247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$0.25</a:t>
            </a:r>
          </a:p>
        </p:txBody>
      </p:sp>
      <p:sp>
        <p:nvSpPr>
          <p:cNvPr id="19" name="metric-label-task budget">
            <a:extLst xmlns:a="http://schemas.openxmlformats.org/drawingml/2006/main">
              <a:ext uri="{FF2B5EF4-FFF2-40B4-BE49-F238E27FC236}">
                <a16:creationId xmlns:a16="http://schemas.microsoft.com/office/drawing/2014/main" id="{FF3FAC7C-7322-4BD7-B29F-05BCB882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019800"/>
            <a:ext cx="2247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task budget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C7ADC4-0AC1-48D8-A9D2-600481F9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C1D415-ED5D-411E-8EEC-E1ACE8E3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5219700"/>
            <a:ext cx="22479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22" name="metric-value-max per call">
            <a:extLst xmlns:a="http://schemas.openxmlformats.org/drawingml/2006/main">
              <a:ext uri="{FF2B5EF4-FFF2-40B4-BE49-F238E27FC236}">
                <a16:creationId xmlns:a16="http://schemas.microsoft.com/office/drawing/2014/main" id="{0374CD47-1DF0-4FCE-9003-1A115116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5410200"/>
            <a:ext cx="2247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$0.006</a:t>
            </a:r>
          </a:p>
        </p:txBody>
      </p:sp>
      <p:sp>
        <p:nvSpPr>
          <p:cNvPr id="23" name="metric-label-max per call">
            <a:extLst xmlns:a="http://schemas.openxmlformats.org/drawingml/2006/main">
              <a:ext uri="{FF2B5EF4-FFF2-40B4-BE49-F238E27FC236}">
                <a16:creationId xmlns:a16="http://schemas.microsoft.com/office/drawing/2014/main" id="{4B1151EC-FE3F-4A7F-A683-B9584EC1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6019800"/>
            <a:ext cx="2247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max per call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905E95-50CE-493E-871F-A89A27CA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63246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6EE822-13BD-43AD-B4F0-8E1936BB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219700"/>
            <a:ext cx="22479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6" name="metric-value-receipt tx">
            <a:extLst xmlns:a="http://schemas.openxmlformats.org/drawingml/2006/main">
              <a:ext uri="{FF2B5EF4-FFF2-40B4-BE49-F238E27FC236}">
                <a16:creationId xmlns:a16="http://schemas.microsoft.com/office/drawing/2014/main" id="{2651DB72-6CEC-4F35-B416-07EA67D1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410200"/>
            <a:ext cx="2247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50</a:t>
            </a:r>
          </a:p>
        </p:txBody>
      </p:sp>
      <p:sp>
        <p:nvSpPr>
          <p:cNvPr id="27" name="metric-label-receipt tx">
            <a:extLst xmlns:a="http://schemas.openxmlformats.org/drawingml/2006/main">
              <a:ext uri="{FF2B5EF4-FFF2-40B4-BE49-F238E27FC236}">
                <a16:creationId xmlns:a16="http://schemas.microsoft.com/office/drawing/2014/main" id="{DE7B29F5-5EFD-4A79-8497-536A710F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6019800"/>
            <a:ext cx="2247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receipt tx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D405CA-D769-4233-B138-D9F71219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63246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95B1BDD-D9AC-45CE-BF03-9943D1D2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391650"/>
            <a:ext cx="1924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Live demo and Arc proof package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EE30F2F-44B1-44A7-9178-C616333F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46785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1666389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1C582DDB-FE67-497F-8EC5-AD81CC7C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2F27F510-A3B6-4F10-B3F2-BC8B0B13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46676A-D99A-49B6-92DE-1D5709B8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49911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Agents need policy first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33D503B-5527-47ED-830C-1B9DF9B0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7505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PennyPilot turns tiny provider calls into supervised, receipt-backed purchases.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DCFE178-D8B1-4AD2-BBED-FDA5080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6" name="statement-title-Wallets are too blunt">
            <a:extLst xmlns:a="http://schemas.openxmlformats.org/drawingml/2006/main">
              <a:ext uri="{FF2B5EF4-FFF2-40B4-BE49-F238E27FC236}">
                <a16:creationId xmlns:a16="http://schemas.microsoft.com/office/drawing/2014/main" id="{C553B8A6-7941-4020-A284-863C5A2B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62250"/>
            <a:ext cx="5219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Wallets are too blunt</a:t>
            </a:r>
          </a:p>
        </p:txBody>
      </p:sp>
      <p:sp>
        <p:nvSpPr>
          <p:cNvPr id="7" name="statement-body-Wallets are too blunt">
            <a:extLst xmlns:a="http://schemas.openxmlformats.org/drawingml/2006/main">
              <a:ext uri="{FF2B5EF4-FFF2-40B4-BE49-F238E27FC236}">
                <a16:creationId xmlns:a16="http://schemas.microsoft.com/office/drawing/2014/main" id="{056C33E8-CC8E-4838-A41D-7354F28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5219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B6472"/>
                </a:solidFill>
              </a:defRPr>
            </a:pPr>
            <a:r>
              <a:rPr sz="1800">
                <a:solidFill>
                  <a:srgbClr val="5B6472"/>
                </a:solidFill>
              </a:rPr>
              <a:t>An agent balance says what could be spent, not what should be spent for one finance task.</a:t>
            </a:r>
          </a:p>
        </p:txBody>
      </p:sp>
      <p:sp>
        <p:nvSpPr>
          <p:cNvPr id="8" name="accent-rule">
            <a:extLst xmlns:a="http://schemas.openxmlformats.org/drawingml/2006/main">
              <a:ext uri="{FF2B5EF4-FFF2-40B4-BE49-F238E27FC236}">
                <a16:creationId xmlns:a16="http://schemas.microsoft.com/office/drawing/2014/main" id="{D8AD03E8-9AD8-46F0-9A6B-CF2F9F5A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9080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9" name="statement-title-Facts need receipts">
            <a:extLst xmlns:a="http://schemas.openxmlformats.org/drawingml/2006/main">
              <a:ext uri="{FF2B5EF4-FFF2-40B4-BE49-F238E27FC236}">
                <a16:creationId xmlns:a16="http://schemas.microsoft.com/office/drawing/2014/main" id="{04DE7DFA-47F5-4B94-A888-150C85B0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62250"/>
            <a:ext cx="5219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Facts need receipts</a:t>
            </a:r>
          </a:p>
        </p:txBody>
      </p:sp>
      <p:sp>
        <p:nvSpPr>
          <p:cNvPr id="10" name="statement-body-Facts need receipts">
            <a:extLst xmlns:a="http://schemas.openxmlformats.org/drawingml/2006/main">
              <a:ext uri="{FF2B5EF4-FFF2-40B4-BE49-F238E27FC236}">
                <a16:creationId xmlns:a16="http://schemas.microsoft.com/office/drawing/2014/main" id="{16013540-D629-4A41-B105-C377C9D2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76600"/>
            <a:ext cx="5219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B6472"/>
                </a:solidFill>
              </a:defRPr>
            </a:pPr>
            <a:r>
              <a:rPr sz="1800">
                <a:solidFill>
                  <a:srgbClr val="5B6472"/>
                </a:solidFill>
              </a:rPr>
              <a:t>KYB, sanctions, invoice, risk, identity, and FX calls need provider accountability.</a:t>
            </a:r>
          </a:p>
        </p:txBody>
      </p:sp>
      <p:sp>
        <p:nvSpPr>
          <p:cNvPr id="1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BCF1C4CD-5F49-4D7B-9F3C-4AC004BB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9150" y="259080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2" name="statement-title-Sub-cent spend breaks easily">
            <a:extLst xmlns:a="http://schemas.openxmlformats.org/drawingml/2006/main">
              <a:ext uri="{FF2B5EF4-FFF2-40B4-BE49-F238E27FC236}">
                <a16:creationId xmlns:a16="http://schemas.microsoft.com/office/drawing/2014/main" id="{141FD924-1D8D-4A88-823A-0D3BD5F2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9150" y="2762250"/>
            <a:ext cx="5219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Sub-cent spend breaks easily</a:t>
            </a:r>
          </a:p>
        </p:txBody>
      </p:sp>
      <p:sp>
        <p:nvSpPr>
          <p:cNvPr id="13" name="statement-body-Sub-cent spend breaks easily">
            <a:extLst xmlns:a="http://schemas.openxmlformats.org/drawingml/2006/main">
              <a:ext uri="{FF2B5EF4-FFF2-40B4-BE49-F238E27FC236}">
                <a16:creationId xmlns:a16="http://schemas.microsoft.com/office/drawing/2014/main" id="{95639ED4-EFC2-4F92-A899-AABD80A5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9150" y="3276600"/>
            <a:ext cx="5219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B6472"/>
                </a:solidFill>
              </a:defRPr>
            </a:pPr>
            <a:r>
              <a:rPr sz="1800">
                <a:solidFill>
                  <a:srgbClr val="5B6472"/>
                </a:solidFill>
              </a:rPr>
              <a:t>At a few thousandths of a dollar per action, payment overhead can erase the product margin.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8F50B44-4C70-4A56-BD6F-D2B237C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A1624DF-9F4C-42CD-BB7D-93735B4F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27331233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A6A6661D-E66B-4FCE-B051-07A4BC92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98404F02-1EBC-48B8-AA48-6D851E79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6F0DAF-5069-4D8F-9A6F-19DD169B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54483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Payment first. Proof next.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1BF5AA7-4EC2-4952-8D41-36A904BC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6896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Each paid fact has a purpose, price, provider, signature, and Arc receipt.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467AA-C71F-42DF-AE62-165B0621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A58"/>
                </a:solidFill>
              </a:defRPr>
            </a:pPr>
            <a:r>
              <a:rPr sz="2100" b="1">
                <a:solidFill>
                  <a:srgbClr val="007A58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5AEDC-90FC-401E-B965-E228D5E7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908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Set task 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C0F4-DD47-4B77-963C-B6467153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58197-9BA7-4564-8A87-B5904E51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531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Budget, max per call, expiry, purpose, and provider allowlist.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B5D62-B158-4CAC-BDFC-00D842C5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908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D9488"/>
                </a:solidFill>
              </a:defRPr>
            </a:pPr>
            <a:r>
              <a:rPr sz="2100" b="1">
                <a:solidFill>
                  <a:srgbClr val="0D948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D61388-A8D3-4DED-8146-DE6E670D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908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Provider asks for payment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73244B-46D1-4A71-A643-08921261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908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7A1C2A-2F7E-4946-B3D7-ABEC599A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62300"/>
            <a:ext cx="531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Paid fact endpoint returns x402 PAYMENT-REQUIRED.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DA63C-E5DB-4A46-B56F-61D60E73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5908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878B8"/>
                </a:solidFill>
              </a:defRPr>
            </a:pPr>
            <a:r>
              <a:rPr sz="2100" b="1">
                <a:solidFill>
                  <a:srgbClr val="2878B8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81E54B-B692-4224-A890-267B0D68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25908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Wallet signs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F6EF1-BCF6-496F-8037-80C3FC7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9908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F2F4B-ECC5-4B01-AD71-423D0CE4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162300"/>
            <a:ext cx="531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Browser creates a Gateway x402 PAYMENT-SIGNATURE.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BBE50D-6951-4D91-A846-0FB61321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9E05"/>
                </a:solidFill>
              </a:defRPr>
            </a:pPr>
            <a:r>
              <a:rPr sz="2100" b="1">
                <a:solidFill>
                  <a:srgbClr val="D89E05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ED46ED-B0E7-478B-ADB7-86FBF30E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60960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Gateway settles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B6D34-6798-407A-B8DD-885FAA06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960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2D0F5-BA5E-4ABA-82AA-E3D23435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531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Provider verifies and settles the payment before returning data.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13CE5-C775-4DB8-9054-70DA3D9A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0960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04F43"/>
                </a:solidFill>
              </a:defRPr>
            </a:pPr>
            <a:r>
              <a:rPr sz="2100" b="1">
                <a:solidFill>
                  <a:srgbClr val="E04F43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CEFF4-DA43-45B8-9585-43BAEB88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0960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Provider signs receipt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548B97-D384-4116-854F-40BD76AF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4960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3F0474-7103-4E46-9E9B-4AAAD90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686550"/>
            <a:ext cx="531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Receipt hash and contract digest bind the call to the task.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DB6A06-FFFD-4113-BF20-45741D9B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0960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A58"/>
                </a:solidFill>
              </a:defRPr>
            </a:pPr>
            <a:r>
              <a:rPr sz="2100" b="1">
                <a:solidFill>
                  <a:srgbClr val="007A58"/>
                </a:solidFill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1E9B64-F5A5-4D22-8984-38BCEA13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6096000"/>
            <a:ext cx="4591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Arc anchors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BD0201-3EBD-4B2C-9E2B-FFD8CE69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4960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F0C841-519E-4C56-995F-B0270455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686550"/>
            <a:ext cx="5314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B6472"/>
                </a:solidFill>
              </a:defRPr>
            </a:pPr>
            <a:r>
              <a:rPr sz="1500">
                <a:solidFill>
                  <a:srgbClr val="5B6472"/>
                </a:solidFill>
              </a:rPr>
              <a:t>recordSpendWithProviderSignature records the receipt on the user's card.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1202B9F-92E9-4C11-8ED6-E467258B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E8F4CF62-1955-45C6-AFB4-1CCB4BDB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19714057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19A765AC-C415-4A13-841D-4D408957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EB07C81D-2921-455F-A34C-FC7C3D39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956693-1CCF-46CE-9E5B-C5961633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55816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Four layers, one audit trail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8EE9E2A-40B5-4510-98A8-2AE280FD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7810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The app separates wallet funding, task policy, provider settlement, and Arc proof.</a:t>
            </a:r>
          </a:p>
        </p:txBody>
      </p:sp>
      <p:sp>
        <p:nvSpPr>
          <p:cNvPr id="5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CC682DB-3C9C-4E4E-AC62-3E3E479F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4345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6" name="statement-title-User-owned spend card">
            <a:extLst xmlns:a="http://schemas.openxmlformats.org/drawingml/2006/main">
              <a:ext uri="{FF2B5EF4-FFF2-40B4-BE49-F238E27FC236}">
                <a16:creationId xmlns:a16="http://schemas.microsoft.com/office/drawing/2014/main" id="{D5202864-C71A-40DE-AF10-E27B936F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7219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User-owned spend card</a:t>
            </a:r>
          </a:p>
        </p:txBody>
      </p:sp>
      <p:sp>
        <p:nvSpPr>
          <p:cNvPr id="7" name="statement-body-User-owned spend card">
            <a:extLst xmlns:a="http://schemas.openxmlformats.org/drawingml/2006/main">
              <a:ext uri="{FF2B5EF4-FFF2-40B4-BE49-F238E27FC236}">
                <a16:creationId xmlns:a16="http://schemas.microsoft.com/office/drawing/2014/main" id="{E2298084-CC35-45D2-90C8-BBBA2BB1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48300"/>
            <a:ext cx="7219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B6472"/>
                </a:solidFill>
              </a:defRPr>
            </a:pPr>
            <a:r>
              <a:rPr sz="1800">
                <a:solidFill>
                  <a:srgbClr val="5B6472"/>
                </a:solidFill>
              </a:rPr>
              <a:t>The wallet owns the card. A single task delegates bounded receipt anchoring to the PennyPilot relayer.</a:t>
            </a:r>
          </a:p>
        </p:txBody>
      </p:sp>
      <p:sp>
        <p:nvSpPr>
          <p:cNvPr id="8" name="accent-rule">
            <a:extLst xmlns:a="http://schemas.openxmlformats.org/drawingml/2006/main">
              <a:ext uri="{FF2B5EF4-FFF2-40B4-BE49-F238E27FC236}">
                <a16:creationId xmlns:a16="http://schemas.microsoft.com/office/drawing/2014/main" id="{0A9B5D32-3524-4249-9D9E-3BD0A471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809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9" name="statement-title-Provider API surface">
            <a:extLst xmlns:a="http://schemas.openxmlformats.org/drawingml/2006/main">
              <a:ext uri="{FF2B5EF4-FFF2-40B4-BE49-F238E27FC236}">
                <a16:creationId xmlns:a16="http://schemas.microsoft.com/office/drawing/2014/main" id="{D0869907-4CDD-4750-A7BA-7F2F6107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343650"/>
            <a:ext cx="7219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Provider API surface</a:t>
            </a:r>
          </a:p>
        </p:txBody>
      </p:sp>
      <p:sp>
        <p:nvSpPr>
          <p:cNvPr id="10" name="statement-body-Provider API surface">
            <a:extLst xmlns:a="http://schemas.openxmlformats.org/drawingml/2006/main">
              <a:ext uri="{FF2B5EF4-FFF2-40B4-BE49-F238E27FC236}">
                <a16:creationId xmlns:a16="http://schemas.microsoft.com/office/drawing/2014/main" id="{31415EF6-AC62-4FCF-829B-50A74DE2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58000"/>
            <a:ext cx="7219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B6472"/>
                </a:solidFill>
              </a:defRPr>
            </a:pPr>
            <a:r>
              <a:rPr sz="1800">
                <a:solidFill>
                  <a:srgbClr val="5B6472"/>
                </a:solidFill>
              </a:rPr>
              <a:t>Six paid providers expose the same challenge, payment, fact, and receipt contract.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04EDA-6170-4FA0-ADDC-F3482257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3911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E25480-8709-4E8E-B7F6-5051100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721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BBAF12-F8D8-4C57-A13B-96E84288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372100"/>
            <a:ext cx="6343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Connect wallet -&gt; choose invoice task -&gt; run paid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9770C-CA55-4254-9700-98BD9828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7721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7CB255-081A-4E44-AA6C-8FFD876F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531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x402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1FD87E-F587-4D04-A8AE-CF84BDC0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753100"/>
            <a:ext cx="6343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PAYMENT-REQUIRED -&gt; PAYMENT-SIGNATURE -&gt; Gateway settle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6E2BE5-9344-4A69-9C00-4282B083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1531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FF05B5-7DA1-4380-9B64-E996CC7A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1341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Contract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3FB7D2-683D-4332-9DA1-6E293074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134100"/>
            <a:ext cx="6343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createStrictPolicyTask -&gt; recordSpendWithProviderSignature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666E1A-DD62-4B4F-980E-32855DDA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5341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DFD98-D6AB-4994-A7AE-97B9388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151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Verifier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2A8EFB-603B-41DE-AE3F-59D1C382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6343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bytecode, cap, allowlist, receipt replay, digest equality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3F548B4-EC27-444C-8DDA-5E48D936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56649C5-8E04-4AD4-86CD-3191FC24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9634287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452C5C40-F26B-4537-AB10-45960BF9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EB16FD2-3687-472F-8B54-4153D248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BF268C-661E-4F6C-9DD6-3AD8193C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6686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Arc Testnet proof is already live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3CEEB34-7093-4CB8-8E39-58C22E7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Explorer links and verifier commands make the receipt trail independently checkable.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18CB6-F376-43F0-B545-01E35E5A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46EAC-C64B-427C-9D55-993F31C8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20208-C3E1-4813-953B-09C7D762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5924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0x4c8e...3047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004CF-CA3A-4A43-82FD-E5C4CA23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82D07-102D-438E-B9A4-70696B31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Deploy tx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A6A8B-2781-48B1-8400-39D86F1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62550"/>
            <a:ext cx="5924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0x5bb0...a1bb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59857-F4B8-4669-982B-6381DEC5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816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13E27-40D6-482B-9174-6752E17C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626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Policy task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904CD-1D44-4E62-92BA-5B99C290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562600"/>
            <a:ext cx="5924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task #1 / tx 0x86a4...b63b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1D694-1415-4830-8F74-72E77B9E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8170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61C7E7-1D4A-43E1-946E-66157773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6265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Receipt tx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ADCB0-7B9C-4818-A4EC-9A648EF7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962650"/>
            <a:ext cx="5924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0x6006...f996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728BE-1BD9-464D-AB8F-A90B2C97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3817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42378-4143-4068-A9D8-17CF327F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3627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50 tx 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DD9FA1-E3D1-4C83-8649-DC4D3445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5924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0x9f65...8ee7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63D74-F528-4036-AA27-AE386742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76750"/>
            <a:ext cx="7734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111827"/>
                </a:solidFill>
              </a:defRPr>
            </a:pPr>
            <a:r>
              <a:rPr sz="3525" b="1">
                <a:solidFill>
                  <a:srgbClr val="111827"/>
                </a:solidFill>
              </a:rPr>
              <a:t>Verifier-backed, not screenshot-only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F6779-C993-43DE-A893-79F7F5CD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219700"/>
            <a:ext cx="77343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B6472"/>
                </a:solidFill>
              </a:defRPr>
            </a:pPr>
            <a:r>
              <a:rPr sz="2025">
                <a:solidFill>
                  <a:srgbClr val="5B6472"/>
                </a:solidFill>
              </a:rPr>
              <a:t>The proof scripts read Arc Testnet and confirm contract bytecode, budget, per-call cap, provider allowlist, receipt replay status, provider spend, and digest equality.</a:t>
            </a:r>
          </a:p>
        </p:txBody>
      </p:sp>
      <p:sp>
        <p:nvSpPr>
          <p:cNvPr id="22" name="chip-npm test">
            <a:extLst xmlns:a="http://schemas.openxmlformats.org/drawingml/2006/main">
              <a:ext uri="{FF2B5EF4-FFF2-40B4-BE49-F238E27FC236}">
                <a16:creationId xmlns:a16="http://schemas.microsoft.com/office/drawing/2014/main" id="{CD516C6C-75BF-407C-B053-E054C26F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7328" y="6267450"/>
            <a:ext cx="1241393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88DBD-AA34-4502-9550-5E5A8BA3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4027B2-0DF3-48F2-AA0D-639DBF85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81750"/>
            <a:ext cx="628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npm test</a:t>
            </a:r>
          </a:p>
        </p:txBody>
      </p:sp>
      <p:sp>
        <p:nvSpPr>
          <p:cNvPr id="25" name="chip-verify:arc">
            <a:extLst xmlns:a="http://schemas.openxmlformats.org/drawingml/2006/main">
              <a:ext uri="{FF2B5EF4-FFF2-40B4-BE49-F238E27FC236}">
                <a16:creationId xmlns:a16="http://schemas.microsoft.com/office/drawing/2014/main" id="{5B32F9BA-DBA2-447A-B8D3-A7AAC4EA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0171" y="6267450"/>
            <a:ext cx="1277017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D948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5A7B20-9FE7-4A1B-B5CB-6C7DD425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00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220001-7A1F-4479-BF3A-8710F42E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381750"/>
            <a:ext cx="66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verify:arc</a:t>
            </a:r>
          </a:p>
        </p:txBody>
      </p:sp>
      <p:sp>
        <p:nvSpPr>
          <p:cNvPr id="28" name="chip-verify-50:arc">
            <a:extLst xmlns:a="http://schemas.openxmlformats.org/drawingml/2006/main">
              <a:ext uri="{FF2B5EF4-FFF2-40B4-BE49-F238E27FC236}">
                <a16:creationId xmlns:a16="http://schemas.microsoft.com/office/drawing/2014/main" id="{EADB09E0-9361-4019-BEF6-4D565177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8638" y="6267450"/>
            <a:ext cx="1500378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04F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986422-77FA-4F42-B15C-C3C2DA70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00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45379A-A4A8-47EA-A684-6B1BE14C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381750"/>
            <a:ext cx="895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verify-50:arc</a:t>
            </a:r>
          </a:p>
        </p:txBody>
      </p:sp>
      <p:sp>
        <p:nvSpPr>
          <p:cNvPr id="31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1D16566-9BF7-47F9-90B6-3F9F93E4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32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CD1A65BB-E262-4285-A080-66211A74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2840782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C21B3E21-DA35-4B1D-8B18-C7AB3E88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014B7FB-1D51-4AD5-A32E-4DA8784F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14246A-CF3D-43FB-BD6F-8834D150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74485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The unit economics are the feature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723D67A-09A5-4EF6-AF1E-5D9F1EC4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10039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These purchases are useful only when the payment rail can support frequent, tiny, policy-bound actions.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9F1C8-02C7-4A74-9599-36ABD04A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6267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6" name="metric-value-six-fact review spend">
            <a:extLst xmlns:a="http://schemas.openxmlformats.org/drawingml/2006/main">
              <a:ext uri="{FF2B5EF4-FFF2-40B4-BE49-F238E27FC236}">
                <a16:creationId xmlns:a16="http://schemas.microsoft.com/office/drawing/2014/main" id="{72B5EA44-B599-4A35-B7C9-55244185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6267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$0.023308</a:t>
            </a:r>
          </a:p>
        </p:txBody>
      </p:sp>
      <p:sp>
        <p:nvSpPr>
          <p:cNvPr id="7" name="metric-label-six-fact review spend">
            <a:extLst xmlns:a="http://schemas.openxmlformats.org/drawingml/2006/main">
              <a:ext uri="{FF2B5EF4-FFF2-40B4-BE49-F238E27FC236}">
                <a16:creationId xmlns:a16="http://schemas.microsoft.com/office/drawing/2014/main" id="{B19CF038-10AF-4F22-972E-F70CB3BC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6267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six-fact review spend</a:t>
            </a:r>
          </a:p>
        </p:txBody>
      </p:sp>
      <p:sp>
        <p:nvSpPr>
          <p:cNvPr id="8" name="metric-note-six-fact review spend">
            <a:extLst xmlns:a="http://schemas.openxmlformats.org/drawingml/2006/main">
              <a:ext uri="{FF2B5EF4-FFF2-40B4-BE49-F238E27FC236}">
                <a16:creationId xmlns:a16="http://schemas.microsoft.com/office/drawing/2014/main" id="{EDEFA890-4C4C-451B-A333-30089E22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62674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A8390"/>
                </a:solidFill>
              </a:defRPr>
            </a:pPr>
            <a:r>
              <a:rPr sz="1200">
                <a:solidFill>
                  <a:srgbClr val="7A8390"/>
                </a:solidFill>
              </a:rPr>
              <a:t>under the $0.25 policy budget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7983F8-3946-44FA-A3C9-7389FD9C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95900"/>
            <a:ext cx="6267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0" name="metric-value-average paid action">
            <a:extLst xmlns:a="http://schemas.openxmlformats.org/drawingml/2006/main">
              <a:ext uri="{FF2B5EF4-FFF2-40B4-BE49-F238E27FC236}">
                <a16:creationId xmlns:a16="http://schemas.microsoft.com/office/drawing/2014/main" id="{A942E6B2-358A-4DFD-8681-EF35E734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86400"/>
            <a:ext cx="6267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$0.003885</a:t>
            </a:r>
          </a:p>
        </p:txBody>
      </p:sp>
      <p:sp>
        <p:nvSpPr>
          <p:cNvPr id="11" name="metric-label-average paid action">
            <a:extLst xmlns:a="http://schemas.openxmlformats.org/drawingml/2006/main">
              <a:ext uri="{FF2B5EF4-FFF2-40B4-BE49-F238E27FC236}">
                <a16:creationId xmlns:a16="http://schemas.microsoft.com/office/drawing/2014/main" id="{0DC77C01-ED00-4698-9B26-18EFDA84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6267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average paid action</a:t>
            </a:r>
          </a:p>
        </p:txBody>
      </p:sp>
      <p:sp>
        <p:nvSpPr>
          <p:cNvPr id="12" name="metric-note-average paid action">
            <a:extLst xmlns:a="http://schemas.openxmlformats.org/drawingml/2006/main">
              <a:ext uri="{FF2B5EF4-FFF2-40B4-BE49-F238E27FC236}">
                <a16:creationId xmlns:a16="http://schemas.microsoft.com/office/drawing/2014/main" id="{8EA68AC0-5F59-4F1E-8264-47F668EC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00800"/>
            <a:ext cx="62674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A8390"/>
                </a:solidFill>
              </a:defRPr>
            </a:pPr>
            <a:r>
              <a:rPr sz="1200">
                <a:solidFill>
                  <a:srgbClr val="7A8390"/>
                </a:solidFill>
              </a:rPr>
              <a:t>below the $0.01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E3295-89D8-40EC-BAB2-41564103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58000"/>
            <a:ext cx="6267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4" name="metric-value-Arc receipt tx">
            <a:extLst xmlns:a="http://schemas.openxmlformats.org/drawingml/2006/main">
              <a:ext uri="{FF2B5EF4-FFF2-40B4-BE49-F238E27FC236}">
                <a16:creationId xmlns:a16="http://schemas.microsoft.com/office/drawing/2014/main" id="{F5C7E045-7558-4F16-BA5F-A4363DC7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48500"/>
            <a:ext cx="62674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50</a:t>
            </a:r>
          </a:p>
        </p:txBody>
      </p:sp>
      <p:sp>
        <p:nvSpPr>
          <p:cNvPr id="15" name="metric-label-Arc receipt tx">
            <a:extLst xmlns:a="http://schemas.openxmlformats.org/drawingml/2006/main">
              <a:ext uri="{FF2B5EF4-FFF2-40B4-BE49-F238E27FC236}">
                <a16:creationId xmlns:a16="http://schemas.microsoft.com/office/drawing/2014/main" id="{185E61AB-383C-471A-A8DC-3608FD89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58100"/>
            <a:ext cx="6267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B6472"/>
                </a:solidFill>
              </a:defRPr>
            </a:pPr>
            <a:r>
              <a:rPr sz="1575">
                <a:solidFill>
                  <a:srgbClr val="5B6472"/>
                </a:solidFill>
              </a:rPr>
              <a:t>Arc receipt tx</a:t>
            </a:r>
          </a:p>
        </p:txBody>
      </p:sp>
      <p:sp>
        <p:nvSpPr>
          <p:cNvPr id="16" name="metric-note-Arc receipt tx">
            <a:extLst xmlns:a="http://schemas.openxmlformats.org/drawingml/2006/main">
              <a:ext uri="{FF2B5EF4-FFF2-40B4-BE49-F238E27FC236}">
                <a16:creationId xmlns:a16="http://schemas.microsoft.com/office/drawing/2014/main" id="{D49BB224-2227-4CF8-AFCA-ED798D5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962900"/>
            <a:ext cx="62674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A8390"/>
                </a:solidFill>
              </a:defRPr>
            </a:pPr>
            <a:r>
              <a:rPr sz="1200">
                <a:solidFill>
                  <a:srgbClr val="7A8390"/>
                </a:solidFill>
              </a:rPr>
              <a:t>0.1805 USDC total proof spend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D59BE-C0D0-41F7-B376-11FBB314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400550"/>
            <a:ext cx="981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Provider prices stay inside the per-call cap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2C9BA-FAB7-4F3E-8F35-1F167A74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9585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ProofDesk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9A255-8B31-459C-8E4D-F3C1DA0D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8768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B831BB-C747-4FCF-87F7-8E74C94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876800"/>
            <a:ext cx="1857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C011F-6023-410A-BC93-2220C3E4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89585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$0.002999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CE5B60-F407-41C6-9B96-DE1C1A66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959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KybTrail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133A6-6338-4ACA-B4E5-19D5E1BD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725E9-8B17-4E25-809B-5FCCCEFF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2809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92DECD-AB7A-44A4-9106-036400CF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52959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$0.004537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DADCB3-9EE3-4B38-8A69-4A0F31B4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69595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ClearList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87A4E8-C257-49A6-9746-46F7EEF5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6388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75E444-F716-487C-9B08-1B9E4A61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638800"/>
            <a:ext cx="2362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B8"/>
          </a:solidFill>
          <a:ln xmlns:a="http://schemas.openxmlformats.org/drawingml/2006/main" w="0">
            <a:solidFill>
              <a:srgbClr val="2878B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F52176-23D5-418C-ACDD-F625BB67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569595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$0.003823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C7060-9F0E-45E9-8B8D-048F3104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960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AccountLock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B0A7E-F1D5-42B3-BCED-0B53DBEC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0960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3B851B-E476-4076-9D07-445FF373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0960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A19365-31CB-4CFC-ACB5-83188482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60960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$0.004615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17E148-1837-46BD-A9FF-8617D7CE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49605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FraudLens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6EC400-8AEE-4735-8F32-AA4F864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4770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AA6A87-E898-4F81-81AD-B044ECAD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477000"/>
            <a:ext cx="3162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EF6156-F527-47F0-8D1A-AC457A6C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649605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$0.005109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859F04-1D09-46D1-9846-43DF0126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961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QuoteMesh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829CF39-3D02-48D3-97B1-8C90B15D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858000"/>
            <a:ext cx="403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2"/>
          </a:solidFill>
          <a:ln xmlns:a="http://schemas.openxmlformats.org/drawingml/2006/main" w="0">
            <a:solidFill>
              <a:srgbClr val="E7EDF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7E0F52-7835-4DC2-9B3A-A309A54A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858000"/>
            <a:ext cx="13811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725D1A-39B4-438D-B6F1-63D57FFB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68961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B6472"/>
                </a:solidFill>
              </a:defRPr>
            </a:pPr>
            <a:r>
              <a:rPr sz="1350">
                <a:solidFill>
                  <a:srgbClr val="5B6472"/>
                </a:solidFill>
              </a:rPr>
              <a:t>$0.002225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912B6C-C2BD-49FA-BDFE-2541C32F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7258050"/>
            <a:ext cx="9810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Cap line: $0.006 max per paid fact</a:t>
            </a:r>
          </a:p>
        </p:txBody>
      </p:sp>
      <p:sp>
        <p:nvSpPr>
          <p:cNvPr id="4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61ED565-FC34-4B38-A471-94F8B40A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4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920ACBE-6A47-4826-8A79-54118BD4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19168575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E3807A49-661F-427E-9A07-A93E5E08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41DC767F-5106-418F-BB4E-05038D46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"/>
            <a:ext cx="16649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7A58"/>
                </a:solidFill>
              </a:defRPr>
            </a:pPr>
            <a:r>
              <a:rPr sz="1500" b="1">
                <a:solidFill>
                  <a:srgbClr val="007A58"/>
                </a:solidFill>
              </a:rPr>
              <a:t>PennyPilot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F06E81-D04D-404B-90AF-5AA8C3E4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40386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Agent spend policy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929D359-7318-4E67-BBE5-79260C6F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8458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B6472"/>
                </a:solidFill>
              </a:defRPr>
            </a:pPr>
            <a:r>
              <a:rPr sz="1875">
                <a:solidFill>
                  <a:srgbClr val="5B6472"/>
                </a:solidFill>
              </a:rPr>
              <a:t>The same pattern works wherever an AI agent buys paid facts before a finance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467F3-85B3-45A1-A265-061D4D1C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7620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What the product proves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6B934-4A97-472F-A5AE-B7D39E9D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34050"/>
            <a:ext cx="7620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B6472"/>
                </a:solidFill>
              </a:defRPr>
            </a:pPr>
            <a:r>
              <a:rPr sz="2100">
                <a:solidFill>
                  <a:srgbClr val="5B6472"/>
                </a:solidFill>
              </a:rPr>
              <a:t>PennyPilot makes autonomous spending inspectable before it becomes operational risk: every paid fact is bounded, priced, signed, and traceable.</a:t>
            </a:r>
          </a:p>
        </p:txBody>
      </p:sp>
      <p:sp>
        <p:nvSpPr>
          <p:cNvPr id="7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341475B-6E1E-42B4-B00E-095A269B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58000"/>
            <a:ext cx="3048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211BC-C2BD-47B7-9022-31D1010C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768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A58"/>
          </a:solidFill>
          <a:ln xmlns:a="http://schemas.openxmlformats.org/drawingml/2006/main" w="0">
            <a:solidFill>
              <a:srgbClr val="007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D7BAE-21E3-4DE6-8DBA-E8042095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578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Invoice ops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C63BD-A3AB-4B62-AD81-E602B4AF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257800"/>
            <a:ext cx="594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validate duplicates, KYB, sanctions, delivery 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E2B59-2BBA-4DB0-88FB-470D2912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6578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solidFill>
              <a:srgbClr val="0D94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96B71-C0AC-47F4-B73F-8F8D248B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6388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Merchant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8E540A-B444-4F1B-9C96-557AD997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5638800"/>
            <a:ext cx="594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buy only the external checks needed for onboarding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43FCBF-AE2D-41D5-AC0C-468F18DC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0388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E05"/>
          </a:solidFill>
          <a:ln xmlns:a="http://schemas.openxmlformats.org/drawingml/2006/main" w="0">
            <a:solidFill>
              <a:srgbClr val="D89E0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1E2BC-E993-4C5B-B687-55CDE77F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0198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Treasury 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30262-CCBC-480F-9D28-F90335A4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019800"/>
            <a:ext cx="594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price FX/routing signals under a per-call 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BA61F6-7D48-4D43-B407-E00B458D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419850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4F43"/>
          </a:solidFill>
          <a:ln xmlns:a="http://schemas.openxmlformats.org/drawingml/2006/main" w="0">
            <a:solidFill>
              <a:srgbClr val="E04F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60F2D-7BC6-4C58-8509-B4A98AA4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400800"/>
            <a:ext cx="2000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Audit trail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0D802-F646-45C2-B64B-F3F7A9DD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5943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74151"/>
                </a:solidFill>
              </a:defRPr>
            </a:pPr>
            <a:r>
              <a:rPr sz="1350">
                <a:solidFill>
                  <a:srgbClr val="374151"/>
                </a:solidFill>
              </a:rPr>
              <a:t>export receipts with signatures, hashes, and Arc anchors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0F3544C-78D3-46A2-BCF4-76541165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0"/>
            <a:ext cx="1466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390"/>
                </a:solidFill>
              </a:defRPr>
            </a:pPr>
            <a:r>
              <a:rPr sz="1125">
                <a:solidFill>
                  <a:srgbClr val="7A8390"/>
                </a:solidFill>
              </a:rPr>
              <a:t>PennyPilot product demo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4A4691E-FEAD-47C0-8E58-25728D6D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7350" y="9525000"/>
            <a:ext cx="4381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7A58"/>
                </a:solidFill>
              </a:defRPr>
            </a:pPr>
            <a:r>
              <a:rPr sz="1125" b="1">
                <a:solidFill>
                  <a:srgbClr val="007A58"/>
                </a:solidFill>
              </a:rPr>
              <a:t>pennypilot-five.vercel.app</a:t>
            </a:r>
          </a:p>
        </p:txBody>
      </p:sp>
    </p:spTree>
    <p:extLst>
      <p:ext uri="{BB962C8B-B14F-4D97-AF65-F5344CB8AC3E}">
        <p14:creationId xmlns:p14="http://schemas.microsoft.com/office/powerpoint/2010/main" val="17170176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2026-04-24T06:44:34.6980000Z</dcterms:created>
  <dcterms:modified xsi:type="dcterms:W3CDTF">2026-04-24T06:44:34.6980000Z</dcterms:modified>
</coreProperties>
</file>