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39a3a180a749f5" /><Relationship Type="http://schemas.openxmlformats.org/officeDocument/2006/relationships/extended-properties" Target="/docProps/app.xml" Id="R11521b3f9c3c4d56" /><Relationship Type="http://schemas.openxmlformats.org/officeDocument/2006/relationships/officeDocument" Target="/ppt/presentation.xml" Id="R4c379372d4e94b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611d477f524f3f"/>
  </p:sldMasterIdLst>
  <p:notesMasterIdLst>
    <p:notesMasterId xmlns:r="http://schemas.openxmlformats.org/officeDocument/2006/relationships" r:id="R69ebacc371de4037"/>
  </p:notesMasterIdLst>
  <p:sldIdLst>
    <p:sldId xmlns:r="http://schemas.openxmlformats.org/officeDocument/2006/relationships" id="256" r:id="Rbc6613c0f31640a6"/>
    <p:sldId xmlns:r="http://schemas.openxmlformats.org/officeDocument/2006/relationships" id="257" r:id="R86e67b9fa0ed486b"/>
    <p:sldId xmlns:r="http://schemas.openxmlformats.org/officeDocument/2006/relationships" id="258" r:id="R308d113e2e4c464f"/>
    <p:sldId xmlns:r="http://schemas.openxmlformats.org/officeDocument/2006/relationships" id="259" r:id="Rf89449b9a7c44257"/>
    <p:sldId xmlns:r="http://schemas.openxmlformats.org/officeDocument/2006/relationships" id="260" r:id="R9f35ede8751b42f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11d477f524f3f" /><Relationship Type="http://schemas.openxmlformats.org/officeDocument/2006/relationships/theme" Target="/ppt/theme/theme1.xml" Id="R920f54bd653a4c00" /><Relationship Type="http://schemas.openxmlformats.org/officeDocument/2006/relationships/notesMaster" Target="/ppt/notesMasters/notesMaster1.xml" Id="R69ebacc371de4037" /><Relationship Type="http://schemas.openxmlformats.org/officeDocument/2006/relationships/presProps" Target="/ppt/presProps.xml" Id="R40cb4c6b984d4ef3" /><Relationship Type="http://schemas.openxmlformats.org/officeDocument/2006/relationships/viewProps" Target="/ppt/viewProps.xml" Id="Rc3c0949f5ae843a0" /><Relationship Type="http://schemas.openxmlformats.org/officeDocument/2006/relationships/tableStyles" Target="/ppt/tableStyles.xml" Id="Raf176f4dfd6a4fef" /><Relationship Type="http://schemas.openxmlformats.org/officeDocument/2006/relationships/slide" Target="/ppt/slides/slide1.xml" Id="Rbc6613c0f31640a6" /><Relationship Type="http://schemas.openxmlformats.org/officeDocument/2006/relationships/slide" Target="/ppt/slides/slide2.xml" Id="R86e67b9fa0ed486b" /><Relationship Type="http://schemas.openxmlformats.org/officeDocument/2006/relationships/slide" Target="/ppt/slides/slide3.xml" Id="R308d113e2e4c464f" /><Relationship Type="http://schemas.openxmlformats.org/officeDocument/2006/relationships/slide" Target="/ppt/slides/slide4.xml" Id="Rf89449b9a7c44257" /><Relationship Type="http://schemas.openxmlformats.org/officeDocument/2006/relationships/slide" Target="/ppt/slides/slide5.xml" Id="R9f35ede8751b42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f8ab35b0b1440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c09c6e5204498e" /><Relationship Type="http://schemas.openxmlformats.org/officeDocument/2006/relationships/notesMaster" Target="/ppt/notesMasters/notesMaster1.xml" Id="R135746ec841243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9509f713194bc6" /><Relationship Type="http://schemas.openxmlformats.org/officeDocument/2006/relationships/notesMaster" Target="/ppt/notesMasters/notesMaster1.xml" Id="R6b3f8069e8a443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5a5d2c78ff43c8" /><Relationship Type="http://schemas.openxmlformats.org/officeDocument/2006/relationships/notesMaster" Target="/ppt/notesMasters/notesMaster1.xml" Id="R25d85ceb833941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294b270fb841a7" /><Relationship Type="http://schemas.openxmlformats.org/officeDocument/2006/relationships/notesMaster" Target="/ppt/notesMasters/notesMaster1.xml" Id="R1cacc0fd0cbf4c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0195d1944e4f89" /><Relationship Type="http://schemas.openxmlformats.org/officeDocument/2006/relationships/notesMaster" Target="/ppt/notesMasters/notesMaster1.xml" Id="R2a89dbf6573547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0bf3c647c450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81c4a00a60046b9" /><Relationship Type="http://schemas.openxmlformats.org/officeDocument/2006/relationships/slideLayout" Target="/ppt/slideLayouts/slideLayout2.xml" Id="R0314ffc89eb949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14ffc89eb949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a86cd79aac40e9" /><Relationship Type="http://schemas.openxmlformats.org/officeDocument/2006/relationships/notesSlide" Target="/ppt/notesSlides/notesSlide1.xml" Id="R5f78ce66d22240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2288ccf1a54a89" /><Relationship Type="http://schemas.openxmlformats.org/officeDocument/2006/relationships/notesSlide" Target="/ppt/notesSlides/notesSlide2.xml" Id="Rc67526c3463d42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edb25b04a04088" /><Relationship Type="http://schemas.openxmlformats.org/officeDocument/2006/relationships/notesSlide" Target="/ppt/notesSlides/notesSlide3.xml" Id="Rb960a950dc404c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3bb2ce985f4013" /><Relationship Type="http://schemas.openxmlformats.org/officeDocument/2006/relationships/notesSlide" Target="/ppt/notesSlides/notesSlide4.xml" Id="Rb7b7e76b8c5145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f34b3939094252" /><Relationship Type="http://schemas.openxmlformats.org/officeDocument/2006/relationships/notesSlide" Target="/ppt/notesSlides/notesSlide5.xml" Id="Rdf04ea4f0c5149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130F13F-6111-45E3-B02E-5B9B787B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header-spacer">
            <a:extLst xmlns:a="http://schemas.openxmlformats.org/drawingml/2006/main">
              <a:ext uri="{FF2B5EF4-FFF2-40B4-BE49-F238E27FC236}">
                <a16:creationId xmlns:a16="http://schemas.microsoft.com/office/drawing/2014/main" id="{8045C59B-DA73-4487-BBA5-01CB8A7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6337170E-3001-4687-8995-61A5A124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828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A58"/>
                </a:solidFill>
              </a:defRPr>
            </a:pPr>
            <a:r>
              <a:rPr sz="1800" b="1">
                <a:solidFill>
                  <a:srgbClr val="007A58"/>
                </a:solidFill>
              </a:rPr>
              <a:t>Nano-payments for supervised machine spending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FE69D91-0BC0-4503-AFC0-F9B919D5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8286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0B1220"/>
                </a:solidFill>
              </a:defRPr>
            </a:pPr>
            <a:r>
              <a:rPr sz="8400" b="1">
                <a:solidFill>
                  <a:srgbClr val="0B1220"/>
                </a:solidFill>
              </a:rPr>
              <a:t>PennyPilot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8FD7AE0-2000-4C11-9D7D-6BA1615E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7924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96473"/>
                </a:solidFill>
              </a:defRPr>
            </a:pPr>
            <a:r>
              <a:rPr sz="2250">
                <a:solidFill>
                  <a:srgbClr val="596473"/>
                </a:solidFill>
              </a:rPr>
              <a:t>A spend-control card for AI finance agents buying paid financial facts through Circle Gateway x402, with receipts anchored on Arc.</a:t>
            </a:r>
          </a:p>
        </p:txBody>
      </p:sp>
      <p:sp>
        <p:nvSpPr>
          <p:cNvPr id="6" name="badge-Gateway x402">
            <a:extLst xmlns:a="http://schemas.openxmlformats.org/drawingml/2006/main">
              <a:ext uri="{FF2B5EF4-FFF2-40B4-BE49-F238E27FC236}">
                <a16:creationId xmlns:a16="http://schemas.microsoft.com/office/drawing/2014/main" id="{CA935996-9FD7-4F54-BF3B-F0D6AAD3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43625"/>
            <a:ext cx="20859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D948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755A4-F61E-470A-B7DE-3EA22163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6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8" name="badge-text-Gateway x402">
            <a:extLst xmlns:a="http://schemas.openxmlformats.org/drawingml/2006/main">
              <a:ext uri="{FF2B5EF4-FFF2-40B4-BE49-F238E27FC236}">
                <a16:creationId xmlns:a16="http://schemas.microsoft.com/office/drawing/2014/main" id="{F6B477B3-6679-4563-BEF5-FC617D4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48400"/>
            <a:ext cx="1504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Gateway x402</a:t>
            </a:r>
          </a:p>
        </p:txBody>
      </p:sp>
      <p:sp>
        <p:nvSpPr>
          <p:cNvPr id="9" name="badge-Arc receipts">
            <a:extLst xmlns:a="http://schemas.openxmlformats.org/drawingml/2006/main">
              <a:ext uri="{FF2B5EF4-FFF2-40B4-BE49-F238E27FC236}">
                <a16:creationId xmlns:a16="http://schemas.microsoft.com/office/drawing/2014/main" id="{D7D93F21-C96E-4161-97B8-5BF89A76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143625"/>
            <a:ext cx="2085975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07A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99E71-75B8-4CE0-8F31-E96DE476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6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11" name="badge-text-Arc receipts">
            <a:extLst xmlns:a="http://schemas.openxmlformats.org/drawingml/2006/main">
              <a:ext uri="{FF2B5EF4-FFF2-40B4-BE49-F238E27FC236}">
                <a16:creationId xmlns:a16="http://schemas.microsoft.com/office/drawing/2014/main" id="{62C19C5C-A18B-4CA0-99F0-0E5A7AF1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248400"/>
            <a:ext cx="1504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Arc receipts</a:t>
            </a:r>
          </a:p>
        </p:txBody>
      </p:sp>
      <p:sp>
        <p:nvSpPr>
          <p:cNvPr id="12" name="badge-50 tx proof">
            <a:extLst xmlns:a="http://schemas.openxmlformats.org/drawingml/2006/main">
              <a:ext uri="{FF2B5EF4-FFF2-40B4-BE49-F238E27FC236}">
                <a16:creationId xmlns:a16="http://schemas.microsoft.com/office/drawing/2014/main" id="{0EF5B8E5-924C-48EE-AECA-4116A451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143625"/>
            <a:ext cx="1981200" cy="3714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04F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B77CE-E09B-4EE2-95A3-045A80A3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26745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14" name="badge-text-50 tx proof">
            <a:extLst xmlns:a="http://schemas.openxmlformats.org/drawingml/2006/main">
              <a:ext uri="{FF2B5EF4-FFF2-40B4-BE49-F238E27FC236}">
                <a16:creationId xmlns:a16="http://schemas.microsoft.com/office/drawing/2014/main" id="{CB9799D6-7A00-4E9B-ADB1-C5BCB6A1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248400"/>
            <a:ext cx="14001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50 tx proof</a:t>
            </a:r>
          </a:p>
        </p:txBody>
      </p:sp>
      <p:sp>
        <p:nvSpPr>
          <p:cNvPr id="15" name="cover-evidence-field">
            <a:extLst xmlns:a="http://schemas.openxmlformats.org/drawingml/2006/main">
              <a:ext uri="{FF2B5EF4-FFF2-40B4-BE49-F238E27FC236}">
                <a16:creationId xmlns:a16="http://schemas.microsoft.com/office/drawing/2014/main" id="{5B48D9F6-3005-477E-A583-D549BFD3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466" y="2076450"/>
            <a:ext cx="7644384" cy="5857875"/>
          </a:xfrm>
          <a:prstGeom xmlns:a="http://schemas.openxmlformats.org/drawingml/2006/main" prst="roundRect">
            <a:avLst>
              <a:gd name="adj" fmla="val 1301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0">
            <a:solidFill>
              <a:srgbClr val="0E1116"/>
            </a:solidFill>
            <a:prstDash val="solid"/>
          </a:ln>
        </p:spPr>
      </p:sp>
      <p:sp>
        <p:nvSpPr>
          <p:cNvPr id="16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AD55159E-5E0D-47D1-B5E6-C8F3D5E5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76500"/>
            <a:ext cx="68008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$0.003885</a:t>
            </a:r>
          </a:p>
        </p:txBody>
      </p:sp>
      <p:sp>
        <p:nvSpPr>
          <p:cNvPr id="17" name="cover-number-label">
            <a:extLst xmlns:a="http://schemas.openxmlformats.org/drawingml/2006/main">
              <a:ext uri="{FF2B5EF4-FFF2-40B4-BE49-F238E27FC236}">
                <a16:creationId xmlns:a16="http://schemas.microsoft.com/office/drawing/2014/main" id="{EE1692E1-204B-4C3D-9450-9A7C653F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29000"/>
            <a:ext cx="3924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2CC"/>
                </a:solidFill>
              </a:defRPr>
            </a:pPr>
            <a:r>
              <a:rPr sz="1800">
                <a:solidFill>
                  <a:srgbClr val="B8C2CC"/>
                </a:solidFill>
              </a:rPr>
              <a:t>average paid action in the compact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2CC2C-29B8-4022-8991-203ACC8D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9530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19" name="dark-metric-value-task budget">
            <a:extLst xmlns:a="http://schemas.openxmlformats.org/drawingml/2006/main">
              <a:ext uri="{FF2B5EF4-FFF2-40B4-BE49-F238E27FC236}">
                <a16:creationId xmlns:a16="http://schemas.microsoft.com/office/drawing/2014/main" id="{67A73B31-8CA7-4284-A95F-3FF0B356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1054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$0.25</a:t>
            </a:r>
          </a:p>
        </p:txBody>
      </p:sp>
      <p:sp>
        <p:nvSpPr>
          <p:cNvPr id="20" name="dark-metric-label-task budget">
            <a:extLst xmlns:a="http://schemas.openxmlformats.org/drawingml/2006/main">
              <a:ext uri="{FF2B5EF4-FFF2-40B4-BE49-F238E27FC236}">
                <a16:creationId xmlns:a16="http://schemas.microsoft.com/office/drawing/2014/main" id="{6F103B59-8178-44AB-9003-39DE2C2D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600700"/>
            <a:ext cx="213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task budget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98F2D-D6B5-43C3-9B43-F0F28ED5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9530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22" name="dark-metric-value-max per call">
            <a:extLst xmlns:a="http://schemas.openxmlformats.org/drawingml/2006/main">
              <a:ext uri="{FF2B5EF4-FFF2-40B4-BE49-F238E27FC236}">
                <a16:creationId xmlns:a16="http://schemas.microsoft.com/office/drawing/2014/main" id="{AE69660B-D538-4632-94E1-BEE3694C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1054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$0.006</a:t>
            </a:r>
          </a:p>
        </p:txBody>
      </p:sp>
      <p:sp>
        <p:nvSpPr>
          <p:cNvPr id="23" name="dark-metric-label-max per call">
            <a:extLst xmlns:a="http://schemas.openxmlformats.org/drawingml/2006/main">
              <a:ext uri="{FF2B5EF4-FFF2-40B4-BE49-F238E27FC236}">
                <a16:creationId xmlns:a16="http://schemas.microsoft.com/office/drawing/2014/main" id="{7813FEAE-547D-47FE-9A23-DF22559C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600700"/>
            <a:ext cx="213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max per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4A276D-9F7B-4ACF-8110-893E20AA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953000"/>
            <a:ext cx="2133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5" name="dark-metric-value-receipt tx">
            <a:extLst xmlns:a="http://schemas.openxmlformats.org/drawingml/2006/main">
              <a:ext uri="{FF2B5EF4-FFF2-40B4-BE49-F238E27FC236}">
                <a16:creationId xmlns:a16="http://schemas.microsoft.com/office/drawing/2014/main" id="{081BB2FB-4C94-47C7-BE75-B6284D82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1054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50</a:t>
            </a:r>
          </a:p>
        </p:txBody>
      </p:sp>
      <p:sp>
        <p:nvSpPr>
          <p:cNvPr id="26" name="dark-metric-label-receipt tx">
            <a:extLst xmlns:a="http://schemas.openxmlformats.org/drawingml/2006/main">
              <a:ext uri="{FF2B5EF4-FFF2-40B4-BE49-F238E27FC236}">
                <a16:creationId xmlns:a16="http://schemas.microsoft.com/office/drawing/2014/main" id="{5035A975-D72E-4053-8977-331C6AA7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600700"/>
            <a:ext cx="21336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receipt tx</a:t>
            </a:r>
          </a:p>
        </p:txBody>
      </p:sp>
      <p:sp>
        <p:nvSpPr>
          <p:cNvPr id="27" name="cover-app-url">
            <a:extLst xmlns:a="http://schemas.openxmlformats.org/drawingml/2006/main">
              <a:ext uri="{FF2B5EF4-FFF2-40B4-BE49-F238E27FC236}">
                <a16:creationId xmlns:a16="http://schemas.microsoft.com/office/drawing/2014/main" id="{63BCF189-3B6B-4EF8-B799-F868B181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048500"/>
            <a:ext cx="6800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pennypilot-five.vercel.app</a:t>
            </a:r>
          </a:p>
        </p:txBody>
      </p:sp>
      <p:sp>
        <p:nvSpPr>
          <p:cNvPr id="28" name="cover-contract">
            <a:extLst xmlns:a="http://schemas.openxmlformats.org/drawingml/2006/main">
              <a:ext uri="{FF2B5EF4-FFF2-40B4-BE49-F238E27FC236}">
                <a16:creationId xmlns:a16="http://schemas.microsoft.com/office/drawing/2014/main" id="{5B96493E-AFB6-4CD8-97C0-57D1901C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7372350"/>
            <a:ext cx="6800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2CC"/>
                </a:solidFill>
              </a:defRPr>
            </a:pPr>
            <a:r>
              <a:rPr sz="1275">
                <a:solidFill>
                  <a:srgbClr val="B8C2CC"/>
                </a:solidFill>
              </a:rPr>
              <a:t>Contract 0x4c8E...3047</a:t>
            </a:r>
          </a:p>
        </p:txBody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3E5C19C-B45C-4EB6-8949-C52FC2F2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924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Live demo and Arc proof package</a:t>
            </a:r>
          </a:p>
        </p:txBody>
      </p:sp>
      <p:sp>
        <p:nvSpPr>
          <p:cNvPr id="3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889A74D-C7A9-4DB4-A002-A7AAAE2B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4678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10138345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BD5C74E-5D02-4230-885D-DC3433C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ED39CD7E-B065-4067-AC69-426B8566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A58"/>
                </a:solidFill>
              </a:defRPr>
            </a:pPr>
            <a:r>
              <a:rPr sz="1425" b="1">
                <a:solidFill>
                  <a:srgbClr val="007A58"/>
                </a:solidFill>
              </a:rPr>
              <a:t>PennyPilot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046A58-644C-43B8-ADC3-C4CEB0C5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664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B1220"/>
                </a:solidFill>
              </a:defRPr>
            </a:pPr>
            <a:r>
              <a:rPr sz="3975" b="1">
                <a:solidFill>
                  <a:srgbClr val="0B1220"/>
                </a:solidFill>
              </a:rPr>
              <a:t>Tiny spend needs control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44139B4-D4F7-4CF1-81EA-90C148B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73"/>
                </a:solidFill>
              </a:defRPr>
            </a:pPr>
            <a:r>
              <a:rPr sz="1875">
                <a:solidFill>
                  <a:srgbClr val="596473"/>
                </a:solidFill>
              </a:rPr>
              <a:t>PennyPilot turns nano-payments into supervised procurement for AI agents.</a:t>
            </a:r>
          </a:p>
        </p:txBody>
      </p:sp>
      <p:sp>
        <p:nvSpPr>
          <p:cNvPr id="5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EB94F80D-CFE3-4192-B121-5EBDAD34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7429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B1220"/>
                </a:solidFill>
              </a:defRPr>
            </a:pPr>
            <a:r>
              <a:rPr sz="4125" b="1">
                <a:solidFill>
                  <a:srgbClr val="0B1220"/>
                </a:solidFill>
              </a:rPr>
              <a:t>AI agents can buy useful facts, but the payment rail needs guardrails.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5D2CB6C5-ABE5-4CDC-8A18-7FE4D7B1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7429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96473"/>
                </a:solidFill>
              </a:defRPr>
            </a:pPr>
            <a:r>
              <a:rPr sz="2025">
                <a:solidFill>
                  <a:srgbClr val="596473"/>
                </a:solidFill>
              </a:rPr>
              <a:t>PennyPilot is built for finance workflows where many tiny paid API calls are valuable only if every call is bounded, signed, priced, and auditable.</a:t>
            </a:r>
          </a:p>
        </p:txBody>
      </p:sp>
      <p:sp>
        <p:nvSpPr>
          <p:cNvPr id="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486FE44B-183F-4412-8B2E-1AAC1AEC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8" name="statement-title-Too small for cards">
            <a:extLst xmlns:a="http://schemas.openxmlformats.org/drawingml/2006/main">
              <a:ext uri="{FF2B5EF4-FFF2-40B4-BE49-F238E27FC236}">
                <a16:creationId xmlns:a16="http://schemas.microsoft.com/office/drawing/2014/main" id="{6A60FD43-CC35-451E-9796-FE2C4DBA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86200"/>
            <a:ext cx="853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Too small for cards</a:t>
            </a:r>
          </a:p>
        </p:txBody>
      </p:sp>
      <p:sp>
        <p:nvSpPr>
          <p:cNvPr id="9" name="statement-body-Too small for cards">
            <a:extLst xmlns:a="http://schemas.openxmlformats.org/drawingml/2006/main">
              <a:ext uri="{FF2B5EF4-FFF2-40B4-BE49-F238E27FC236}">
                <a16:creationId xmlns:a16="http://schemas.microsoft.com/office/drawing/2014/main" id="{001905C8-34B9-4C4D-97E8-5A2D6DF9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8534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Each proof can cost fractions of a cent. Traditional payment overhead destroys the unit economics.</a:t>
            </a:r>
          </a:p>
        </p:txBody>
      </p:sp>
      <p:sp>
        <p:nvSpPr>
          <p:cNvPr id="10" name="accent-rule">
            <a:extLst xmlns:a="http://schemas.openxmlformats.org/drawingml/2006/main">
              <a:ext uri="{FF2B5EF4-FFF2-40B4-BE49-F238E27FC236}">
                <a16:creationId xmlns:a16="http://schemas.microsoft.com/office/drawing/2014/main" id="{2EC3F29A-13B1-4C2F-B371-5CCD7765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62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E05"/>
          </a:solidFill>
          <a:ln xmlns:a="http://schemas.openxmlformats.org/drawingml/2006/main" w="0">
            <a:solidFill>
              <a:srgbClr val="D89E05"/>
            </a:solidFill>
            <a:prstDash val="solid"/>
          </a:ln>
        </p:spPr>
      </p:sp>
      <p:sp>
        <p:nvSpPr>
          <p:cNvPr id="11" name="statement-title-Too many to approve">
            <a:extLst xmlns:a="http://schemas.openxmlformats.org/drawingml/2006/main">
              <a:ext uri="{FF2B5EF4-FFF2-40B4-BE49-F238E27FC236}">
                <a16:creationId xmlns:a16="http://schemas.microsoft.com/office/drawing/2014/main" id="{04FF9591-E40F-45DF-9484-E6D5111D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353050"/>
            <a:ext cx="853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Too many to approve</a:t>
            </a:r>
          </a:p>
        </p:txBody>
      </p:sp>
      <p:sp>
        <p:nvSpPr>
          <p:cNvPr id="12" name="statement-body-Too many to approve">
            <a:extLst xmlns:a="http://schemas.openxmlformats.org/drawingml/2006/main">
              <a:ext uri="{FF2B5EF4-FFF2-40B4-BE49-F238E27FC236}">
                <a16:creationId xmlns:a16="http://schemas.microsoft.com/office/drawing/2014/main" id="{7ED7CA44-0598-46D9-8D11-10695824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867400"/>
            <a:ext cx="8534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A useful agent may need several checks in one task. One approval per proof becomes a UX tax.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2CAB053-222D-4D20-922E-1488B551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6294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14" name="statement-title-Too risky without receipts">
            <a:extLst xmlns:a="http://schemas.openxmlformats.org/drawingml/2006/main">
              <a:ext uri="{FF2B5EF4-FFF2-40B4-BE49-F238E27FC236}">
                <a16:creationId xmlns:a16="http://schemas.microsoft.com/office/drawing/2014/main" id="{1FCFF0DC-1011-421D-8684-83305B6A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838950"/>
            <a:ext cx="853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Too risky without receipts</a:t>
            </a:r>
          </a:p>
        </p:txBody>
      </p:sp>
      <p:sp>
        <p:nvSpPr>
          <p:cNvPr id="15" name="statement-body-Too risky without receipts">
            <a:extLst xmlns:a="http://schemas.openxmlformats.org/drawingml/2006/main">
              <a:ext uri="{FF2B5EF4-FFF2-40B4-BE49-F238E27FC236}">
                <a16:creationId xmlns:a16="http://schemas.microsoft.com/office/drawing/2014/main" id="{6A7E5CA1-65AF-4320-AA9B-4F83153C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7353300"/>
            <a:ext cx="853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Finance teams need to know what was bought, from whom, why, and under which policy.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1D1884E-239A-45DB-AB6A-4DEA1FDA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2573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Problem and use case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F294470-F43E-42D5-A8CE-82D89A2D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4678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10761969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3CA5731E-1DF3-46FB-9E4B-58F340B2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33DB6C8E-36BB-48C2-8470-67D818C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A58"/>
                </a:solidFill>
              </a:defRPr>
            </a:pPr>
            <a:r>
              <a:rPr sz="1425" b="1">
                <a:solidFill>
                  <a:srgbClr val="007A58"/>
                </a:solidFill>
              </a:rPr>
              <a:t>PennyPilot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5E4FE3-60D2-4E20-A488-C4E7F156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664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B1220"/>
                </a:solidFill>
              </a:defRPr>
            </a:pPr>
            <a:r>
              <a:rPr sz="3975" b="1">
                <a:solidFill>
                  <a:srgbClr val="0B1220"/>
                </a:solidFill>
              </a:rPr>
              <a:t>The solution: batch-controlled agent spend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341CC19-52DB-4D48-8174-E37CEBF6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73"/>
                </a:solidFill>
              </a:defRPr>
            </a:pPr>
            <a:r>
              <a:rPr sz="1875">
                <a:solidFill>
                  <a:srgbClr val="596473"/>
                </a:solidFill>
              </a:rPr>
              <a:t>The app keeps the agent useful while avoiding approval fatigue.</a:t>
            </a:r>
          </a:p>
        </p:txBody>
      </p:sp>
      <p:sp>
        <p:nvSpPr>
          <p:cNvPr id="5" name="solution-claim">
            <a:extLst xmlns:a="http://schemas.openxmlformats.org/drawingml/2006/main">
              <a:ext uri="{FF2B5EF4-FFF2-40B4-BE49-F238E27FC236}">
                <a16:creationId xmlns:a16="http://schemas.microsoft.com/office/drawing/2014/main" id="{4F283D9B-B67A-41EB-A8C1-70AE237A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80200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0B1220"/>
                </a:solidFill>
              </a:defRPr>
            </a:pPr>
            <a:r>
              <a:rPr sz="3825" b="1">
                <a:solidFill>
                  <a:srgbClr val="0B1220"/>
                </a:solidFill>
              </a:rPr>
              <a:t>One user authorization can cover a bounded batch of paid proofs.</a:t>
            </a:r>
          </a:p>
        </p:txBody>
      </p:sp>
      <p:sp>
        <p:nvSpPr>
          <p:cNvPr id="6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A1F7111E-3A0F-48CF-B364-4572A1C9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80200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96473"/>
                </a:solidFill>
              </a:defRPr>
            </a:pPr>
            <a:r>
              <a:rPr sz="2025">
                <a:solidFill>
                  <a:srgbClr val="596473"/>
                </a:solidFill>
              </a:rPr>
              <a:t>The user sets the task budget, per-call cap, provider allowlist, and proof count. The agent can spend only inside that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889EF-587B-4D95-A95D-D3947D91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8" name="policy-label-Task budget">
            <a:extLst xmlns:a="http://schemas.openxmlformats.org/drawingml/2006/main">
              <a:ext uri="{FF2B5EF4-FFF2-40B4-BE49-F238E27FC236}">
                <a16:creationId xmlns:a16="http://schemas.microsoft.com/office/drawing/2014/main" id="{9F7E5E23-478F-414B-BC2F-CA0F7042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Task budget</a:t>
            </a:r>
          </a:p>
        </p:txBody>
      </p:sp>
      <p:sp>
        <p:nvSpPr>
          <p:cNvPr id="9" name="policy-value-Task budget">
            <a:extLst xmlns:a="http://schemas.openxmlformats.org/drawingml/2006/main">
              <a:ext uri="{FF2B5EF4-FFF2-40B4-BE49-F238E27FC236}">
                <a16:creationId xmlns:a16="http://schemas.microsoft.com/office/drawing/2014/main" id="{0E79B4AB-C790-4496-879F-B4C485F7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981700"/>
            <a:ext cx="485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473"/>
                </a:solidFill>
              </a:defRPr>
            </a:pPr>
            <a:r>
              <a:rPr sz="1500">
                <a:solidFill>
                  <a:srgbClr val="596473"/>
                </a:solidFill>
              </a:rPr>
              <a:t>$0.25 USDC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81776-DE62-48BC-BB28-E2ACBDD2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627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11" name="policy-label-Per-call cap">
            <a:extLst xmlns:a="http://schemas.openxmlformats.org/drawingml/2006/main">
              <a:ext uri="{FF2B5EF4-FFF2-40B4-BE49-F238E27FC236}">
                <a16:creationId xmlns:a16="http://schemas.microsoft.com/office/drawing/2014/main" id="{409200EF-6501-46A5-8DCC-4DBE9AB8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3436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Per-call cap</a:t>
            </a:r>
          </a:p>
        </p:txBody>
      </p:sp>
      <p:sp>
        <p:nvSpPr>
          <p:cNvPr id="12" name="policy-value-Per-call cap">
            <a:extLst xmlns:a="http://schemas.openxmlformats.org/drawingml/2006/main">
              <a:ext uri="{FF2B5EF4-FFF2-40B4-BE49-F238E27FC236}">
                <a16:creationId xmlns:a16="http://schemas.microsoft.com/office/drawing/2014/main" id="{E4436069-D58B-452A-8755-BA1CE654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343650"/>
            <a:ext cx="485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473"/>
                </a:solidFill>
              </a:defRPr>
            </a:pPr>
            <a:r>
              <a:rPr sz="1500">
                <a:solidFill>
                  <a:srgbClr val="596473"/>
                </a:solidFill>
              </a:rPr>
              <a:t>$0.006 max per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69FAC-1811-477A-954B-BAD49F39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24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14" name="policy-label-Batch control">
            <a:extLst xmlns:a="http://schemas.openxmlformats.org/drawingml/2006/main">
              <a:ext uri="{FF2B5EF4-FFF2-40B4-BE49-F238E27FC236}">
                <a16:creationId xmlns:a16="http://schemas.microsoft.com/office/drawing/2014/main" id="{43440E0F-F5A9-48E2-A9C8-70416EF3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0560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Batch control</a:t>
            </a:r>
          </a:p>
        </p:txBody>
      </p:sp>
      <p:sp>
        <p:nvSpPr>
          <p:cNvPr id="15" name="policy-value-Batch control">
            <a:extLst xmlns:a="http://schemas.openxmlformats.org/drawingml/2006/main">
              <a:ext uri="{FF2B5EF4-FFF2-40B4-BE49-F238E27FC236}">
                <a16:creationId xmlns:a16="http://schemas.microsoft.com/office/drawing/2014/main" id="{5A0AEB0B-80F9-4E60-ACA5-B545846E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705600"/>
            <a:ext cx="485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473"/>
                </a:solidFill>
              </a:defRPr>
            </a:pPr>
            <a:r>
              <a:rPr sz="1500">
                <a:solidFill>
                  <a:srgbClr val="596473"/>
                </a:solidFill>
              </a:rPr>
              <a:t>user selects how many proofs the agent may buy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DD2AB-CA38-4F32-8A55-5BB4E84D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86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17" name="policy-label-Receipt anchor">
            <a:extLst xmlns:a="http://schemas.openxmlformats.org/drawingml/2006/main">
              <a:ext uri="{FF2B5EF4-FFF2-40B4-BE49-F238E27FC236}">
                <a16:creationId xmlns:a16="http://schemas.microsoft.com/office/drawing/2014/main" id="{41BE2158-5DD2-4A22-B660-36A5AEB1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067550"/>
            <a:ext cx="2667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Receipt anchor</a:t>
            </a:r>
          </a:p>
        </p:txBody>
      </p:sp>
      <p:sp>
        <p:nvSpPr>
          <p:cNvPr id="18" name="policy-value-Receipt anchor">
            <a:extLst xmlns:a="http://schemas.openxmlformats.org/drawingml/2006/main">
              <a:ext uri="{FF2B5EF4-FFF2-40B4-BE49-F238E27FC236}">
                <a16:creationId xmlns:a16="http://schemas.microsoft.com/office/drawing/2014/main" id="{3987C343-125A-4E26-9234-4DA54BC0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067550"/>
            <a:ext cx="485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473"/>
                </a:solidFill>
              </a:defRPr>
            </a:pPr>
            <a:r>
              <a:rPr sz="1500">
                <a:solidFill>
                  <a:srgbClr val="596473"/>
                </a:solidFill>
              </a:rPr>
              <a:t>provider-signed batch recorded on Arc</a:t>
            </a:r>
          </a:p>
        </p:txBody>
      </p:sp>
      <p:sp>
        <p:nvSpPr>
          <p:cNvPr id="19" name="solution-flow-surface">
            <a:extLst xmlns:a="http://schemas.openxmlformats.org/drawingml/2006/main">
              <a:ext uri="{FF2B5EF4-FFF2-40B4-BE49-F238E27FC236}">
                <a16:creationId xmlns:a16="http://schemas.microsoft.com/office/drawing/2014/main" id="{75E7260F-C592-48D7-8EC1-3995948B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05100"/>
            <a:ext cx="8020050" cy="5810250"/>
          </a:xfrm>
          <a:prstGeom xmlns:a="http://schemas.openxmlformats.org/drawingml/2006/main" prst="roundRect">
            <a:avLst>
              <a:gd name="adj" fmla="val 13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7"/>
            </a:solidFill>
            <a:prstDash val="solid"/>
          </a:ln>
        </p:spPr>
      </p:sp>
      <p:sp>
        <p:nvSpPr>
          <p:cNvPr id="20" name="signature-large">
            <a:extLst xmlns:a="http://schemas.openxmlformats.org/drawingml/2006/main">
              <a:ext uri="{FF2B5EF4-FFF2-40B4-BE49-F238E27FC236}">
                <a16:creationId xmlns:a16="http://schemas.microsoft.com/office/drawing/2014/main" id="{D49812A6-5BFD-405F-9CB4-7B6D4C56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067050"/>
            <a:ext cx="2286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7A58"/>
                </a:solidFill>
              </a:defRPr>
            </a:pPr>
            <a:r>
              <a:rPr sz="3900" b="1">
                <a:solidFill>
                  <a:srgbClr val="007A58"/>
                </a:solidFill>
              </a:rPr>
              <a:t>1 signature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62AE127B-05FF-4373-9D49-5AA7377D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3429000"/>
            <a:ext cx="428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22" name="proofs-large">
            <a:extLst xmlns:a="http://schemas.openxmlformats.org/drawingml/2006/main">
              <a:ext uri="{FF2B5EF4-FFF2-40B4-BE49-F238E27FC236}">
                <a16:creationId xmlns:a16="http://schemas.microsoft.com/office/drawing/2014/main" id="{D757F68F-F539-492F-9388-EE114797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67050"/>
            <a:ext cx="26860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1220"/>
                </a:solidFill>
              </a:defRPr>
            </a:pPr>
            <a:r>
              <a:rPr sz="3900" b="1">
                <a:solidFill>
                  <a:srgbClr val="0B1220"/>
                </a:solidFill>
              </a:rPr>
              <a:t>6 paid proofs</a:t>
            </a:r>
          </a:p>
        </p:txBody>
      </p:sp>
      <p:sp>
        <p:nvSpPr>
          <p:cNvPr id="23" name="review-label">
            <a:extLst xmlns:a="http://schemas.openxmlformats.org/drawingml/2006/main">
              <a:ext uri="{FF2B5EF4-FFF2-40B4-BE49-F238E27FC236}">
                <a16:creationId xmlns:a16="http://schemas.microsoft.com/office/drawing/2014/main" id="{6705894E-714C-473F-B8B6-4CBE474D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476750"/>
            <a:ext cx="7219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490A0"/>
                </a:solidFill>
              </a:defRPr>
            </a:pPr>
            <a:r>
              <a:rPr sz="1350" b="1">
                <a:solidFill>
                  <a:srgbClr val="8490A0"/>
                </a:solidFill>
              </a:rPr>
              <a:t>Compact review example</a:t>
            </a:r>
          </a:p>
        </p:txBody>
      </p:sp>
      <p:sp>
        <p:nvSpPr>
          <p:cNvPr id="24" name="provider-ProofDesk">
            <a:extLst xmlns:a="http://schemas.openxmlformats.org/drawingml/2006/main">
              <a:ext uri="{FF2B5EF4-FFF2-40B4-BE49-F238E27FC236}">
                <a16:creationId xmlns:a16="http://schemas.microsoft.com/office/drawing/2014/main" id="{1217D289-F68D-4AB1-B14C-464EDA3A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54600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852BB-EAC6-4E30-B7B5-35DC5277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E5C27-A03E-49EE-957B-436A390D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18160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ProofDesk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DE54C2-A73E-48E3-ACA8-7381D240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8160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$0.0030</a:t>
            </a:r>
          </a:p>
        </p:txBody>
      </p:sp>
      <p:sp>
        <p:nvSpPr>
          <p:cNvPr id="28" name="provider-KybTrail">
            <a:extLst xmlns:a="http://schemas.openxmlformats.org/drawingml/2006/main">
              <a:ext uri="{FF2B5EF4-FFF2-40B4-BE49-F238E27FC236}">
                <a16:creationId xmlns:a16="http://schemas.microsoft.com/office/drawing/2014/main" id="{B9D1C855-DFCD-4CCF-A7F8-A01D2432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5054600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54E6DB-FC74-4A81-9F6E-5902EECC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200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95B59-3F83-4625-9232-810F0E63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18160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KybTrail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96AA61-332B-4597-BCB4-4107343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518160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$0.0045</a:t>
            </a:r>
          </a:p>
        </p:txBody>
      </p:sp>
      <p:sp>
        <p:nvSpPr>
          <p:cNvPr id="32" name="provider-ClearList">
            <a:extLst xmlns:a="http://schemas.openxmlformats.org/drawingml/2006/main">
              <a:ext uri="{FF2B5EF4-FFF2-40B4-BE49-F238E27FC236}">
                <a16:creationId xmlns:a16="http://schemas.microsoft.com/office/drawing/2014/main" id="{F77DB41A-370E-402D-9A99-98ADA2AA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16575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0D1733-13F8-4901-93B2-DD2033D9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43C94-C545-464A-AFA4-2DE883A5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75310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ClearList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925DDF-56BA-4964-A015-903FD76C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75310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$0.0038</a:t>
            </a:r>
          </a:p>
        </p:txBody>
      </p:sp>
      <p:sp>
        <p:nvSpPr>
          <p:cNvPr id="36" name="provider-AccountLock">
            <a:extLst xmlns:a="http://schemas.openxmlformats.org/drawingml/2006/main">
              <a:ext uri="{FF2B5EF4-FFF2-40B4-BE49-F238E27FC236}">
                <a16:creationId xmlns:a16="http://schemas.microsoft.com/office/drawing/2014/main" id="{3E3D72FF-CE06-4838-A892-8A589F59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5616575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1FE534-893D-408C-A7A7-B2D3B41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772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BBA4C3-CB33-430A-A993-85939574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575310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AccountLock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848CB6-F76F-4D49-A0D5-AC70B5DB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575310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$0.0046</a:t>
            </a:r>
          </a:p>
        </p:txBody>
      </p:sp>
      <p:sp>
        <p:nvSpPr>
          <p:cNvPr id="40" name="provider-FraudLens">
            <a:extLst xmlns:a="http://schemas.openxmlformats.org/drawingml/2006/main">
              <a:ext uri="{FF2B5EF4-FFF2-40B4-BE49-F238E27FC236}">
                <a16:creationId xmlns:a16="http://schemas.microsoft.com/office/drawing/2014/main" id="{C6797F0F-5F23-497B-92DA-DE2D85EB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178550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6EA524-2EF7-43CC-B3AC-8551CC1E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324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E05"/>
          </a:solidFill>
          <a:ln xmlns:a="http://schemas.openxmlformats.org/drawingml/2006/main" w="0">
            <a:solidFill>
              <a:srgbClr val="D89E0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0C9051-5602-46F9-804E-CFBE8055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30555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FraudLens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A60E7F-94B0-4D08-A3B5-29458170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30555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$0.0051</a:t>
            </a:r>
          </a:p>
        </p:txBody>
      </p:sp>
      <p:sp>
        <p:nvSpPr>
          <p:cNvPr id="44" name="provider-QuoteMesh">
            <a:extLst xmlns:a="http://schemas.openxmlformats.org/drawingml/2006/main">
              <a:ext uri="{FF2B5EF4-FFF2-40B4-BE49-F238E27FC236}">
                <a16:creationId xmlns:a16="http://schemas.microsoft.com/office/drawing/2014/main" id="{4DB959C7-917E-4FDD-A238-89FC2443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6178550"/>
            <a:ext cx="35337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EFCFF8-3121-4F14-90A6-A1BE75F1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6324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9D6B91-2C7A-485A-ADB3-121B4C47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6305550"/>
            <a:ext cx="1238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QuoteMesh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4D8D8E-160D-4E9B-B2C6-72AD5805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6305550"/>
            <a:ext cx="857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96473"/>
                </a:solidFill>
              </a:defRPr>
            </a:pPr>
            <a:r>
              <a:rPr sz="1125">
                <a:solidFill>
                  <a:srgbClr val="596473"/>
                </a:solidFill>
              </a:rPr>
              <a:t>$0.0022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64A2F5-7662-4FE0-A9D8-2893A9AD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0104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49" name="metric-value-total batch spend">
            <a:extLst xmlns:a="http://schemas.openxmlformats.org/drawingml/2006/main">
              <a:ext uri="{FF2B5EF4-FFF2-40B4-BE49-F238E27FC236}">
                <a16:creationId xmlns:a16="http://schemas.microsoft.com/office/drawing/2014/main" id="{EBE890F0-9D63-4B12-9809-789F0A7D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162800"/>
            <a:ext cx="3505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220"/>
                </a:solidFill>
              </a:defRPr>
            </a:pPr>
            <a:r>
              <a:rPr sz="3750" b="1">
                <a:solidFill>
                  <a:srgbClr val="0B1220"/>
                </a:solidFill>
              </a:rPr>
              <a:t>$0.023308</a:t>
            </a:r>
          </a:p>
        </p:txBody>
      </p:sp>
      <p:sp>
        <p:nvSpPr>
          <p:cNvPr id="50" name="metric-label-total batch spend">
            <a:extLst xmlns:a="http://schemas.openxmlformats.org/drawingml/2006/main">
              <a:ext uri="{FF2B5EF4-FFF2-40B4-BE49-F238E27FC236}">
                <a16:creationId xmlns:a16="http://schemas.microsoft.com/office/drawing/2014/main" id="{50F3EACC-AE0B-4739-9FC8-7F5C438F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771525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473"/>
                </a:solidFill>
              </a:defRPr>
            </a:pPr>
            <a:r>
              <a:rPr sz="1575">
                <a:solidFill>
                  <a:srgbClr val="596473"/>
                </a:solidFill>
              </a:rPr>
              <a:t>total batch spend</a:t>
            </a:r>
          </a:p>
        </p:txBody>
      </p:sp>
      <p:sp>
        <p:nvSpPr>
          <p:cNvPr id="51" name="metric-note-total batch spend">
            <a:extLst xmlns:a="http://schemas.openxmlformats.org/drawingml/2006/main">
              <a:ext uri="{FF2B5EF4-FFF2-40B4-BE49-F238E27FC236}">
                <a16:creationId xmlns:a16="http://schemas.microsoft.com/office/drawing/2014/main" id="{5B16E7FE-F5B4-460A-978C-1B52E09D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8001000"/>
            <a:ext cx="3505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490A0"/>
                </a:solidFill>
              </a:defRPr>
            </a:pPr>
            <a:r>
              <a:rPr sz="1200">
                <a:solidFill>
                  <a:srgbClr val="8490A0"/>
                </a:solidFill>
              </a:rPr>
              <a:t>under budget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89B012-87D7-48AE-9514-E27EAE3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01040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53" name="metric-value-avg paid action">
            <a:extLst xmlns:a="http://schemas.openxmlformats.org/drawingml/2006/main">
              <a:ext uri="{FF2B5EF4-FFF2-40B4-BE49-F238E27FC236}">
                <a16:creationId xmlns:a16="http://schemas.microsoft.com/office/drawing/2014/main" id="{33D792A3-6482-470C-9BD2-9C679EC6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162800"/>
            <a:ext cx="3505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B1220"/>
                </a:solidFill>
              </a:defRPr>
            </a:pPr>
            <a:r>
              <a:rPr sz="3750" b="1">
                <a:solidFill>
                  <a:srgbClr val="0B1220"/>
                </a:solidFill>
              </a:rPr>
              <a:t>$0.003885</a:t>
            </a:r>
          </a:p>
        </p:txBody>
      </p:sp>
      <p:sp>
        <p:nvSpPr>
          <p:cNvPr id="54" name="metric-label-avg paid action">
            <a:extLst xmlns:a="http://schemas.openxmlformats.org/drawingml/2006/main">
              <a:ext uri="{FF2B5EF4-FFF2-40B4-BE49-F238E27FC236}">
                <a16:creationId xmlns:a16="http://schemas.microsoft.com/office/drawing/2014/main" id="{AB611791-E2E5-46B0-B46A-BDA42467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7715250"/>
            <a:ext cx="3505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96473"/>
                </a:solidFill>
              </a:defRPr>
            </a:pPr>
            <a:r>
              <a:rPr sz="1575">
                <a:solidFill>
                  <a:srgbClr val="596473"/>
                </a:solidFill>
              </a:rPr>
              <a:t>avg paid action</a:t>
            </a:r>
          </a:p>
        </p:txBody>
      </p:sp>
      <p:sp>
        <p:nvSpPr>
          <p:cNvPr id="55" name="metric-note-avg paid action">
            <a:extLst xmlns:a="http://schemas.openxmlformats.org/drawingml/2006/main">
              <a:ext uri="{FF2B5EF4-FFF2-40B4-BE49-F238E27FC236}">
                <a16:creationId xmlns:a16="http://schemas.microsoft.com/office/drawing/2014/main" id="{49D8FC5E-D96A-42A5-97A5-035B3E17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8001000"/>
            <a:ext cx="3505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490A0"/>
                </a:solidFill>
              </a:defRPr>
            </a:pPr>
            <a:r>
              <a:rPr sz="1200">
                <a:solidFill>
                  <a:srgbClr val="8490A0"/>
                </a:solidFill>
              </a:rPr>
              <a:t>below $0.01</a:t>
            </a:r>
          </a:p>
        </p:txBody>
      </p:sp>
      <p:sp>
        <p:nvSpPr>
          <p:cNvPr id="5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EC3F1E1-3BBD-4A7F-8525-4C9156AA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9165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Live app demo flow</a:t>
            </a:r>
          </a:p>
        </p:txBody>
      </p:sp>
      <p:sp>
        <p:nvSpPr>
          <p:cNvPr id="5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14F8B44-5E11-461E-B336-E10B332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46785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21213798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CB87969-C39C-461F-85C2-2E976262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639725CB-E2D9-4499-8FED-EA09EB26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A58"/>
                </a:solidFill>
              </a:defRPr>
            </a:pPr>
            <a:r>
              <a:rPr sz="1425" b="1">
                <a:solidFill>
                  <a:srgbClr val="007A58"/>
                </a:solidFill>
              </a:rPr>
              <a:t>PennyPilot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432FB6-1825-4492-AD69-33EC41CB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664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B1220"/>
                </a:solidFill>
              </a:defRPr>
            </a:pPr>
            <a:r>
              <a:rPr sz="3975" b="1">
                <a:solidFill>
                  <a:srgbClr val="0B1220"/>
                </a:solidFill>
              </a:rPr>
              <a:t>Payment first, proof next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8BA4E9-05D5-46C8-812A-6C2DD3E2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73"/>
                </a:solidFill>
              </a:defRPr>
            </a:pPr>
            <a:r>
              <a:rPr sz="1875">
                <a:solidFill>
                  <a:srgbClr val="596473"/>
                </a:solidFill>
              </a:rPr>
              <a:t>Circle Gateway handles payment authorization; Arc keeps the audit trail verifiable.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4D9A5-2268-44C4-B1E2-E56F0E89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6" name="lane-label-Policy">
            <a:extLst xmlns:a="http://schemas.openxmlformats.org/drawingml/2006/main">
              <a:ext uri="{FF2B5EF4-FFF2-40B4-BE49-F238E27FC236}">
                <a16:creationId xmlns:a16="http://schemas.microsoft.com/office/drawing/2014/main" id="{538AA0D0-2741-4356-89EB-32A38029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DC69A-043F-4152-8611-96FED5CA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8" name="lane-detail-Policy">
            <a:extLst xmlns:a="http://schemas.openxmlformats.org/drawingml/2006/main">
              <a:ext uri="{FF2B5EF4-FFF2-40B4-BE49-F238E27FC236}">
                <a16:creationId xmlns:a16="http://schemas.microsoft.com/office/drawing/2014/main" id="{45A53F9E-3A06-4385-BB92-017119F1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2781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Budget, cap, expiry, provider allowlist, and proof count are set before spend.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1141171C-18F7-4CB5-82B1-B2F02B3E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6650"/>
            <a:ext cx="428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2AC24-0A4F-4FFA-9540-F2288578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11" name="lane-label-x402">
            <a:extLst xmlns:a="http://schemas.openxmlformats.org/drawingml/2006/main">
              <a:ext uri="{FF2B5EF4-FFF2-40B4-BE49-F238E27FC236}">
                <a16:creationId xmlns:a16="http://schemas.microsoft.com/office/drawing/2014/main" id="{49E26B3D-E7B1-4CCC-9BDE-D3E08491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x402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42B33-BD7E-4D83-8554-B0DC57D8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13" name="lane-detail-x402">
            <a:extLst xmlns:a="http://schemas.openxmlformats.org/drawingml/2006/main">
              <a:ext uri="{FF2B5EF4-FFF2-40B4-BE49-F238E27FC236}">
                <a16:creationId xmlns:a16="http://schemas.microsoft.com/office/drawing/2014/main" id="{462A2484-B9D0-4E5D-A45D-B5661896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2781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Paid API endpoint returns PAYMENT-REQUIRED for the selected batch.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D0C0BA72-BA2E-42DA-9E39-CF51E65D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428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BD517-6FE5-4D1C-AB36-767AF88B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16" name="lane-label-Gateway">
            <a:extLst xmlns:a="http://schemas.openxmlformats.org/drawingml/2006/main">
              <a:ext uri="{FF2B5EF4-FFF2-40B4-BE49-F238E27FC236}">
                <a16:creationId xmlns:a16="http://schemas.microsoft.com/office/drawing/2014/main" id="{6C229977-5C88-4135-82F2-0C3F6A3B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Gateway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2188A-14FE-4C7F-9939-EE310CBE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18" name="lane-detail-Gateway">
            <a:extLst xmlns:a="http://schemas.openxmlformats.org/drawingml/2006/main">
              <a:ext uri="{FF2B5EF4-FFF2-40B4-BE49-F238E27FC236}">
                <a16:creationId xmlns:a16="http://schemas.microsoft.com/office/drawing/2014/main" id="{F12ADD3B-F175-4280-9F00-F2C3B08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672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Wallet signs once. Circle Gateway verifies the payment authorization.</a:t>
            </a:r>
          </a:p>
        </p:txBody>
      </p:sp>
      <p:sp>
        <p:nvSpPr>
          <p:cNvPr id="19" name="flow-arrow">
            <a:extLst xmlns:a="http://schemas.openxmlformats.org/drawingml/2006/main">
              <a:ext uri="{FF2B5EF4-FFF2-40B4-BE49-F238E27FC236}">
                <a16:creationId xmlns:a16="http://schemas.microsoft.com/office/drawing/2014/main" id="{FBC70BF8-D876-44CB-B45D-C12D2967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676650"/>
            <a:ext cx="428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65449-1146-42B8-B5E5-09F13452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E05"/>
          </a:solidFill>
          <a:ln xmlns:a="http://schemas.openxmlformats.org/drawingml/2006/main" w="0">
            <a:solidFill>
              <a:srgbClr val="D89E05"/>
            </a:solidFill>
            <a:prstDash val="solid"/>
          </a:ln>
        </p:spPr>
      </p:sp>
      <p:sp>
        <p:nvSpPr>
          <p:cNvPr id="21" name="lane-label-Provider">
            <a:extLst xmlns:a="http://schemas.openxmlformats.org/drawingml/2006/main">
              <a:ext uri="{FF2B5EF4-FFF2-40B4-BE49-F238E27FC236}">
                <a16:creationId xmlns:a16="http://schemas.microsoft.com/office/drawing/2014/main" id="{C65FEC6B-67C5-44E7-A8ED-F2193D69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Provider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FC9F8-DAA1-4A68-B8E3-5506D39E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E05"/>
          </a:solidFill>
          <a:ln xmlns:a="http://schemas.openxmlformats.org/drawingml/2006/main" w="0">
            <a:solidFill>
              <a:srgbClr val="D89E05"/>
            </a:solidFill>
            <a:prstDash val="solid"/>
          </a:ln>
        </p:spPr>
      </p:sp>
      <p:sp>
        <p:nvSpPr>
          <p:cNvPr id="23" name="lane-detail-Provider">
            <a:extLst xmlns:a="http://schemas.openxmlformats.org/drawingml/2006/main">
              <a:ext uri="{FF2B5EF4-FFF2-40B4-BE49-F238E27FC236}">
                <a16:creationId xmlns:a16="http://schemas.microsoft.com/office/drawing/2014/main" id="{53A971F3-FF9F-49A1-8D08-4A59DA1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2672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Each proof returns data plus a provider-signed receipt.</a:t>
            </a:r>
          </a:p>
        </p:txBody>
      </p:sp>
      <p:sp>
        <p:nvSpPr>
          <p:cNvPr id="24" name="flow-arrow">
            <a:extLst xmlns:a="http://schemas.openxmlformats.org/drawingml/2006/main">
              <a:ext uri="{FF2B5EF4-FFF2-40B4-BE49-F238E27FC236}">
                <a16:creationId xmlns:a16="http://schemas.microsoft.com/office/drawing/2014/main" id="{E8FB6BD3-A8FF-4230-B9BA-02788116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3676650"/>
            <a:ext cx="4286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8490A0"/>
                </a:solidFill>
              </a:defRPr>
            </a:pPr>
            <a:r>
              <a:rPr sz="1950" b="1">
                <a:solidFill>
                  <a:srgbClr val="8490A0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50915-A228-4B64-B34A-1893547B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6600" y="3733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6" name="lane-label-Arc">
            <a:extLst xmlns:a="http://schemas.openxmlformats.org/drawingml/2006/main">
              <a:ext uri="{FF2B5EF4-FFF2-40B4-BE49-F238E27FC236}">
                <a16:creationId xmlns:a16="http://schemas.microsoft.com/office/drawing/2014/main" id="{916B3DD6-5BEF-4EA8-8023-8EF13FC2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2350" y="36576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B1220"/>
                </a:solidFill>
              </a:defRPr>
            </a:pPr>
            <a:r>
              <a:rPr sz="2025" b="1">
                <a:solidFill>
                  <a:srgbClr val="0B1220"/>
                </a:solidFill>
              </a:rPr>
              <a:t>Arc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6C02B1-9044-4E06-8031-F03442DD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076700"/>
            <a:ext cx="2781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8" name="lane-detail-Arc">
            <a:extLst xmlns:a="http://schemas.openxmlformats.org/drawingml/2006/main">
              <a:ext uri="{FF2B5EF4-FFF2-40B4-BE49-F238E27FC236}">
                <a16:creationId xmlns:a16="http://schemas.microsoft.com/office/drawing/2014/main" id="{A246666C-9B1E-4282-BAC1-054C0B71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2672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96473"/>
                </a:solidFill>
              </a:defRPr>
            </a:pPr>
            <a:r>
              <a:rPr sz="1425">
                <a:solidFill>
                  <a:srgbClr val="596473"/>
                </a:solidFill>
              </a:rPr>
              <a:t>PennyPilot anchors the receipt batch on the user's spend card.</a:t>
            </a:r>
          </a:p>
        </p:txBody>
      </p:sp>
      <p:sp>
        <p:nvSpPr>
          <p:cNvPr id="29" name="payment-flow-proof-note">
            <a:extLst xmlns:a="http://schemas.openxmlformats.org/drawingml/2006/main">
              <a:ext uri="{FF2B5EF4-FFF2-40B4-BE49-F238E27FC236}">
                <a16:creationId xmlns:a16="http://schemas.microsoft.com/office/drawing/2014/main" id="{77BCD088-6233-4BF1-A45D-EE95787E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496050"/>
            <a:ext cx="16649700" cy="1209675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0">
            <a:solidFill>
              <a:srgbClr val="0E1116"/>
            </a:solidFill>
            <a:prstDash val="solid"/>
          </a:ln>
        </p:spPr>
      </p:sp>
      <p:sp>
        <p:nvSpPr>
          <p:cNvPr id="30" name="watch-label">
            <a:extLst xmlns:a="http://schemas.openxmlformats.org/drawingml/2006/main">
              <a:ext uri="{FF2B5EF4-FFF2-40B4-BE49-F238E27FC236}">
                <a16:creationId xmlns:a16="http://schemas.microsoft.com/office/drawing/2014/main" id="{13653694-C3CE-434A-BB3E-1BE0C979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24650"/>
            <a:ext cx="10687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C2CC"/>
                </a:solidFill>
              </a:defRPr>
            </a:pPr>
            <a:r>
              <a:rPr sz="1425" b="1">
                <a:solidFill>
                  <a:srgbClr val="B8C2CC"/>
                </a:solidFill>
              </a:rPr>
              <a:t>What judges should watch in the video</a:t>
            </a:r>
          </a:p>
        </p:txBody>
      </p:sp>
      <p:sp>
        <p:nvSpPr>
          <p:cNvPr id="31" name="watch-copy">
            <a:extLst xmlns:a="http://schemas.openxmlformats.org/drawingml/2006/main">
              <a:ext uri="{FF2B5EF4-FFF2-40B4-BE49-F238E27FC236}">
                <a16:creationId xmlns:a16="http://schemas.microsoft.com/office/drawing/2014/main" id="{50ED0D87-2A5D-4311-BF4F-B4D9F058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991350"/>
            <a:ext cx="10687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Circle-side payment authorization, then Arc-side receipt verification. The key product change is one signature for the selected proof batch.</a:t>
            </a:r>
          </a:p>
        </p:txBody>
      </p:sp>
      <p:sp>
        <p:nvSpPr>
          <p:cNvPr id="32" name="contract-function">
            <a:extLst xmlns:a="http://schemas.openxmlformats.org/drawingml/2006/main">
              <a:ext uri="{FF2B5EF4-FFF2-40B4-BE49-F238E27FC236}">
                <a16:creationId xmlns:a16="http://schemas.microsoft.com/office/drawing/2014/main" id="{68444B85-86EA-435D-857A-3A3A5482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010400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7F3D0"/>
                </a:solidFill>
              </a:defRPr>
            </a:pPr>
            <a:r>
              <a:rPr sz="1500">
                <a:solidFill>
                  <a:srgbClr val="A7F3D0"/>
                </a:solidFill>
              </a:rPr>
              <a:t>recordSpendsWithProviderSignatures</a:t>
            </a:r>
          </a:p>
        </p:txBody>
      </p:sp>
      <p:sp>
        <p:nvSpPr>
          <p:cNvPr id="3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2B1C198-8674-45FA-9D44-D266314A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19812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Circle Gateway x402 + Arc receipts</a:t>
            </a:r>
          </a:p>
        </p:txBody>
      </p:sp>
      <p:sp>
        <p:nvSpPr>
          <p:cNvPr id="3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FF72E96-D364-4FF5-B206-AF23824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52500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14957465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74F1B6D4-AE91-4409-B43B-F32351FD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F41E46A-F5EA-47F7-A32D-C6294E59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1664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A58"/>
                </a:solidFill>
              </a:defRPr>
            </a:pPr>
            <a:r>
              <a:rPr sz="1425" b="1">
                <a:solidFill>
                  <a:srgbClr val="007A58"/>
                </a:solidFill>
              </a:rPr>
              <a:t>PennyPilot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345466-477D-4361-AD7F-45F4D65C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"/>
            <a:ext cx="166497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B1220"/>
                </a:solidFill>
              </a:defRPr>
            </a:pPr>
            <a:r>
              <a:rPr sz="3975" b="1">
                <a:solidFill>
                  <a:srgbClr val="0B1220"/>
                </a:solidFill>
              </a:rPr>
              <a:t>Agentic commerce with guardrails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88C25B6-01AC-4C3D-B11D-AC8B606F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1664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96473"/>
                </a:solidFill>
              </a:defRPr>
            </a:pPr>
            <a:r>
              <a:rPr sz="1875">
                <a:solidFill>
                  <a:srgbClr val="596473"/>
                </a:solidFill>
              </a:rPr>
              <a:t>A reusable payment pattern for AI agents that need to buy many small paid facts safely.</a:t>
            </a:r>
          </a:p>
        </p:txBody>
      </p:sp>
      <p:sp>
        <p:nvSpPr>
          <p:cNvPr id="5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134D3A10-925B-4AF4-901B-3670664B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8667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B1220"/>
                </a:solidFill>
              </a:defRPr>
            </a:pPr>
            <a:r>
              <a:rPr sz="4350" b="1">
                <a:solidFill>
                  <a:srgbClr val="0B1220"/>
                </a:solidFill>
              </a:rPr>
              <a:t>Let agents spend without letting spend go dark.</a:t>
            </a:r>
          </a:p>
        </p:txBody>
      </p:sp>
      <p:sp>
        <p:nvSpPr>
          <p:cNvPr id="6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C4017FB1-9672-49B4-BA23-991F97B5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8667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96473"/>
                </a:solidFill>
              </a:defRPr>
            </a:pPr>
            <a:r>
              <a:rPr sz="2100">
                <a:solidFill>
                  <a:srgbClr val="596473"/>
                </a:solidFill>
              </a:rPr>
              <a:t>PennyPilot turns paid API calls into governed agent procurement: a user sets policy, the agent buys only approved facts, and every receipt remains traceable.</a:t>
            </a:r>
          </a:p>
        </p:txBody>
      </p:sp>
      <p:sp>
        <p:nvSpPr>
          <p:cNvPr id="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6CDD1736-C8D7-487C-BCE8-19536582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8" name="statement-title-Controlled">
            <a:extLst xmlns:a="http://schemas.openxmlformats.org/drawingml/2006/main">
              <a:ext uri="{FF2B5EF4-FFF2-40B4-BE49-F238E27FC236}">
                <a16:creationId xmlns:a16="http://schemas.microsoft.com/office/drawing/2014/main" id="{70A85C18-E7CD-4C5A-8803-FF069D10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Controlled</a:t>
            </a:r>
          </a:p>
        </p:txBody>
      </p:sp>
      <p:sp>
        <p:nvSpPr>
          <p:cNvPr id="9" name="statement-body-Controlled">
            <a:extLst xmlns:a="http://schemas.openxmlformats.org/drawingml/2006/main">
              <a:ext uri="{FF2B5EF4-FFF2-40B4-BE49-F238E27FC236}">
                <a16:creationId xmlns:a16="http://schemas.microsoft.com/office/drawing/2014/main" id="{BA10A649-45DD-4DAD-8573-EA39CDE7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419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Budget, per-call cap, provider allowlist, and batch size are defined before spend.</a:t>
            </a:r>
          </a:p>
        </p:txBody>
      </p:sp>
      <p:sp>
        <p:nvSpPr>
          <p:cNvPr id="10" name="accent-rule">
            <a:extLst xmlns:a="http://schemas.openxmlformats.org/drawingml/2006/main">
              <a:ext uri="{FF2B5EF4-FFF2-40B4-BE49-F238E27FC236}">
                <a16:creationId xmlns:a16="http://schemas.microsoft.com/office/drawing/2014/main" id="{125F8D1C-4EC2-4A22-A0CE-25924C22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673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11" name="statement-title-API-native">
            <a:extLst xmlns:a="http://schemas.openxmlformats.org/drawingml/2006/main">
              <a:ext uri="{FF2B5EF4-FFF2-40B4-BE49-F238E27FC236}">
                <a16:creationId xmlns:a16="http://schemas.microsoft.com/office/drawing/2014/main" id="{5E4AD49B-3155-4668-BE2D-8FE3C9AD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67690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API-native</a:t>
            </a:r>
          </a:p>
        </p:txBody>
      </p:sp>
      <p:sp>
        <p:nvSpPr>
          <p:cNvPr id="12" name="statement-body-API-native">
            <a:extLst xmlns:a="http://schemas.openxmlformats.org/drawingml/2006/main">
              <a:ext uri="{FF2B5EF4-FFF2-40B4-BE49-F238E27FC236}">
                <a16:creationId xmlns:a16="http://schemas.microsoft.com/office/drawing/2014/main" id="{59B1DDE9-40FB-4A0F-A23C-C5C3D44C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91250"/>
            <a:ext cx="419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Circle Gateway x402 lets providers monetize tiny proof calls below one cent.</a:t>
            </a:r>
          </a:p>
        </p:txBody>
      </p:sp>
      <p:sp>
        <p:nvSpPr>
          <p:cNvPr id="1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8E7AC4FC-5DB2-48F3-93CB-51EDA26F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770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14" name="statement-title-Auditable">
            <a:extLst xmlns:a="http://schemas.openxmlformats.org/drawingml/2006/main">
              <a:ext uri="{FF2B5EF4-FFF2-40B4-BE49-F238E27FC236}">
                <a16:creationId xmlns:a16="http://schemas.microsoft.com/office/drawing/2014/main" id="{5E95284D-8FA6-4C5B-AE4D-7EAC62F8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6755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Auditable</a:t>
            </a:r>
          </a:p>
        </p:txBody>
      </p:sp>
      <p:sp>
        <p:nvSpPr>
          <p:cNvPr id="15" name="statement-body-Auditable">
            <a:extLst xmlns:a="http://schemas.openxmlformats.org/drawingml/2006/main">
              <a:ext uri="{FF2B5EF4-FFF2-40B4-BE49-F238E27FC236}">
                <a16:creationId xmlns:a16="http://schemas.microsoft.com/office/drawing/2014/main" id="{69810855-30B0-47B8-80F4-0E16F1F2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581900"/>
            <a:ext cx="419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Provider signatures and Arc anchors make the spend trail independently checkable.</a:t>
            </a:r>
          </a:p>
        </p:txBody>
      </p:sp>
      <p:sp>
        <p:nvSpPr>
          <p:cNvPr id="16" name="accent-rule">
            <a:extLst xmlns:a="http://schemas.openxmlformats.org/drawingml/2006/main">
              <a:ext uri="{FF2B5EF4-FFF2-40B4-BE49-F238E27FC236}">
                <a16:creationId xmlns:a16="http://schemas.microsoft.com/office/drawing/2014/main" id="{D828F6A3-4C68-4406-A5CC-90DA7792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8770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17" name="statement-title-Reusable">
            <a:extLst xmlns:a="http://schemas.openxmlformats.org/drawingml/2006/main">
              <a:ext uri="{FF2B5EF4-FFF2-40B4-BE49-F238E27FC236}">
                <a16:creationId xmlns:a16="http://schemas.microsoft.com/office/drawing/2014/main" id="{7ACDCD6B-8AA5-4AB0-88B0-DFA0977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06755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Reusable</a:t>
            </a:r>
          </a:p>
        </p:txBody>
      </p:sp>
      <p:sp>
        <p:nvSpPr>
          <p:cNvPr id="18" name="statement-body-Reusable">
            <a:extLst xmlns:a="http://schemas.openxmlformats.org/drawingml/2006/main">
              <a:ext uri="{FF2B5EF4-FFF2-40B4-BE49-F238E27FC236}">
                <a16:creationId xmlns:a16="http://schemas.microsoft.com/office/drawing/2014/main" id="{643970A9-8E38-48D3-A582-656070EC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7581900"/>
            <a:ext cx="419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96473"/>
                </a:solidFill>
              </a:defRPr>
            </a:pPr>
            <a:r>
              <a:rPr sz="1800">
                <a:solidFill>
                  <a:srgbClr val="596473"/>
                </a:solidFill>
              </a:rPr>
              <a:t>The same loop fits KYB, sanctions, invoice, FX, risk, and identity checks.</a:t>
            </a:r>
          </a:p>
        </p:txBody>
      </p:sp>
      <p:sp>
        <p:nvSpPr>
          <p:cNvPr id="19" name="closing-proof-field">
            <a:extLst xmlns:a="http://schemas.openxmlformats.org/drawingml/2006/main">
              <a:ext uri="{FF2B5EF4-FFF2-40B4-BE49-F238E27FC236}">
                <a16:creationId xmlns:a16="http://schemas.microsoft.com/office/drawing/2014/main" id="{0928234C-40D3-4B65-A3E9-275A516B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641" y="3028950"/>
            <a:ext cx="7387209" cy="5334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0E1116"/>
          </a:solidFill>
          <a:ln xmlns:a="http://schemas.openxmlformats.org/drawingml/2006/main" w="0">
            <a:solidFill>
              <a:srgbClr val="0E1116"/>
            </a:solidFill>
            <a:prstDash val="solid"/>
          </a:ln>
        </p:spPr>
      </p:sp>
      <p:sp>
        <p:nvSpPr>
          <p:cNvPr id="20" name="closing-proof-label">
            <a:extLst xmlns:a="http://schemas.openxmlformats.org/drawingml/2006/main">
              <a:ext uri="{FF2B5EF4-FFF2-40B4-BE49-F238E27FC236}">
                <a16:creationId xmlns:a16="http://schemas.microsoft.com/office/drawing/2014/main" id="{E84AD640-5992-4553-8B34-B1342380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90900"/>
            <a:ext cx="6591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C2CC"/>
                </a:solidFill>
              </a:defRPr>
            </a:pPr>
            <a:r>
              <a:rPr sz="1425" b="1">
                <a:solidFill>
                  <a:srgbClr val="B8C2CC"/>
                </a:solidFill>
              </a:rPr>
              <a:t>Operational proof</a:t>
            </a:r>
          </a:p>
        </p:txBody>
      </p:sp>
      <p:sp>
        <p:nvSpPr>
          <p:cNvPr id="21" name="closing-proof-headline">
            <a:extLst xmlns:a="http://schemas.openxmlformats.org/drawingml/2006/main">
              <a:ext uri="{FF2B5EF4-FFF2-40B4-BE49-F238E27FC236}">
                <a16:creationId xmlns:a16="http://schemas.microsoft.com/office/drawing/2014/main" id="{162F2242-96CC-4495-B869-B1CD35F2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33800"/>
            <a:ext cx="65913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Deployed app. Public repo. Arc receipts. 50+ transaction proof.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D0BEFF-8905-47F9-B713-7119871C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05400"/>
            <a:ext cx="3181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58"/>
          </a:solidFill>
          <a:ln xmlns:a="http://schemas.openxmlformats.org/drawingml/2006/main" w="0">
            <a:solidFill>
              <a:srgbClr val="007A58"/>
            </a:solidFill>
            <a:prstDash val="solid"/>
          </a:ln>
        </p:spPr>
      </p:sp>
      <p:sp>
        <p:nvSpPr>
          <p:cNvPr id="23" name="dark-metric-value-max proofs per batch">
            <a:extLst xmlns:a="http://schemas.openxmlformats.org/drawingml/2006/main">
              <a:ext uri="{FF2B5EF4-FFF2-40B4-BE49-F238E27FC236}">
                <a16:creationId xmlns:a16="http://schemas.microsoft.com/office/drawing/2014/main" id="{24C6ED54-3C09-4749-AEB9-02FF9295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578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24" name="dark-metric-label-max proofs per batch">
            <a:extLst xmlns:a="http://schemas.openxmlformats.org/drawingml/2006/main">
              <a:ext uri="{FF2B5EF4-FFF2-40B4-BE49-F238E27FC236}">
                <a16:creationId xmlns:a16="http://schemas.microsoft.com/office/drawing/2014/main" id="{75C31158-9C33-403E-81EE-D17ACD15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753100"/>
            <a:ext cx="3181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max proofs per batch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EFBD3-60ED-4C6C-8581-25EDCBF8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5105400"/>
            <a:ext cx="3181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3"/>
          </a:solidFill>
          <a:ln xmlns:a="http://schemas.openxmlformats.org/drawingml/2006/main" w="0">
            <a:solidFill>
              <a:srgbClr val="E04F43"/>
            </a:solidFill>
            <a:prstDash val="solid"/>
          </a:ln>
        </p:spPr>
      </p:sp>
      <p:sp>
        <p:nvSpPr>
          <p:cNvPr id="26" name="dark-metric-value-verified receipt tx">
            <a:extLst xmlns:a="http://schemas.openxmlformats.org/drawingml/2006/main">
              <a:ext uri="{FF2B5EF4-FFF2-40B4-BE49-F238E27FC236}">
                <a16:creationId xmlns:a16="http://schemas.microsoft.com/office/drawing/2014/main" id="{ECAF3EC1-B37B-4E0E-B2A3-D02705F4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52578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50+</a:t>
            </a:r>
          </a:p>
        </p:txBody>
      </p:sp>
      <p:sp>
        <p:nvSpPr>
          <p:cNvPr id="27" name="dark-metric-label-verified receipt tx">
            <a:extLst xmlns:a="http://schemas.openxmlformats.org/drawingml/2006/main">
              <a:ext uri="{FF2B5EF4-FFF2-40B4-BE49-F238E27FC236}">
                <a16:creationId xmlns:a16="http://schemas.microsoft.com/office/drawing/2014/main" id="{11A64B88-D80C-4EFE-BC59-60CFBFF9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5753100"/>
            <a:ext cx="3181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verified receipt tx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B74BD1-1E41-46CC-A323-422562F0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72200"/>
            <a:ext cx="3181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D9488"/>
            </a:solidFill>
            <a:prstDash val="solid"/>
          </a:ln>
        </p:spPr>
      </p:sp>
      <p:sp>
        <p:nvSpPr>
          <p:cNvPr id="29" name="dark-metric-value-per paid action">
            <a:extLst xmlns:a="http://schemas.openxmlformats.org/drawingml/2006/main">
              <a:ext uri="{FF2B5EF4-FFF2-40B4-BE49-F238E27FC236}">
                <a16:creationId xmlns:a16="http://schemas.microsoft.com/office/drawing/2014/main" id="{C18E1CC1-B72A-4A04-B23C-89F389F4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246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&lt; $0.01</a:t>
            </a:r>
          </a:p>
        </p:txBody>
      </p:sp>
      <p:sp>
        <p:nvSpPr>
          <p:cNvPr id="30" name="dark-metric-label-per paid action">
            <a:extLst xmlns:a="http://schemas.openxmlformats.org/drawingml/2006/main">
              <a:ext uri="{FF2B5EF4-FFF2-40B4-BE49-F238E27FC236}">
                <a16:creationId xmlns:a16="http://schemas.microsoft.com/office/drawing/2014/main" id="{6B637C33-DD08-4A95-A15E-2E3199B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819900"/>
            <a:ext cx="3181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per paid 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2AF2C9-BC12-426B-8B7E-23EA326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6172200"/>
            <a:ext cx="3181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8B8"/>
          </a:solidFill>
          <a:ln xmlns:a="http://schemas.openxmlformats.org/drawingml/2006/main" w="0">
            <a:solidFill>
              <a:srgbClr val="2878B8"/>
            </a:solidFill>
            <a:prstDash val="solid"/>
          </a:ln>
        </p:spPr>
      </p:sp>
      <p:sp>
        <p:nvSpPr>
          <p:cNvPr id="32" name="dark-metric-value-batch authorization">
            <a:extLst xmlns:a="http://schemas.openxmlformats.org/drawingml/2006/main">
              <a:ext uri="{FF2B5EF4-FFF2-40B4-BE49-F238E27FC236}">
                <a16:creationId xmlns:a16="http://schemas.microsoft.com/office/drawing/2014/main" id="{3450FF6E-0307-487A-9DC2-9C709CB8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6324600"/>
            <a:ext cx="3181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dark-metric-label-batch authorization">
            <a:extLst xmlns:a="http://schemas.openxmlformats.org/drawingml/2006/main">
              <a:ext uri="{FF2B5EF4-FFF2-40B4-BE49-F238E27FC236}">
                <a16:creationId xmlns:a16="http://schemas.microsoft.com/office/drawing/2014/main" id="{36087837-402E-479A-A65B-F0858DF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6819900"/>
            <a:ext cx="3181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2CC"/>
                </a:solidFill>
              </a:defRPr>
            </a:pPr>
            <a:r>
              <a:rPr sz="1350">
                <a:solidFill>
                  <a:srgbClr val="B8C2CC"/>
                </a:solidFill>
              </a:rPr>
              <a:t>batch authorization</a:t>
            </a:r>
          </a:p>
        </p:txBody>
      </p:sp>
      <p:sp>
        <p:nvSpPr>
          <p:cNvPr id="34" name="closing-app-url">
            <a:extLst xmlns:a="http://schemas.openxmlformats.org/drawingml/2006/main">
              <a:ext uri="{FF2B5EF4-FFF2-40B4-BE49-F238E27FC236}">
                <a16:creationId xmlns:a16="http://schemas.microsoft.com/office/drawing/2014/main" id="{1C792924-8B12-4D6D-B6A5-75239024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562850"/>
            <a:ext cx="659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pennypilot-five.vercel.app</a:t>
            </a:r>
          </a:p>
        </p:txBody>
      </p:sp>
      <p:sp>
        <p:nvSpPr>
          <p:cNvPr id="35" name="closing-proof-links">
            <a:extLst xmlns:a="http://schemas.openxmlformats.org/drawingml/2006/main">
              <a:ext uri="{FF2B5EF4-FFF2-40B4-BE49-F238E27FC236}">
                <a16:creationId xmlns:a16="http://schemas.microsoft.com/office/drawing/2014/main" id="{889BB70D-BBC5-4B6F-AD74-486A903B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867650"/>
            <a:ext cx="6591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B8C2CC"/>
                </a:solidFill>
              </a:defRPr>
            </a:pPr>
            <a:r>
              <a:rPr sz="1125">
                <a:solidFill>
                  <a:srgbClr val="B8C2CC"/>
                </a:solidFill>
              </a:rPr>
              <a:t>github.com/Kxazar/pennypilot   /   Arc contract 0x4c8E...3047   /   50 tx 0x9f65...8ee7</a:t>
            </a:r>
          </a:p>
        </p:txBody>
      </p:sp>
      <p:sp>
        <p:nvSpPr>
          <p:cNvPr id="3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47FD5CA-32D6-4731-A1EC-21526E7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25000"/>
            <a:ext cx="819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490A0"/>
                </a:solidFill>
              </a:defRPr>
            </a:pPr>
            <a:r>
              <a:rPr sz="1125">
                <a:solidFill>
                  <a:srgbClr val="8490A0"/>
                </a:solidFill>
              </a:rPr>
              <a:t>Product thesis</a:t>
            </a:r>
          </a:p>
        </p:txBody>
      </p:sp>
      <p:sp>
        <p:nvSpPr>
          <p:cNvPr id="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AF6AA73-A077-41DA-837F-620BC872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9525000"/>
            <a:ext cx="409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58"/>
                </a:solidFill>
              </a:defRPr>
            </a:pPr>
            <a:r>
              <a:rPr sz="1125" b="1">
                <a:solidFill>
                  <a:srgbClr val="007A58"/>
                </a:solidFill>
              </a:rPr>
              <a:t>pennypilot-five.vercel.app</a:t>
            </a:r>
          </a:p>
        </p:txBody>
      </p:sp>
    </p:spTree>
    <p:extLst>
      <p:ext uri="{BB962C8B-B14F-4D97-AF65-F5344CB8AC3E}">
        <p14:creationId xmlns:p14="http://schemas.microsoft.com/office/powerpoint/2010/main" val="1895527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2026-04-24T13:27:53.7340000Z</dcterms:created>
  <dcterms:modified xsi:type="dcterms:W3CDTF">2026-04-24T13:27:53.7340000Z</dcterms:modified>
</coreProperties>
</file>