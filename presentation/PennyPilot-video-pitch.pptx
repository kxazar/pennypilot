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284b990495e4a59" /><Relationship Type="http://schemas.openxmlformats.org/officeDocument/2006/relationships/extended-properties" Target="/docProps/app.xml" Id="R0f53421641ef4937" /><Relationship Type="http://schemas.openxmlformats.org/officeDocument/2006/relationships/officeDocument" Target="/ppt/presentation.xml" Id="R1ee133f00bdf4de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0ef2861999e4259"/>
  </p:sldMasterIdLst>
  <p:notesMasterIdLst>
    <p:notesMasterId xmlns:r="http://schemas.openxmlformats.org/officeDocument/2006/relationships" r:id="R41a1a64b507d41c0"/>
  </p:notesMasterIdLst>
  <p:sldIdLst>
    <p:sldId xmlns:r="http://schemas.openxmlformats.org/officeDocument/2006/relationships" id="256" r:id="Rb31b724435f84d95"/>
    <p:sldId xmlns:r="http://schemas.openxmlformats.org/officeDocument/2006/relationships" id="257" r:id="Re3135fd38074417e"/>
    <p:sldId xmlns:r="http://schemas.openxmlformats.org/officeDocument/2006/relationships" id="258" r:id="R86cbda029c6348c3"/>
    <p:sldId xmlns:r="http://schemas.openxmlformats.org/officeDocument/2006/relationships" id="259" r:id="Rc7718cd1b3814db6"/>
    <p:sldId xmlns:r="http://schemas.openxmlformats.org/officeDocument/2006/relationships" id="260" r:id="R335783d57d184685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ef2861999e4259" /><Relationship Type="http://schemas.openxmlformats.org/officeDocument/2006/relationships/theme" Target="/ppt/theme/theme1.xml" Id="Rddfbf432abc34f1f" /><Relationship Type="http://schemas.openxmlformats.org/officeDocument/2006/relationships/notesMaster" Target="/ppt/notesMasters/notesMaster1.xml" Id="R41a1a64b507d41c0" /><Relationship Type="http://schemas.openxmlformats.org/officeDocument/2006/relationships/presProps" Target="/ppt/presProps.xml" Id="R0d22b79b25004ded" /><Relationship Type="http://schemas.openxmlformats.org/officeDocument/2006/relationships/viewProps" Target="/ppt/viewProps.xml" Id="R83fd0ba2197c49a0" /><Relationship Type="http://schemas.openxmlformats.org/officeDocument/2006/relationships/tableStyles" Target="/ppt/tableStyles.xml" Id="R129dd3a36c0145f2" /><Relationship Type="http://schemas.openxmlformats.org/officeDocument/2006/relationships/slide" Target="/ppt/slides/slide1.xml" Id="Rb31b724435f84d95" /><Relationship Type="http://schemas.openxmlformats.org/officeDocument/2006/relationships/slide" Target="/ppt/slides/slide2.xml" Id="Re3135fd38074417e" /><Relationship Type="http://schemas.openxmlformats.org/officeDocument/2006/relationships/slide" Target="/ppt/slides/slide3.xml" Id="R86cbda029c6348c3" /><Relationship Type="http://schemas.openxmlformats.org/officeDocument/2006/relationships/slide" Target="/ppt/slides/slide4.xml" Id="Rc7718cd1b3814db6" /><Relationship Type="http://schemas.openxmlformats.org/officeDocument/2006/relationships/slide" Target="/ppt/slides/slide5.xml" Id="R335783d57d18468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8ff0bc17e853490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510dc8a79ad4ed8" /><Relationship Type="http://schemas.openxmlformats.org/officeDocument/2006/relationships/notesMaster" Target="/ppt/notesMasters/notesMaster1.xml" Id="R3efa0606f29349c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49fb312c7f249e0" /><Relationship Type="http://schemas.openxmlformats.org/officeDocument/2006/relationships/notesMaster" Target="/ppt/notesMasters/notesMaster1.xml" Id="R844be62250504ca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0e270b56a984fd2" /><Relationship Type="http://schemas.openxmlformats.org/officeDocument/2006/relationships/notesMaster" Target="/ppt/notesMasters/notesMaster1.xml" Id="Rc16ad403f944467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3be01698be740af" /><Relationship Type="http://schemas.openxmlformats.org/officeDocument/2006/relationships/notesMaster" Target="/ppt/notesMasters/notesMaster1.xml" Id="R3c7b5b08a11d4df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b7b83fd975148ee" /><Relationship Type="http://schemas.openxmlformats.org/officeDocument/2006/relationships/notesMaster" Target="/ppt/notesMasters/notesMaster1.xml" Id="Rfa51d65249b240c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3ed9692e024400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24a02e8fa5cd47bd" /><Relationship Type="http://schemas.openxmlformats.org/officeDocument/2006/relationships/slideLayout" Target="/ppt/slideLayouts/slideLayout2.xml" Id="R847442f15fe5447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47442f15fe5447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f3390bcb6694404" /><Relationship Type="http://schemas.openxmlformats.org/officeDocument/2006/relationships/notesSlide" Target="/ppt/notesSlides/notesSlide1.xml" Id="Rfcf5c430afad438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2763eb707584b34" /><Relationship Type="http://schemas.openxmlformats.org/officeDocument/2006/relationships/notesSlide" Target="/ppt/notesSlides/notesSlide2.xml" Id="R139abdca8ed94fa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d1d7c0964224007" /><Relationship Type="http://schemas.openxmlformats.org/officeDocument/2006/relationships/notesSlide" Target="/ppt/notesSlides/notesSlide3.xml" Id="Ra8d252475a7a4a3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f58e30a6bed4b44" /><Relationship Type="http://schemas.openxmlformats.org/officeDocument/2006/relationships/notesSlide" Target="/ppt/notesSlides/notesSlide4.xml" Id="R7278fc17a196430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9675650f6664c97" /><Relationship Type="http://schemas.openxmlformats.org/officeDocument/2006/relationships/notesSlide" Target="/ppt/notesSlides/notesSlide5.xml" Id="Reaf661905083423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D5EE4A25-BD08-4478-A5F2-93641AF5D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F7FAFC"/>
            </a:solidFill>
            <a:prstDash val="solid"/>
          </a:ln>
        </p:spPr>
      </p:sp>
      <p:sp>
        <p:nvSpPr>
          <p:cNvPr id="2" name="header-spacer">
            <a:extLst xmlns:a="http://schemas.openxmlformats.org/drawingml/2006/main">
              <a:ext uri="{FF2B5EF4-FFF2-40B4-BE49-F238E27FC236}">
                <a16:creationId xmlns:a16="http://schemas.microsoft.com/office/drawing/2014/main" id="{796E9249-FF5F-4917-91BF-C21EE2569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960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F7FAFC"/>
            </a:solidFill>
            <a:prstDash val="solid"/>
          </a:ln>
        </p:spPr>
      </p:sp>
      <p:sp>
        <p:nvSpPr>
          <p:cNvPr id="3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BABCAAB4-1864-4B8E-911B-3BF92229D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05200"/>
            <a:ext cx="8286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A58"/>
                </a:solidFill>
              </a:defRPr>
            </a:pPr>
            <a:r>
              <a:rPr sz="1800" b="1">
                <a:solidFill>
                  <a:srgbClr val="007A58"/>
                </a:solidFill>
              </a:rPr>
              <a:t>Nano-payments for supervised machine spending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A46596C4-A2C9-4863-9180-C24AD3D61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0"/>
            <a:ext cx="828675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400" b="1">
                <a:solidFill>
                  <a:srgbClr val="0B1220"/>
                </a:solidFill>
              </a:defRPr>
            </a:pPr>
            <a:r>
              <a:rPr sz="8400" b="1">
                <a:solidFill>
                  <a:srgbClr val="0B1220"/>
                </a:solidFill>
              </a:rPr>
              <a:t>PennyPilot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14331B68-C3F4-400A-A87C-B3D25B086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14950"/>
            <a:ext cx="79248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596473"/>
                </a:solidFill>
              </a:defRPr>
            </a:pPr>
            <a:r>
              <a:rPr sz="2250">
                <a:solidFill>
                  <a:srgbClr val="596473"/>
                </a:solidFill>
              </a:rPr>
              <a:t>A spend-control card for AI finance agents buying paid financial facts through Circle Gateway x402, with receipts anchored on Arc.</a:t>
            </a:r>
          </a:p>
        </p:txBody>
      </p:sp>
      <p:sp>
        <p:nvSpPr>
          <p:cNvPr id="6" name="badge-Gateway x402">
            <a:extLst xmlns:a="http://schemas.openxmlformats.org/drawingml/2006/main">
              <a:ext uri="{FF2B5EF4-FFF2-40B4-BE49-F238E27FC236}">
                <a16:creationId xmlns:a16="http://schemas.microsoft.com/office/drawing/2014/main" id="{69E2680B-E37D-46BF-B79E-4622EFE38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143625"/>
            <a:ext cx="2085975" cy="371475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D948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55F724-2D05-43BD-A237-C6BBCC61D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26745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solidFill>
              <a:srgbClr val="0D9488"/>
            </a:solidFill>
            <a:prstDash val="solid"/>
          </a:ln>
        </p:spPr>
      </p:sp>
      <p:sp>
        <p:nvSpPr>
          <p:cNvPr id="8" name="badge-text-Gateway x402">
            <a:extLst xmlns:a="http://schemas.openxmlformats.org/drawingml/2006/main">
              <a:ext uri="{FF2B5EF4-FFF2-40B4-BE49-F238E27FC236}">
                <a16:creationId xmlns:a16="http://schemas.microsoft.com/office/drawing/2014/main" id="{1BF30925-8422-421C-88C6-D05883E38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248400"/>
            <a:ext cx="15049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Gateway x402</a:t>
            </a:r>
          </a:p>
        </p:txBody>
      </p:sp>
      <p:sp>
        <p:nvSpPr>
          <p:cNvPr id="9" name="badge-Arc receipts">
            <a:extLst xmlns:a="http://schemas.openxmlformats.org/drawingml/2006/main">
              <a:ext uri="{FF2B5EF4-FFF2-40B4-BE49-F238E27FC236}">
                <a16:creationId xmlns:a16="http://schemas.microsoft.com/office/drawing/2014/main" id="{C263D0D2-91F6-408E-8E45-E7D8166BE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6143625"/>
            <a:ext cx="2085975" cy="371475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7A5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6814B4-5DA6-4AEA-8254-9821A77EE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626745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58"/>
          </a:solidFill>
          <a:ln xmlns:a="http://schemas.openxmlformats.org/drawingml/2006/main" w="0">
            <a:solidFill>
              <a:srgbClr val="007A58"/>
            </a:solidFill>
            <a:prstDash val="solid"/>
          </a:ln>
        </p:spPr>
      </p:sp>
      <p:sp>
        <p:nvSpPr>
          <p:cNvPr id="11" name="badge-text-Arc receipts">
            <a:extLst xmlns:a="http://schemas.openxmlformats.org/drawingml/2006/main">
              <a:ext uri="{FF2B5EF4-FFF2-40B4-BE49-F238E27FC236}">
                <a16:creationId xmlns:a16="http://schemas.microsoft.com/office/drawing/2014/main" id="{F456341F-4F07-4F94-84D8-942BD2532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6248400"/>
            <a:ext cx="15049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Arc receipts</a:t>
            </a:r>
          </a:p>
        </p:txBody>
      </p:sp>
      <p:sp>
        <p:nvSpPr>
          <p:cNvPr id="12" name="badge-50 tx proof">
            <a:extLst xmlns:a="http://schemas.openxmlformats.org/drawingml/2006/main">
              <a:ext uri="{FF2B5EF4-FFF2-40B4-BE49-F238E27FC236}">
                <a16:creationId xmlns:a16="http://schemas.microsoft.com/office/drawing/2014/main" id="{7010B6E4-4E95-4B38-9CD9-B53D3F160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6143625"/>
            <a:ext cx="1981200" cy="371475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04F4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DDCCD2-C440-43F9-A0AF-5649AF384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626745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4F43"/>
          </a:solidFill>
          <a:ln xmlns:a="http://schemas.openxmlformats.org/drawingml/2006/main" w="0">
            <a:solidFill>
              <a:srgbClr val="E04F43"/>
            </a:solidFill>
            <a:prstDash val="solid"/>
          </a:ln>
        </p:spPr>
      </p:sp>
      <p:sp>
        <p:nvSpPr>
          <p:cNvPr id="14" name="badge-text-50 tx proof">
            <a:extLst xmlns:a="http://schemas.openxmlformats.org/drawingml/2006/main">
              <a:ext uri="{FF2B5EF4-FFF2-40B4-BE49-F238E27FC236}">
                <a16:creationId xmlns:a16="http://schemas.microsoft.com/office/drawing/2014/main" id="{CC7FFC4B-6F96-487D-AB20-AE6E3AED8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6248400"/>
            <a:ext cx="1400175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50 tx proof</a:t>
            </a:r>
          </a:p>
        </p:txBody>
      </p:sp>
      <p:sp>
        <p:nvSpPr>
          <p:cNvPr id="15" name="cover-evidence-field">
            <a:extLst xmlns:a="http://schemas.openxmlformats.org/drawingml/2006/main">
              <a:ext uri="{FF2B5EF4-FFF2-40B4-BE49-F238E27FC236}">
                <a16:creationId xmlns:a16="http://schemas.microsoft.com/office/drawing/2014/main" id="{9DF4F117-268A-4933-8621-D73751BC8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4466" y="2076450"/>
            <a:ext cx="7644384" cy="5857875"/>
          </a:xfrm>
          <a:prstGeom xmlns:a="http://schemas.openxmlformats.org/drawingml/2006/main" prst="roundRect">
            <a:avLst>
              <a:gd name="adj" fmla="val 1301"/>
            </a:avLst>
          </a:prstGeom>
          <a:solidFill xmlns:a="http://schemas.openxmlformats.org/drawingml/2006/main">
            <a:srgbClr val="0E1116"/>
          </a:solidFill>
          <a:ln xmlns:a="http://schemas.openxmlformats.org/drawingml/2006/main" w="0">
            <a:solidFill>
              <a:srgbClr val="0E1116"/>
            </a:solidFill>
            <a:prstDash val="solid"/>
          </a:ln>
        </p:spPr>
      </p:sp>
      <p:sp>
        <p:nvSpPr>
          <p:cNvPr id="16" name="cover-number">
            <a:extLst xmlns:a="http://schemas.openxmlformats.org/drawingml/2006/main">
              <a:ext uri="{FF2B5EF4-FFF2-40B4-BE49-F238E27FC236}">
                <a16:creationId xmlns:a16="http://schemas.microsoft.com/office/drawing/2014/main" id="{CB2C78A2-8206-47E4-9001-874F6FB66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476500"/>
            <a:ext cx="68008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6150" b="1">
                <a:solidFill>
                  <a:srgbClr val="FFFFFF"/>
                </a:solidFill>
              </a:defRPr>
            </a:pPr>
            <a:r>
              <a:rPr sz="6150" b="1">
                <a:solidFill>
                  <a:srgbClr val="FFFFFF"/>
                </a:solidFill>
              </a:rPr>
              <a:t>$0.003885</a:t>
            </a:r>
          </a:p>
        </p:txBody>
      </p:sp>
      <p:sp>
        <p:nvSpPr>
          <p:cNvPr id="17" name="cover-number-label">
            <a:extLst xmlns:a="http://schemas.openxmlformats.org/drawingml/2006/main">
              <a:ext uri="{FF2B5EF4-FFF2-40B4-BE49-F238E27FC236}">
                <a16:creationId xmlns:a16="http://schemas.microsoft.com/office/drawing/2014/main" id="{42717B62-AD81-4C8C-80AE-6323051B5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429000"/>
            <a:ext cx="3924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B8C2CC"/>
                </a:solidFill>
              </a:defRPr>
            </a:pPr>
            <a:r>
              <a:rPr sz="1800">
                <a:solidFill>
                  <a:srgbClr val="B8C2CC"/>
                </a:solidFill>
              </a:rPr>
              <a:t>average paid action in the compact review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614D74-1166-4A98-AED5-91E415AFF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4953000"/>
            <a:ext cx="2133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58"/>
          </a:solidFill>
          <a:ln xmlns:a="http://schemas.openxmlformats.org/drawingml/2006/main" w="0">
            <a:solidFill>
              <a:srgbClr val="007A58"/>
            </a:solidFill>
            <a:prstDash val="solid"/>
          </a:ln>
        </p:spPr>
      </p:sp>
      <p:sp>
        <p:nvSpPr>
          <p:cNvPr id="19" name="dark-metric-value-task budget">
            <a:extLst xmlns:a="http://schemas.openxmlformats.org/drawingml/2006/main">
              <a:ext uri="{FF2B5EF4-FFF2-40B4-BE49-F238E27FC236}">
                <a16:creationId xmlns:a16="http://schemas.microsoft.com/office/drawing/2014/main" id="{9CCFDADD-CCEB-410B-9C73-0B0BCF966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5105400"/>
            <a:ext cx="21336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$0.25</a:t>
            </a:r>
          </a:p>
        </p:txBody>
      </p:sp>
      <p:sp>
        <p:nvSpPr>
          <p:cNvPr id="20" name="dark-metric-label-task budget">
            <a:extLst xmlns:a="http://schemas.openxmlformats.org/drawingml/2006/main">
              <a:ext uri="{FF2B5EF4-FFF2-40B4-BE49-F238E27FC236}">
                <a16:creationId xmlns:a16="http://schemas.microsoft.com/office/drawing/2014/main" id="{89C1EF78-5371-4A56-9CF7-1BC9FB144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5600700"/>
            <a:ext cx="2133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2CC"/>
                </a:solidFill>
              </a:defRPr>
            </a:pPr>
            <a:r>
              <a:rPr sz="1350">
                <a:solidFill>
                  <a:srgbClr val="B8C2CC"/>
                </a:solidFill>
              </a:rPr>
              <a:t>task budget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56CD6B-4AB0-47AC-8FF4-0FD072F44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4953000"/>
            <a:ext cx="2133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solidFill>
              <a:srgbClr val="0D9488"/>
            </a:solidFill>
            <a:prstDash val="solid"/>
          </a:ln>
        </p:spPr>
      </p:sp>
      <p:sp>
        <p:nvSpPr>
          <p:cNvPr id="22" name="dark-metric-value-max per call">
            <a:extLst xmlns:a="http://schemas.openxmlformats.org/drawingml/2006/main">
              <a:ext uri="{FF2B5EF4-FFF2-40B4-BE49-F238E27FC236}">
                <a16:creationId xmlns:a16="http://schemas.microsoft.com/office/drawing/2014/main" id="{CAB213A0-D4D8-4978-9AFF-65F9AD3EF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5105400"/>
            <a:ext cx="21336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$0.006</a:t>
            </a:r>
          </a:p>
        </p:txBody>
      </p:sp>
      <p:sp>
        <p:nvSpPr>
          <p:cNvPr id="23" name="dark-metric-label-max per call">
            <a:extLst xmlns:a="http://schemas.openxmlformats.org/drawingml/2006/main">
              <a:ext uri="{FF2B5EF4-FFF2-40B4-BE49-F238E27FC236}">
                <a16:creationId xmlns:a16="http://schemas.microsoft.com/office/drawing/2014/main" id="{B6E15216-BDD7-4BAB-9DC5-7FCAD58BE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5600700"/>
            <a:ext cx="2133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2CC"/>
                </a:solidFill>
              </a:defRPr>
            </a:pPr>
            <a:r>
              <a:rPr sz="1350">
                <a:solidFill>
                  <a:srgbClr val="B8C2CC"/>
                </a:solidFill>
              </a:rPr>
              <a:t>max per call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266E4C-13AD-4A09-A184-6E482DF04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16150" y="4953000"/>
            <a:ext cx="2133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4F43"/>
          </a:solidFill>
          <a:ln xmlns:a="http://schemas.openxmlformats.org/drawingml/2006/main" w="0">
            <a:solidFill>
              <a:srgbClr val="E04F43"/>
            </a:solidFill>
            <a:prstDash val="solid"/>
          </a:ln>
        </p:spPr>
      </p:sp>
      <p:sp>
        <p:nvSpPr>
          <p:cNvPr id="25" name="dark-metric-value-receipt tx">
            <a:extLst xmlns:a="http://schemas.openxmlformats.org/drawingml/2006/main">
              <a:ext uri="{FF2B5EF4-FFF2-40B4-BE49-F238E27FC236}">
                <a16:creationId xmlns:a16="http://schemas.microsoft.com/office/drawing/2014/main" id="{BF337915-42C1-459B-915B-55614E5BC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16150" y="5105400"/>
            <a:ext cx="21336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50</a:t>
            </a:r>
          </a:p>
        </p:txBody>
      </p:sp>
      <p:sp>
        <p:nvSpPr>
          <p:cNvPr id="26" name="dark-metric-label-receipt tx">
            <a:extLst xmlns:a="http://schemas.openxmlformats.org/drawingml/2006/main">
              <a:ext uri="{FF2B5EF4-FFF2-40B4-BE49-F238E27FC236}">
                <a16:creationId xmlns:a16="http://schemas.microsoft.com/office/drawing/2014/main" id="{9CFD3BBD-000E-4532-94DF-D8545BB57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16150" y="5600700"/>
            <a:ext cx="2133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2CC"/>
                </a:solidFill>
              </a:defRPr>
            </a:pPr>
            <a:r>
              <a:rPr sz="1350">
                <a:solidFill>
                  <a:srgbClr val="B8C2CC"/>
                </a:solidFill>
              </a:rPr>
              <a:t>receipt tx</a:t>
            </a:r>
          </a:p>
        </p:txBody>
      </p:sp>
      <p:sp>
        <p:nvSpPr>
          <p:cNvPr id="27" name="cover-app-url">
            <a:extLst xmlns:a="http://schemas.openxmlformats.org/drawingml/2006/main">
              <a:ext uri="{FF2B5EF4-FFF2-40B4-BE49-F238E27FC236}">
                <a16:creationId xmlns:a16="http://schemas.microsoft.com/office/drawing/2014/main" id="{AD7ADCD5-CC21-4727-A5F8-7611FF4CF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7048500"/>
            <a:ext cx="6800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pennypilot-five.vercel.app</a:t>
            </a:r>
          </a:p>
        </p:txBody>
      </p:sp>
      <p:sp>
        <p:nvSpPr>
          <p:cNvPr id="28" name="cover-contract">
            <a:extLst xmlns:a="http://schemas.openxmlformats.org/drawingml/2006/main">
              <a:ext uri="{FF2B5EF4-FFF2-40B4-BE49-F238E27FC236}">
                <a16:creationId xmlns:a16="http://schemas.microsoft.com/office/drawing/2014/main" id="{BF07E084-9983-4FF0-8DA0-E81E20211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7372350"/>
            <a:ext cx="68008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2CC"/>
                </a:solidFill>
              </a:defRPr>
            </a:pPr>
            <a:r>
              <a:rPr sz="1275">
                <a:solidFill>
                  <a:srgbClr val="B8C2CC"/>
                </a:solidFill>
              </a:rPr>
              <a:t>Contract 0x4c8E...3047</a:t>
            </a:r>
          </a:p>
        </p:txBody>
      </p:sp>
      <p:sp>
        <p:nvSpPr>
          <p:cNvPr id="29" name="footer-left">
            <a:extLst xmlns:a="http://schemas.openxmlformats.org/drawingml/2006/main">
              <a:ext uri="{FF2B5EF4-FFF2-40B4-BE49-F238E27FC236}">
                <a16:creationId xmlns:a16="http://schemas.microsoft.com/office/drawing/2014/main" id="{A1C8888C-6387-4F04-B981-9AAF2BBF1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391650"/>
            <a:ext cx="1924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8490A0"/>
                </a:solidFill>
              </a:defRPr>
            </a:pPr>
            <a:r>
              <a:rPr sz="1125">
                <a:solidFill>
                  <a:srgbClr val="8490A0"/>
                </a:solidFill>
              </a:rPr>
              <a:t>Live demo and Arc proof package</a:t>
            </a:r>
          </a:p>
        </p:txBody>
      </p:sp>
      <p:sp>
        <p:nvSpPr>
          <p:cNvPr id="30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317F09E9-E31C-4387-9E17-4271964EA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3100" y="9467850"/>
            <a:ext cx="4095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7A58"/>
                </a:solidFill>
              </a:defRPr>
            </a:pPr>
            <a:r>
              <a:rPr sz="1125" b="1">
                <a:solidFill>
                  <a:srgbClr val="007A58"/>
                </a:solidFill>
              </a:rPr>
              <a:t>pennypilot-five.vercel.app</a:t>
            </a:r>
          </a:p>
        </p:txBody>
      </p:sp>
    </p:spTree>
    <p:extLst>
      <p:ext uri="{BB962C8B-B14F-4D97-AF65-F5344CB8AC3E}">
        <p14:creationId xmlns:p14="http://schemas.microsoft.com/office/powerpoint/2010/main" val="160272609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258503BD-31B8-4BCA-8C14-6F3494805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F7FAFC"/>
            </a:solidFill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D2437046-56E4-4690-8370-1DF6EEA0A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9600"/>
            <a:ext cx="16649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7A58"/>
                </a:solidFill>
              </a:defRPr>
            </a:pPr>
            <a:r>
              <a:rPr sz="1425" b="1">
                <a:solidFill>
                  <a:srgbClr val="007A58"/>
                </a:solidFill>
              </a:rPr>
              <a:t>PennyPilot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F4367F5-6307-41EC-B43C-5716C5A32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52500"/>
            <a:ext cx="166497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75" b="1">
                <a:solidFill>
                  <a:srgbClr val="0B1220"/>
                </a:solidFill>
              </a:defRPr>
            </a:pPr>
            <a:r>
              <a:rPr sz="3975" b="1">
                <a:solidFill>
                  <a:srgbClr val="0B1220"/>
                </a:solidFill>
              </a:rPr>
              <a:t>Tiny spend needs control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4BFFA00-331D-4FC3-B423-4D30020F3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16649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96473"/>
                </a:solidFill>
              </a:defRPr>
            </a:pPr>
            <a:r>
              <a:rPr sz="1875">
                <a:solidFill>
                  <a:srgbClr val="596473"/>
                </a:solidFill>
              </a:rPr>
              <a:t>PennyPilot turns nano-payments into supervised procurement for AI agents.</a:t>
            </a:r>
          </a:p>
        </p:txBody>
      </p:sp>
      <p:sp>
        <p:nvSpPr>
          <p:cNvPr id="5" name="problem-claim">
            <a:extLst xmlns:a="http://schemas.openxmlformats.org/drawingml/2006/main">
              <a:ext uri="{FF2B5EF4-FFF2-40B4-BE49-F238E27FC236}">
                <a16:creationId xmlns:a16="http://schemas.microsoft.com/office/drawing/2014/main" id="{CA4ACE35-1129-433E-98C0-ECD0F436F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91050"/>
            <a:ext cx="74295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0B1220"/>
                </a:solidFill>
              </a:defRPr>
            </a:pPr>
            <a:r>
              <a:rPr sz="4125" b="1">
                <a:solidFill>
                  <a:srgbClr val="0B1220"/>
                </a:solidFill>
              </a:rPr>
              <a:t>AI agents can buy useful facts, but the payment rail needs guardrails.</a:t>
            </a:r>
          </a:p>
        </p:txBody>
      </p:sp>
      <p:sp>
        <p:nvSpPr>
          <p:cNvPr id="6" name="problem-copy">
            <a:extLst xmlns:a="http://schemas.openxmlformats.org/drawingml/2006/main">
              <a:ext uri="{FF2B5EF4-FFF2-40B4-BE49-F238E27FC236}">
                <a16:creationId xmlns:a16="http://schemas.microsoft.com/office/drawing/2014/main" id="{600E3FCF-02B0-43B4-BE48-C16C11A6E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67400"/>
            <a:ext cx="74295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596473"/>
                </a:solidFill>
              </a:defRPr>
            </a:pPr>
            <a:r>
              <a:rPr sz="2025">
                <a:solidFill>
                  <a:srgbClr val="596473"/>
                </a:solidFill>
              </a:rPr>
              <a:t>PennyPilot is built for finance workflows where many tiny paid API calls are valuable only if every call is bounded, signed, priced, and auditable.</a:t>
            </a:r>
          </a:p>
        </p:txBody>
      </p:sp>
      <p:sp>
        <p:nvSpPr>
          <p:cNvPr id="7" name="accent-rule">
            <a:extLst xmlns:a="http://schemas.openxmlformats.org/drawingml/2006/main">
              <a:ext uri="{FF2B5EF4-FFF2-40B4-BE49-F238E27FC236}">
                <a16:creationId xmlns:a16="http://schemas.microsoft.com/office/drawing/2014/main" id="{4E4F8075-9694-4B2B-B693-804351E92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676650"/>
            <a:ext cx="2190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4F43"/>
          </a:solidFill>
          <a:ln xmlns:a="http://schemas.openxmlformats.org/drawingml/2006/main" w="0">
            <a:solidFill>
              <a:srgbClr val="E04F43"/>
            </a:solidFill>
            <a:prstDash val="solid"/>
          </a:ln>
        </p:spPr>
      </p:sp>
      <p:sp>
        <p:nvSpPr>
          <p:cNvPr id="8" name="statement-title-Too small for cards">
            <a:extLst xmlns:a="http://schemas.openxmlformats.org/drawingml/2006/main">
              <a:ext uri="{FF2B5EF4-FFF2-40B4-BE49-F238E27FC236}">
                <a16:creationId xmlns:a16="http://schemas.microsoft.com/office/drawing/2014/main" id="{38720F49-49D2-4995-9779-32F76A0ED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886200"/>
            <a:ext cx="85344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Too small for cards</a:t>
            </a:r>
          </a:p>
        </p:txBody>
      </p:sp>
      <p:sp>
        <p:nvSpPr>
          <p:cNvPr id="9" name="statement-body-Too small for cards">
            <a:extLst xmlns:a="http://schemas.openxmlformats.org/drawingml/2006/main">
              <a:ext uri="{FF2B5EF4-FFF2-40B4-BE49-F238E27FC236}">
                <a16:creationId xmlns:a16="http://schemas.microsoft.com/office/drawing/2014/main" id="{86AC9AD3-FD42-481D-BF6A-B804E3BEC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400550"/>
            <a:ext cx="85344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96473"/>
                </a:solidFill>
              </a:defRPr>
            </a:pPr>
            <a:r>
              <a:rPr sz="1800">
                <a:solidFill>
                  <a:srgbClr val="596473"/>
                </a:solidFill>
              </a:rPr>
              <a:t>Each proof can cost fractions of a cent. Traditional payment overhead destroys the unit economics.</a:t>
            </a:r>
          </a:p>
        </p:txBody>
      </p:sp>
      <p:sp>
        <p:nvSpPr>
          <p:cNvPr id="10" name="accent-rule">
            <a:extLst xmlns:a="http://schemas.openxmlformats.org/drawingml/2006/main">
              <a:ext uri="{FF2B5EF4-FFF2-40B4-BE49-F238E27FC236}">
                <a16:creationId xmlns:a16="http://schemas.microsoft.com/office/drawing/2014/main" id="{2218FAD0-7223-41FB-BFE8-FFE1EB91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162550"/>
            <a:ext cx="2190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E05"/>
          </a:solidFill>
          <a:ln xmlns:a="http://schemas.openxmlformats.org/drawingml/2006/main" w="0">
            <a:solidFill>
              <a:srgbClr val="D89E05"/>
            </a:solidFill>
            <a:prstDash val="solid"/>
          </a:ln>
        </p:spPr>
      </p:sp>
      <p:sp>
        <p:nvSpPr>
          <p:cNvPr id="11" name="statement-title-Too many to approve">
            <a:extLst xmlns:a="http://schemas.openxmlformats.org/drawingml/2006/main">
              <a:ext uri="{FF2B5EF4-FFF2-40B4-BE49-F238E27FC236}">
                <a16:creationId xmlns:a16="http://schemas.microsoft.com/office/drawing/2014/main" id="{2E761472-F035-4015-9885-BE2E2E248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353050"/>
            <a:ext cx="85344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Too many to approve</a:t>
            </a:r>
          </a:p>
        </p:txBody>
      </p:sp>
      <p:sp>
        <p:nvSpPr>
          <p:cNvPr id="12" name="statement-body-Too many to approve">
            <a:extLst xmlns:a="http://schemas.openxmlformats.org/drawingml/2006/main">
              <a:ext uri="{FF2B5EF4-FFF2-40B4-BE49-F238E27FC236}">
                <a16:creationId xmlns:a16="http://schemas.microsoft.com/office/drawing/2014/main" id="{62CEEC2E-9A67-4E9A-A394-097D99516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867400"/>
            <a:ext cx="85344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96473"/>
                </a:solidFill>
              </a:defRPr>
            </a:pPr>
            <a:r>
              <a:rPr sz="1800">
                <a:solidFill>
                  <a:srgbClr val="596473"/>
                </a:solidFill>
              </a:rPr>
              <a:t>A useful agent may need several checks in one task. One approval per proof becomes a UX tax.</a:t>
            </a:r>
          </a:p>
        </p:txBody>
      </p:sp>
      <p:sp>
        <p:nvSpPr>
          <p:cNvPr id="13" name="accent-rule">
            <a:extLst xmlns:a="http://schemas.openxmlformats.org/drawingml/2006/main">
              <a:ext uri="{FF2B5EF4-FFF2-40B4-BE49-F238E27FC236}">
                <a16:creationId xmlns:a16="http://schemas.microsoft.com/office/drawing/2014/main" id="{A4D075C0-7E46-4A63-9AC9-1D43E666C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6629400"/>
            <a:ext cx="2190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58"/>
          </a:solidFill>
          <a:ln xmlns:a="http://schemas.openxmlformats.org/drawingml/2006/main" w="0">
            <a:solidFill>
              <a:srgbClr val="007A58"/>
            </a:solidFill>
            <a:prstDash val="solid"/>
          </a:ln>
        </p:spPr>
      </p:sp>
      <p:sp>
        <p:nvSpPr>
          <p:cNvPr id="14" name="statement-title-Too risky without receipts">
            <a:extLst xmlns:a="http://schemas.openxmlformats.org/drawingml/2006/main">
              <a:ext uri="{FF2B5EF4-FFF2-40B4-BE49-F238E27FC236}">
                <a16:creationId xmlns:a16="http://schemas.microsoft.com/office/drawing/2014/main" id="{E886F64D-82FB-4F01-AF11-C7FC2A43F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6838950"/>
            <a:ext cx="85344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Too risky without receipts</a:t>
            </a:r>
          </a:p>
        </p:txBody>
      </p:sp>
      <p:sp>
        <p:nvSpPr>
          <p:cNvPr id="15" name="statement-body-Too risky without receipts">
            <a:extLst xmlns:a="http://schemas.openxmlformats.org/drawingml/2006/main">
              <a:ext uri="{FF2B5EF4-FFF2-40B4-BE49-F238E27FC236}">
                <a16:creationId xmlns:a16="http://schemas.microsoft.com/office/drawing/2014/main" id="{32CF9281-B011-4398-ABCA-385914404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7353300"/>
            <a:ext cx="8534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96473"/>
                </a:solidFill>
              </a:defRPr>
            </a:pPr>
            <a:r>
              <a:rPr sz="1800">
                <a:solidFill>
                  <a:srgbClr val="596473"/>
                </a:solidFill>
              </a:rPr>
              <a:t>Finance teams need to know what was bought, from whom, why, and under which policy.</a:t>
            </a:r>
          </a:p>
        </p:txBody>
      </p:sp>
      <p:sp>
        <p:nvSpPr>
          <p:cNvPr id="1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1BCB7EED-3369-4B20-99D0-B6723CD01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391650"/>
            <a:ext cx="12573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8490A0"/>
                </a:solidFill>
              </a:defRPr>
            </a:pPr>
            <a:r>
              <a:rPr sz="1125">
                <a:solidFill>
                  <a:srgbClr val="8490A0"/>
                </a:solidFill>
              </a:rPr>
              <a:t>Problem and use case</a:t>
            </a:r>
          </a:p>
        </p:txBody>
      </p:sp>
      <p:sp>
        <p:nvSpPr>
          <p:cNvPr id="17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7BF0BE58-A82C-43C8-BBDC-C8B32B276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3100" y="9467850"/>
            <a:ext cx="4095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7A58"/>
                </a:solidFill>
              </a:defRPr>
            </a:pPr>
            <a:r>
              <a:rPr sz="1125" b="1">
                <a:solidFill>
                  <a:srgbClr val="007A58"/>
                </a:solidFill>
              </a:rPr>
              <a:t>pennypilot-five.vercel.app</a:t>
            </a:r>
          </a:p>
        </p:txBody>
      </p:sp>
    </p:spTree>
    <p:extLst>
      <p:ext uri="{BB962C8B-B14F-4D97-AF65-F5344CB8AC3E}">
        <p14:creationId xmlns:p14="http://schemas.microsoft.com/office/powerpoint/2010/main" val="47768735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D76E5931-14B3-4866-9F5A-5F314EBF2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F7FAFC"/>
            </a:solidFill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02D2F525-770E-4FEC-80A2-C186365D7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9600"/>
            <a:ext cx="16649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7A58"/>
                </a:solidFill>
              </a:defRPr>
            </a:pPr>
            <a:r>
              <a:rPr sz="1425" b="1">
                <a:solidFill>
                  <a:srgbClr val="007A58"/>
                </a:solidFill>
              </a:rPr>
              <a:t>PennyPilot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83CDA9B-0932-4817-81E9-595A035DD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52500"/>
            <a:ext cx="166497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75" b="1">
                <a:solidFill>
                  <a:srgbClr val="0B1220"/>
                </a:solidFill>
              </a:defRPr>
            </a:pPr>
            <a:r>
              <a:rPr sz="3975" b="1">
                <a:solidFill>
                  <a:srgbClr val="0B1220"/>
                </a:solidFill>
              </a:rPr>
              <a:t>The solution: batch-controlled agent spend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273F21E-79C2-4FB1-9396-713659707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16649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96473"/>
                </a:solidFill>
              </a:defRPr>
            </a:pPr>
            <a:r>
              <a:rPr sz="1875">
                <a:solidFill>
                  <a:srgbClr val="596473"/>
                </a:solidFill>
              </a:rPr>
              <a:t>The app keeps the agent useful while avoiding approval fatigue.</a:t>
            </a:r>
          </a:p>
        </p:txBody>
      </p:sp>
      <p:sp>
        <p:nvSpPr>
          <p:cNvPr id="5" name="solution-claim">
            <a:extLst xmlns:a="http://schemas.openxmlformats.org/drawingml/2006/main">
              <a:ext uri="{FF2B5EF4-FFF2-40B4-BE49-F238E27FC236}">
                <a16:creationId xmlns:a16="http://schemas.microsoft.com/office/drawing/2014/main" id="{099F9BB0-4D67-4FC5-9791-CBD91863B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62400"/>
            <a:ext cx="8020050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825" b="1">
                <a:solidFill>
                  <a:srgbClr val="0B1220"/>
                </a:solidFill>
              </a:defRPr>
            </a:pPr>
            <a:r>
              <a:rPr sz="3825" b="1">
                <a:solidFill>
                  <a:srgbClr val="0B1220"/>
                </a:solidFill>
              </a:rPr>
              <a:t>One user authorization can cover a bounded batch of paid proofs.</a:t>
            </a:r>
          </a:p>
        </p:txBody>
      </p:sp>
      <p:sp>
        <p:nvSpPr>
          <p:cNvPr id="6" name="solution-copy">
            <a:extLst xmlns:a="http://schemas.openxmlformats.org/drawingml/2006/main">
              <a:ext uri="{FF2B5EF4-FFF2-40B4-BE49-F238E27FC236}">
                <a16:creationId xmlns:a16="http://schemas.microsoft.com/office/drawing/2014/main" id="{8C277EE9-84B8-4A93-8E3D-D56E32209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00650"/>
            <a:ext cx="80200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596473"/>
                </a:solidFill>
              </a:defRPr>
            </a:pPr>
            <a:r>
              <a:rPr sz="2025">
                <a:solidFill>
                  <a:srgbClr val="596473"/>
                </a:solidFill>
              </a:rPr>
              <a:t>The user sets the task budget, per-call cap, provider allowlist, and proof count. The agent can spend only inside that policy.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652338-4AAE-4EE6-9204-F84F430F1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007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58"/>
          </a:solidFill>
          <a:ln xmlns:a="http://schemas.openxmlformats.org/drawingml/2006/main" w="0">
            <a:solidFill>
              <a:srgbClr val="007A58"/>
            </a:solidFill>
            <a:prstDash val="solid"/>
          </a:ln>
        </p:spPr>
      </p:sp>
      <p:sp>
        <p:nvSpPr>
          <p:cNvPr id="8" name="policy-label-Task budget">
            <a:extLst xmlns:a="http://schemas.openxmlformats.org/drawingml/2006/main">
              <a:ext uri="{FF2B5EF4-FFF2-40B4-BE49-F238E27FC236}">
                <a16:creationId xmlns:a16="http://schemas.microsoft.com/office/drawing/2014/main" id="{ADF36041-578F-49F7-BFA9-34CB94217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981700"/>
            <a:ext cx="2667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Task budget</a:t>
            </a:r>
          </a:p>
        </p:txBody>
      </p:sp>
      <p:sp>
        <p:nvSpPr>
          <p:cNvPr id="9" name="policy-value-Task budget">
            <a:extLst xmlns:a="http://schemas.openxmlformats.org/drawingml/2006/main">
              <a:ext uri="{FF2B5EF4-FFF2-40B4-BE49-F238E27FC236}">
                <a16:creationId xmlns:a16="http://schemas.microsoft.com/office/drawing/2014/main" id="{B22840C0-63C9-4A6A-8634-D840C2E91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981700"/>
            <a:ext cx="4857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96473"/>
                </a:solidFill>
              </a:defRPr>
            </a:pPr>
            <a:r>
              <a:rPr sz="1500">
                <a:solidFill>
                  <a:srgbClr val="596473"/>
                </a:solidFill>
              </a:rPr>
              <a:t>$0.25 USDC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545F2D-BDF4-4388-B2B3-C80839F1C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3627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solidFill>
              <a:srgbClr val="0D9488"/>
            </a:solidFill>
            <a:prstDash val="solid"/>
          </a:ln>
        </p:spPr>
      </p:sp>
      <p:sp>
        <p:nvSpPr>
          <p:cNvPr id="11" name="policy-label-Per-call cap">
            <a:extLst xmlns:a="http://schemas.openxmlformats.org/drawingml/2006/main">
              <a:ext uri="{FF2B5EF4-FFF2-40B4-BE49-F238E27FC236}">
                <a16:creationId xmlns:a16="http://schemas.microsoft.com/office/drawing/2014/main" id="{F66730B9-4E4E-49BA-9EF4-F092ED1AB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343650"/>
            <a:ext cx="2667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Per-call cap</a:t>
            </a:r>
          </a:p>
        </p:txBody>
      </p:sp>
      <p:sp>
        <p:nvSpPr>
          <p:cNvPr id="12" name="policy-value-Per-call cap">
            <a:extLst xmlns:a="http://schemas.openxmlformats.org/drawingml/2006/main">
              <a:ext uri="{FF2B5EF4-FFF2-40B4-BE49-F238E27FC236}">
                <a16:creationId xmlns:a16="http://schemas.microsoft.com/office/drawing/2014/main" id="{6333CCF4-D4E1-4A08-B1AC-42B729EE3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343650"/>
            <a:ext cx="4857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96473"/>
                </a:solidFill>
              </a:defRPr>
            </a:pPr>
            <a:r>
              <a:rPr sz="1500">
                <a:solidFill>
                  <a:srgbClr val="596473"/>
                </a:solidFill>
              </a:rPr>
              <a:t>$0.006 max per proof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0E9121-6FB0-47C3-9C85-ABA27B730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7246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4F43"/>
          </a:solidFill>
          <a:ln xmlns:a="http://schemas.openxmlformats.org/drawingml/2006/main" w="0">
            <a:solidFill>
              <a:srgbClr val="E04F43"/>
            </a:solidFill>
            <a:prstDash val="solid"/>
          </a:ln>
        </p:spPr>
      </p:sp>
      <p:sp>
        <p:nvSpPr>
          <p:cNvPr id="14" name="policy-label-Batch control">
            <a:extLst xmlns:a="http://schemas.openxmlformats.org/drawingml/2006/main">
              <a:ext uri="{FF2B5EF4-FFF2-40B4-BE49-F238E27FC236}">
                <a16:creationId xmlns:a16="http://schemas.microsoft.com/office/drawing/2014/main" id="{EC7313EA-C294-4B25-89B2-7AE68F3A4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705600"/>
            <a:ext cx="2667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Batch control</a:t>
            </a:r>
          </a:p>
        </p:txBody>
      </p:sp>
      <p:sp>
        <p:nvSpPr>
          <p:cNvPr id="15" name="policy-value-Batch control">
            <a:extLst xmlns:a="http://schemas.openxmlformats.org/drawingml/2006/main">
              <a:ext uri="{FF2B5EF4-FFF2-40B4-BE49-F238E27FC236}">
                <a16:creationId xmlns:a16="http://schemas.microsoft.com/office/drawing/2014/main" id="{EE3CE256-8F94-4538-99AA-05ED8FBA0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705600"/>
            <a:ext cx="4857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96473"/>
                </a:solidFill>
              </a:defRPr>
            </a:pPr>
            <a:r>
              <a:rPr sz="1500">
                <a:solidFill>
                  <a:srgbClr val="596473"/>
                </a:solidFill>
              </a:rPr>
              <a:t>user selects how many proofs the agent may buy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845B56-5208-4517-9AB6-358972692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0866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B8"/>
          </a:solidFill>
          <a:ln xmlns:a="http://schemas.openxmlformats.org/drawingml/2006/main" w="0">
            <a:solidFill>
              <a:srgbClr val="2878B8"/>
            </a:solidFill>
            <a:prstDash val="solid"/>
          </a:ln>
        </p:spPr>
      </p:sp>
      <p:sp>
        <p:nvSpPr>
          <p:cNvPr id="17" name="policy-label-Receipt anchor">
            <a:extLst xmlns:a="http://schemas.openxmlformats.org/drawingml/2006/main">
              <a:ext uri="{FF2B5EF4-FFF2-40B4-BE49-F238E27FC236}">
                <a16:creationId xmlns:a16="http://schemas.microsoft.com/office/drawing/2014/main" id="{3C278541-2998-453E-AC41-06DA7A1CD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7067550"/>
            <a:ext cx="2667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Receipt anchor</a:t>
            </a:r>
          </a:p>
        </p:txBody>
      </p:sp>
      <p:sp>
        <p:nvSpPr>
          <p:cNvPr id="18" name="policy-value-Receipt anchor">
            <a:extLst xmlns:a="http://schemas.openxmlformats.org/drawingml/2006/main">
              <a:ext uri="{FF2B5EF4-FFF2-40B4-BE49-F238E27FC236}">
                <a16:creationId xmlns:a16="http://schemas.microsoft.com/office/drawing/2014/main" id="{65CDD131-7A5F-4B8B-BB6C-8B5B157B7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067550"/>
            <a:ext cx="4857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96473"/>
                </a:solidFill>
              </a:defRPr>
            </a:pPr>
            <a:r>
              <a:rPr sz="1500">
                <a:solidFill>
                  <a:srgbClr val="596473"/>
                </a:solidFill>
              </a:rPr>
              <a:t>provider-signed batch recorded on Arc</a:t>
            </a:r>
          </a:p>
        </p:txBody>
      </p:sp>
      <p:sp>
        <p:nvSpPr>
          <p:cNvPr id="19" name="solution-flow-surface">
            <a:extLst xmlns:a="http://schemas.openxmlformats.org/drawingml/2006/main">
              <a:ext uri="{FF2B5EF4-FFF2-40B4-BE49-F238E27FC236}">
                <a16:creationId xmlns:a16="http://schemas.microsoft.com/office/drawing/2014/main" id="{BF3C778D-F014-43EC-9FAF-F7AA883DA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705100"/>
            <a:ext cx="8020050" cy="5810250"/>
          </a:xfrm>
          <a:prstGeom xmlns:a="http://schemas.openxmlformats.org/drawingml/2006/main" prst="roundRect">
            <a:avLst>
              <a:gd name="adj" fmla="val 13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E7"/>
            </a:solidFill>
            <a:prstDash val="solid"/>
          </a:ln>
        </p:spPr>
      </p:sp>
      <p:sp>
        <p:nvSpPr>
          <p:cNvPr id="20" name="signature-large">
            <a:extLst xmlns:a="http://schemas.openxmlformats.org/drawingml/2006/main">
              <a:ext uri="{FF2B5EF4-FFF2-40B4-BE49-F238E27FC236}">
                <a16:creationId xmlns:a16="http://schemas.microsoft.com/office/drawing/2014/main" id="{06CAC297-FAC1-4D2B-8717-599E370EC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3067050"/>
            <a:ext cx="22860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7A58"/>
                </a:solidFill>
              </a:defRPr>
            </a:pPr>
            <a:r>
              <a:rPr sz="3900" b="1">
                <a:solidFill>
                  <a:srgbClr val="007A58"/>
                </a:solidFill>
              </a:rPr>
              <a:t>1 signature</a:t>
            </a:r>
          </a:p>
        </p:txBody>
      </p:sp>
      <p:sp>
        <p:nvSpPr>
          <p:cNvPr id="21" name="flow-arrow">
            <a:extLst xmlns:a="http://schemas.openxmlformats.org/drawingml/2006/main">
              <a:ext uri="{FF2B5EF4-FFF2-40B4-BE49-F238E27FC236}">
                <a16:creationId xmlns:a16="http://schemas.microsoft.com/office/drawing/2014/main" id="{525BF71B-BC44-4CA3-9C2B-E7E295E1F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3429000"/>
            <a:ext cx="4286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8490A0"/>
                </a:solidFill>
              </a:defRPr>
            </a:pPr>
            <a:r>
              <a:rPr sz="1950" b="1">
                <a:solidFill>
                  <a:srgbClr val="8490A0"/>
                </a:solidFill>
              </a:rPr>
              <a:t>-&gt;</a:t>
            </a:r>
          </a:p>
        </p:txBody>
      </p:sp>
      <p:sp>
        <p:nvSpPr>
          <p:cNvPr id="22" name="proofs-large">
            <a:extLst xmlns:a="http://schemas.openxmlformats.org/drawingml/2006/main">
              <a:ext uri="{FF2B5EF4-FFF2-40B4-BE49-F238E27FC236}">
                <a16:creationId xmlns:a16="http://schemas.microsoft.com/office/drawing/2014/main" id="{F4D34B94-0535-420B-822D-B27717FE3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7900" y="3067050"/>
            <a:ext cx="268605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B1220"/>
                </a:solidFill>
              </a:defRPr>
            </a:pPr>
            <a:r>
              <a:rPr sz="3900" b="1">
                <a:solidFill>
                  <a:srgbClr val="0B1220"/>
                </a:solidFill>
              </a:rPr>
              <a:t>6 paid proofs</a:t>
            </a:r>
          </a:p>
        </p:txBody>
      </p:sp>
      <p:sp>
        <p:nvSpPr>
          <p:cNvPr id="23" name="review-label">
            <a:extLst xmlns:a="http://schemas.openxmlformats.org/drawingml/2006/main">
              <a:ext uri="{FF2B5EF4-FFF2-40B4-BE49-F238E27FC236}">
                <a16:creationId xmlns:a16="http://schemas.microsoft.com/office/drawing/2014/main" id="{67E8EC6A-D374-4392-A06A-8FE32227B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476750"/>
            <a:ext cx="7219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490A0"/>
                </a:solidFill>
              </a:defRPr>
            </a:pPr>
            <a:r>
              <a:rPr sz="1350" b="1">
                <a:solidFill>
                  <a:srgbClr val="8490A0"/>
                </a:solidFill>
              </a:rPr>
              <a:t>Compact review example</a:t>
            </a:r>
          </a:p>
        </p:txBody>
      </p:sp>
      <p:sp>
        <p:nvSpPr>
          <p:cNvPr id="24" name="provider-ProofDesk">
            <a:extLst xmlns:a="http://schemas.openxmlformats.org/drawingml/2006/main">
              <a:ext uri="{FF2B5EF4-FFF2-40B4-BE49-F238E27FC236}">
                <a16:creationId xmlns:a16="http://schemas.microsoft.com/office/drawing/2014/main" id="{EE704341-489F-49FF-A1F1-D460BB759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5054600"/>
            <a:ext cx="3533775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D3F3A3-27B8-4EFE-94DF-90FBCF588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5200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4F43"/>
          </a:solidFill>
          <a:ln xmlns:a="http://schemas.openxmlformats.org/drawingml/2006/main" w="0">
            <a:solidFill>
              <a:srgbClr val="E04F4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ECC779-DB46-4AD5-A673-6695D2A07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5181600"/>
            <a:ext cx="1238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ProofDesk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CAB49F-0039-4A88-986F-F07FEF5F4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5181600"/>
            <a:ext cx="857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473"/>
                </a:solidFill>
              </a:defRPr>
            </a:pPr>
            <a:r>
              <a:rPr sz="1125">
                <a:solidFill>
                  <a:srgbClr val="596473"/>
                </a:solidFill>
              </a:rPr>
              <a:t>$0.0030</a:t>
            </a:r>
          </a:p>
        </p:txBody>
      </p:sp>
      <p:sp>
        <p:nvSpPr>
          <p:cNvPr id="28" name="provider-KybTrail">
            <a:extLst xmlns:a="http://schemas.openxmlformats.org/drawingml/2006/main">
              <a:ext uri="{FF2B5EF4-FFF2-40B4-BE49-F238E27FC236}">
                <a16:creationId xmlns:a16="http://schemas.microsoft.com/office/drawing/2014/main" id="{33DDE16D-D5EC-4B38-AC92-93FF114B6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5025" y="5054600"/>
            <a:ext cx="3533775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314BE27-BA0B-4115-85AC-4FA5B6590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5200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58"/>
          </a:solidFill>
          <a:ln xmlns:a="http://schemas.openxmlformats.org/drawingml/2006/main" w="0">
            <a:solidFill>
              <a:srgbClr val="007A5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D18AECC-5E24-473B-AC40-27BDECCD2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5550" y="5181600"/>
            <a:ext cx="1238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KybTrail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A46C0D7-348E-4F59-8DCD-47CCDDE0D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0100" y="5181600"/>
            <a:ext cx="857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473"/>
                </a:solidFill>
              </a:defRPr>
            </a:pPr>
            <a:r>
              <a:rPr sz="1125">
                <a:solidFill>
                  <a:srgbClr val="596473"/>
                </a:solidFill>
              </a:rPr>
              <a:t>$0.0045</a:t>
            </a:r>
          </a:p>
        </p:txBody>
      </p:sp>
      <p:sp>
        <p:nvSpPr>
          <p:cNvPr id="32" name="provider-ClearList">
            <a:extLst xmlns:a="http://schemas.openxmlformats.org/drawingml/2006/main">
              <a:ext uri="{FF2B5EF4-FFF2-40B4-BE49-F238E27FC236}">
                <a16:creationId xmlns:a16="http://schemas.microsoft.com/office/drawing/2014/main" id="{EA8D5606-9F2F-4228-87E7-3FD94A6DC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5616575"/>
            <a:ext cx="3533775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FD5ED44-64DE-4B08-8CA6-243C895F6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5772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solidFill>
              <a:srgbClr val="0D948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FBFD489-1859-48EC-804C-3E9178695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5753100"/>
            <a:ext cx="1238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ClearList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B62FF5F-2455-4E92-AB1C-4B5CC1B2E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5753100"/>
            <a:ext cx="857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473"/>
                </a:solidFill>
              </a:defRPr>
            </a:pPr>
            <a:r>
              <a:rPr sz="1125">
                <a:solidFill>
                  <a:srgbClr val="596473"/>
                </a:solidFill>
              </a:rPr>
              <a:t>$0.0038</a:t>
            </a:r>
          </a:p>
        </p:txBody>
      </p:sp>
      <p:sp>
        <p:nvSpPr>
          <p:cNvPr id="36" name="provider-AccountLock">
            <a:extLst xmlns:a="http://schemas.openxmlformats.org/drawingml/2006/main">
              <a:ext uri="{FF2B5EF4-FFF2-40B4-BE49-F238E27FC236}">
                <a16:creationId xmlns:a16="http://schemas.microsoft.com/office/drawing/2014/main" id="{4240A50B-1089-436F-BFAA-BA7813DE3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5025" y="5616575"/>
            <a:ext cx="3533775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64D9EC8-9E1B-40E0-859E-6730D1326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5772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B8"/>
          </a:solidFill>
          <a:ln xmlns:a="http://schemas.openxmlformats.org/drawingml/2006/main" w="0">
            <a:solidFill>
              <a:srgbClr val="2878B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0E8FF50-D594-4DA3-853C-A21FBF8D8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5550" y="5753100"/>
            <a:ext cx="1238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AccountLock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21D5E7C-9D32-45FC-85DD-CEAE13109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0100" y="5753100"/>
            <a:ext cx="857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473"/>
                </a:solidFill>
              </a:defRPr>
            </a:pPr>
            <a:r>
              <a:rPr sz="1125">
                <a:solidFill>
                  <a:srgbClr val="596473"/>
                </a:solidFill>
              </a:rPr>
              <a:t>$0.0046</a:t>
            </a:r>
          </a:p>
        </p:txBody>
      </p:sp>
      <p:sp>
        <p:nvSpPr>
          <p:cNvPr id="40" name="provider-FraudLens">
            <a:extLst xmlns:a="http://schemas.openxmlformats.org/drawingml/2006/main">
              <a:ext uri="{FF2B5EF4-FFF2-40B4-BE49-F238E27FC236}">
                <a16:creationId xmlns:a16="http://schemas.microsoft.com/office/drawing/2014/main" id="{BBD15482-A19A-4DC3-86F9-197B2910F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6178550"/>
            <a:ext cx="3533775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BDAF7F9-9778-458B-AC49-DE3FD33D7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3246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E05"/>
          </a:solidFill>
          <a:ln xmlns:a="http://schemas.openxmlformats.org/drawingml/2006/main" w="0">
            <a:solidFill>
              <a:srgbClr val="D89E0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C4F9771-4B5B-4D92-B1AB-7B6E1AB51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6305550"/>
            <a:ext cx="1238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FraudLens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2937EBA-E2B5-410A-B06E-CDCC392F6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6305550"/>
            <a:ext cx="857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473"/>
                </a:solidFill>
              </a:defRPr>
            </a:pPr>
            <a:r>
              <a:rPr sz="1125">
                <a:solidFill>
                  <a:srgbClr val="596473"/>
                </a:solidFill>
              </a:rPr>
              <a:t>$0.0051</a:t>
            </a:r>
          </a:p>
        </p:txBody>
      </p:sp>
      <p:sp>
        <p:nvSpPr>
          <p:cNvPr id="44" name="provider-QuoteMesh">
            <a:extLst xmlns:a="http://schemas.openxmlformats.org/drawingml/2006/main">
              <a:ext uri="{FF2B5EF4-FFF2-40B4-BE49-F238E27FC236}">
                <a16:creationId xmlns:a16="http://schemas.microsoft.com/office/drawing/2014/main" id="{93E49E63-E9D2-467D-BBD7-6AD8ED5E4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5025" y="6178550"/>
            <a:ext cx="3533775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964B61E-0E95-42C0-94A9-F994071A3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63246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58"/>
          </a:solidFill>
          <a:ln xmlns:a="http://schemas.openxmlformats.org/drawingml/2006/main" w="0">
            <a:solidFill>
              <a:srgbClr val="007A5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F814F9F-46A4-4921-9FEB-2AC78947A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5550" y="6305550"/>
            <a:ext cx="1238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QuoteMesh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0266F89-1153-4DF9-BB4C-6FC22917F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0100" y="6305550"/>
            <a:ext cx="857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473"/>
                </a:solidFill>
              </a:defRPr>
            </a:pPr>
            <a:r>
              <a:rPr sz="1125">
                <a:solidFill>
                  <a:srgbClr val="596473"/>
                </a:solidFill>
              </a:rPr>
              <a:t>$0.0022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F47F736-E94C-4469-BF74-2A5DEF257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7010400"/>
            <a:ext cx="3505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58"/>
          </a:solidFill>
          <a:ln xmlns:a="http://schemas.openxmlformats.org/drawingml/2006/main" w="0">
            <a:solidFill>
              <a:srgbClr val="007A58"/>
            </a:solidFill>
            <a:prstDash val="solid"/>
          </a:ln>
        </p:spPr>
      </p:sp>
      <p:sp>
        <p:nvSpPr>
          <p:cNvPr id="49" name="metric-value-total batch spend">
            <a:extLst xmlns:a="http://schemas.openxmlformats.org/drawingml/2006/main">
              <a:ext uri="{FF2B5EF4-FFF2-40B4-BE49-F238E27FC236}">
                <a16:creationId xmlns:a16="http://schemas.microsoft.com/office/drawing/2014/main" id="{83E49FC8-9BFC-4E4F-9E6E-11378BBC2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7162800"/>
            <a:ext cx="35052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0B1220"/>
                </a:solidFill>
              </a:defRPr>
            </a:pPr>
            <a:r>
              <a:rPr sz="3750" b="1">
                <a:solidFill>
                  <a:srgbClr val="0B1220"/>
                </a:solidFill>
              </a:rPr>
              <a:t>$0.023308</a:t>
            </a:r>
          </a:p>
        </p:txBody>
      </p:sp>
      <p:sp>
        <p:nvSpPr>
          <p:cNvPr id="50" name="metric-label-total batch spend">
            <a:extLst xmlns:a="http://schemas.openxmlformats.org/drawingml/2006/main">
              <a:ext uri="{FF2B5EF4-FFF2-40B4-BE49-F238E27FC236}">
                <a16:creationId xmlns:a16="http://schemas.microsoft.com/office/drawing/2014/main" id="{61B9B213-388D-4DB5-8615-8B8D50F8D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7715250"/>
            <a:ext cx="3505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96473"/>
                </a:solidFill>
              </a:defRPr>
            </a:pPr>
            <a:r>
              <a:rPr sz="1575">
                <a:solidFill>
                  <a:srgbClr val="596473"/>
                </a:solidFill>
              </a:rPr>
              <a:t>total batch spend</a:t>
            </a:r>
          </a:p>
        </p:txBody>
      </p:sp>
      <p:sp>
        <p:nvSpPr>
          <p:cNvPr id="51" name="metric-note-total batch spend">
            <a:extLst xmlns:a="http://schemas.openxmlformats.org/drawingml/2006/main">
              <a:ext uri="{FF2B5EF4-FFF2-40B4-BE49-F238E27FC236}">
                <a16:creationId xmlns:a16="http://schemas.microsoft.com/office/drawing/2014/main" id="{274ADA05-B2D7-4A84-A4BB-6FA33BD1E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8001000"/>
            <a:ext cx="35052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490A0"/>
                </a:solidFill>
              </a:defRPr>
            </a:pPr>
            <a:r>
              <a:rPr sz="1200">
                <a:solidFill>
                  <a:srgbClr val="8490A0"/>
                </a:solidFill>
              </a:rPr>
              <a:t>under budget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A7245C9-ACE8-403E-88BA-851852093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7010400"/>
            <a:ext cx="3505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solidFill>
              <a:srgbClr val="0D9488"/>
            </a:solidFill>
            <a:prstDash val="solid"/>
          </a:ln>
        </p:spPr>
      </p:sp>
      <p:sp>
        <p:nvSpPr>
          <p:cNvPr id="53" name="metric-value-avg paid action">
            <a:extLst xmlns:a="http://schemas.openxmlformats.org/drawingml/2006/main">
              <a:ext uri="{FF2B5EF4-FFF2-40B4-BE49-F238E27FC236}">
                <a16:creationId xmlns:a16="http://schemas.microsoft.com/office/drawing/2014/main" id="{EFC8041C-98E0-403B-930F-E36F257E4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7162800"/>
            <a:ext cx="35052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0B1220"/>
                </a:solidFill>
              </a:defRPr>
            </a:pPr>
            <a:r>
              <a:rPr sz="3750" b="1">
                <a:solidFill>
                  <a:srgbClr val="0B1220"/>
                </a:solidFill>
              </a:rPr>
              <a:t>$0.003885</a:t>
            </a:r>
          </a:p>
        </p:txBody>
      </p:sp>
      <p:sp>
        <p:nvSpPr>
          <p:cNvPr id="54" name="metric-label-avg paid action">
            <a:extLst xmlns:a="http://schemas.openxmlformats.org/drawingml/2006/main">
              <a:ext uri="{FF2B5EF4-FFF2-40B4-BE49-F238E27FC236}">
                <a16:creationId xmlns:a16="http://schemas.microsoft.com/office/drawing/2014/main" id="{410412B0-697B-48B8-8573-54BF442A5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7715250"/>
            <a:ext cx="3505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96473"/>
                </a:solidFill>
              </a:defRPr>
            </a:pPr>
            <a:r>
              <a:rPr sz="1575">
                <a:solidFill>
                  <a:srgbClr val="596473"/>
                </a:solidFill>
              </a:rPr>
              <a:t>avg paid action</a:t>
            </a:r>
          </a:p>
        </p:txBody>
      </p:sp>
      <p:sp>
        <p:nvSpPr>
          <p:cNvPr id="55" name="metric-note-avg paid action">
            <a:extLst xmlns:a="http://schemas.openxmlformats.org/drawingml/2006/main">
              <a:ext uri="{FF2B5EF4-FFF2-40B4-BE49-F238E27FC236}">
                <a16:creationId xmlns:a16="http://schemas.microsoft.com/office/drawing/2014/main" id="{E296B98A-8B60-41B0-8F0B-9D8EBADA1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8001000"/>
            <a:ext cx="35052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490A0"/>
                </a:solidFill>
              </a:defRPr>
            </a:pPr>
            <a:r>
              <a:rPr sz="1200">
                <a:solidFill>
                  <a:srgbClr val="8490A0"/>
                </a:solidFill>
              </a:rPr>
              <a:t>below $0.01</a:t>
            </a:r>
          </a:p>
        </p:txBody>
      </p:sp>
      <p:sp>
        <p:nvSpPr>
          <p:cNvPr id="5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A3210CB5-E6F9-41E9-B2E7-9BB2ABFD7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391650"/>
            <a:ext cx="1123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8490A0"/>
                </a:solidFill>
              </a:defRPr>
            </a:pPr>
            <a:r>
              <a:rPr sz="1125">
                <a:solidFill>
                  <a:srgbClr val="8490A0"/>
                </a:solidFill>
              </a:rPr>
              <a:t>Live app demo flow</a:t>
            </a:r>
          </a:p>
        </p:txBody>
      </p:sp>
      <p:sp>
        <p:nvSpPr>
          <p:cNvPr id="57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7C885C35-2D96-466D-8503-CF983ADB3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3100" y="9467850"/>
            <a:ext cx="4095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7A58"/>
                </a:solidFill>
              </a:defRPr>
            </a:pPr>
            <a:r>
              <a:rPr sz="1125" b="1">
                <a:solidFill>
                  <a:srgbClr val="007A58"/>
                </a:solidFill>
              </a:rPr>
              <a:t>pennypilot-five.vercel.app</a:t>
            </a:r>
          </a:p>
        </p:txBody>
      </p:sp>
    </p:spTree>
    <p:extLst>
      <p:ext uri="{BB962C8B-B14F-4D97-AF65-F5344CB8AC3E}">
        <p14:creationId xmlns:p14="http://schemas.microsoft.com/office/powerpoint/2010/main" val="117100852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18549D2F-B932-4D8D-9940-929C71C0D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F7FAFC"/>
            </a:solidFill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0D655D6D-3ADC-4EBA-8267-8425B10FB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9600"/>
            <a:ext cx="16649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7A58"/>
                </a:solidFill>
              </a:defRPr>
            </a:pPr>
            <a:r>
              <a:rPr sz="1425" b="1">
                <a:solidFill>
                  <a:srgbClr val="007A58"/>
                </a:solidFill>
              </a:rPr>
              <a:t>PennyPilot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B403380-9A50-4C50-B344-12943370F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52500"/>
            <a:ext cx="166497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75" b="1">
                <a:solidFill>
                  <a:srgbClr val="0B1220"/>
                </a:solidFill>
              </a:defRPr>
            </a:pPr>
            <a:r>
              <a:rPr sz="3975" b="1">
                <a:solidFill>
                  <a:srgbClr val="0B1220"/>
                </a:solidFill>
              </a:rPr>
              <a:t>Payment first, proof next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10E580C-EB79-4857-9BE2-C14418509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16649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96473"/>
                </a:solidFill>
              </a:defRPr>
            </a:pPr>
            <a:r>
              <a:rPr sz="1875">
                <a:solidFill>
                  <a:srgbClr val="596473"/>
                </a:solidFill>
              </a:rPr>
              <a:t>Circle Gateway handles payment authorization; Arc keeps the audit trail verifiable.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53780B-3FC3-4870-BB87-0AC6F3824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338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58"/>
          </a:solidFill>
          <a:ln xmlns:a="http://schemas.openxmlformats.org/drawingml/2006/main" w="0">
            <a:solidFill>
              <a:srgbClr val="007A58"/>
            </a:solidFill>
            <a:prstDash val="solid"/>
          </a:ln>
        </p:spPr>
      </p:sp>
      <p:sp>
        <p:nvSpPr>
          <p:cNvPr id="6" name="lane-label-Policy">
            <a:extLst xmlns:a="http://schemas.openxmlformats.org/drawingml/2006/main">
              <a:ext uri="{FF2B5EF4-FFF2-40B4-BE49-F238E27FC236}">
                <a16:creationId xmlns:a16="http://schemas.microsoft.com/office/drawing/2014/main" id="{491FBC7B-2A2A-4073-AAC2-58ABCD354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57600"/>
            <a:ext cx="2476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1220"/>
                </a:solidFill>
              </a:defRPr>
            </a:pPr>
            <a:r>
              <a:rPr sz="2025" b="1">
                <a:solidFill>
                  <a:srgbClr val="0B1220"/>
                </a:solidFill>
              </a:rPr>
              <a:t>Policy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045942-2A05-4B35-AD6A-63CFE1008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76700"/>
            <a:ext cx="2781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58"/>
          </a:solidFill>
          <a:ln xmlns:a="http://schemas.openxmlformats.org/drawingml/2006/main" w="0">
            <a:solidFill>
              <a:srgbClr val="007A58"/>
            </a:solidFill>
            <a:prstDash val="solid"/>
          </a:ln>
        </p:spPr>
      </p:sp>
      <p:sp>
        <p:nvSpPr>
          <p:cNvPr id="8" name="lane-detail-Policy">
            <a:extLst xmlns:a="http://schemas.openxmlformats.org/drawingml/2006/main">
              <a:ext uri="{FF2B5EF4-FFF2-40B4-BE49-F238E27FC236}">
                <a16:creationId xmlns:a16="http://schemas.microsoft.com/office/drawing/2014/main" id="{7F085ED3-5EB7-42F0-A000-757D1F59E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67200"/>
            <a:ext cx="2781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96473"/>
                </a:solidFill>
              </a:defRPr>
            </a:pPr>
            <a:r>
              <a:rPr sz="1425">
                <a:solidFill>
                  <a:srgbClr val="596473"/>
                </a:solidFill>
              </a:rPr>
              <a:t>Budget, cap, expiry, provider allowlist, and proof count are set before spend.</a:t>
            </a:r>
          </a:p>
        </p:txBody>
      </p:sp>
      <p:sp>
        <p:nvSpPr>
          <p:cNvPr id="9" name="flow-arrow">
            <a:extLst xmlns:a="http://schemas.openxmlformats.org/drawingml/2006/main">
              <a:ext uri="{FF2B5EF4-FFF2-40B4-BE49-F238E27FC236}">
                <a16:creationId xmlns:a16="http://schemas.microsoft.com/office/drawing/2014/main" id="{CB818074-7A1E-458F-ABAC-D58B89835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76650"/>
            <a:ext cx="42862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8490A0"/>
                </a:solidFill>
              </a:defRPr>
            </a:pPr>
            <a:r>
              <a:rPr sz="1950" b="1">
                <a:solidFill>
                  <a:srgbClr val="8490A0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ED22DB-0FB5-493E-AF48-749B3779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7338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solidFill>
              <a:srgbClr val="0D9488"/>
            </a:solidFill>
            <a:prstDash val="solid"/>
          </a:ln>
        </p:spPr>
      </p:sp>
      <p:sp>
        <p:nvSpPr>
          <p:cNvPr id="11" name="lane-label-x402">
            <a:extLst xmlns:a="http://schemas.openxmlformats.org/drawingml/2006/main">
              <a:ext uri="{FF2B5EF4-FFF2-40B4-BE49-F238E27FC236}">
                <a16:creationId xmlns:a16="http://schemas.microsoft.com/office/drawing/2014/main" id="{362BA579-55B0-4B9A-B972-8C79B9BB5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657600"/>
            <a:ext cx="2476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1220"/>
                </a:solidFill>
              </a:defRPr>
            </a:pPr>
            <a:r>
              <a:rPr sz="2025" b="1">
                <a:solidFill>
                  <a:srgbClr val="0B1220"/>
                </a:solidFill>
              </a:rPr>
              <a:t>x402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AE7E00-4A03-4A58-ACF9-B9258BAA5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076700"/>
            <a:ext cx="2781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solidFill>
              <a:srgbClr val="0D9488"/>
            </a:solidFill>
            <a:prstDash val="solid"/>
          </a:ln>
        </p:spPr>
      </p:sp>
      <p:sp>
        <p:nvSpPr>
          <p:cNvPr id="13" name="lane-detail-x402">
            <a:extLst xmlns:a="http://schemas.openxmlformats.org/drawingml/2006/main">
              <a:ext uri="{FF2B5EF4-FFF2-40B4-BE49-F238E27FC236}">
                <a16:creationId xmlns:a16="http://schemas.microsoft.com/office/drawing/2014/main" id="{A24DDD5B-03D0-4713-99A4-45BCC203F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267200"/>
            <a:ext cx="2781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96473"/>
                </a:solidFill>
              </a:defRPr>
            </a:pPr>
            <a:r>
              <a:rPr sz="1425">
                <a:solidFill>
                  <a:srgbClr val="596473"/>
                </a:solidFill>
              </a:rPr>
              <a:t>Paid API endpoint returns PAYMENT-REQUIRED for the selected batch.</a:t>
            </a:r>
          </a:p>
        </p:txBody>
      </p:sp>
      <p:sp>
        <p:nvSpPr>
          <p:cNvPr id="14" name="flow-arrow">
            <a:extLst xmlns:a="http://schemas.openxmlformats.org/drawingml/2006/main">
              <a:ext uri="{FF2B5EF4-FFF2-40B4-BE49-F238E27FC236}">
                <a16:creationId xmlns:a16="http://schemas.microsoft.com/office/drawing/2014/main" id="{FB9C62F9-F318-4DC9-8B0F-238081F65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676650"/>
            <a:ext cx="42862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8490A0"/>
                </a:solidFill>
              </a:defRPr>
            </a:pPr>
            <a:r>
              <a:rPr sz="1950" b="1">
                <a:solidFill>
                  <a:srgbClr val="8490A0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1C05C2-C0A8-4376-B21C-641214A0B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7338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B8"/>
          </a:solidFill>
          <a:ln xmlns:a="http://schemas.openxmlformats.org/drawingml/2006/main" w="0">
            <a:solidFill>
              <a:srgbClr val="2878B8"/>
            </a:solidFill>
            <a:prstDash val="solid"/>
          </a:ln>
        </p:spPr>
      </p:sp>
      <p:sp>
        <p:nvSpPr>
          <p:cNvPr id="16" name="lane-label-Gateway">
            <a:extLst xmlns:a="http://schemas.openxmlformats.org/drawingml/2006/main">
              <a:ext uri="{FF2B5EF4-FFF2-40B4-BE49-F238E27FC236}">
                <a16:creationId xmlns:a16="http://schemas.microsoft.com/office/drawing/2014/main" id="{38ABCBDF-20EE-48D8-9A79-2B52505EE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657600"/>
            <a:ext cx="2476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1220"/>
                </a:solidFill>
              </a:defRPr>
            </a:pPr>
            <a:r>
              <a:rPr sz="2025" b="1">
                <a:solidFill>
                  <a:srgbClr val="0B1220"/>
                </a:solidFill>
              </a:rPr>
              <a:t>Gateway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8E67E9-CF22-4E4E-A162-9D1B5C759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076700"/>
            <a:ext cx="2781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B8"/>
          </a:solidFill>
          <a:ln xmlns:a="http://schemas.openxmlformats.org/drawingml/2006/main" w="0">
            <a:solidFill>
              <a:srgbClr val="2878B8"/>
            </a:solidFill>
            <a:prstDash val="solid"/>
          </a:ln>
        </p:spPr>
      </p:sp>
      <p:sp>
        <p:nvSpPr>
          <p:cNvPr id="18" name="lane-detail-Gateway">
            <a:extLst xmlns:a="http://schemas.openxmlformats.org/drawingml/2006/main">
              <a:ext uri="{FF2B5EF4-FFF2-40B4-BE49-F238E27FC236}">
                <a16:creationId xmlns:a16="http://schemas.microsoft.com/office/drawing/2014/main" id="{FADF4259-803B-4E54-B5FB-E77666450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267200"/>
            <a:ext cx="27813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96473"/>
                </a:solidFill>
              </a:defRPr>
            </a:pPr>
            <a:r>
              <a:rPr sz="1425">
                <a:solidFill>
                  <a:srgbClr val="596473"/>
                </a:solidFill>
              </a:rPr>
              <a:t>Wallet signs once. Circle Gateway verifies the payment authorization.</a:t>
            </a:r>
          </a:p>
        </p:txBody>
      </p:sp>
      <p:sp>
        <p:nvSpPr>
          <p:cNvPr id="19" name="flow-arrow">
            <a:extLst xmlns:a="http://schemas.openxmlformats.org/drawingml/2006/main">
              <a:ext uri="{FF2B5EF4-FFF2-40B4-BE49-F238E27FC236}">
                <a16:creationId xmlns:a16="http://schemas.microsoft.com/office/drawing/2014/main" id="{F24AB604-4EF7-4733-AF8F-849B5B9F4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3676650"/>
            <a:ext cx="42862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8490A0"/>
                </a:solidFill>
              </a:defRPr>
            </a:pPr>
            <a:r>
              <a:rPr sz="1950" b="1">
                <a:solidFill>
                  <a:srgbClr val="8490A0"/>
                </a:solidFill>
              </a:rPr>
              <a:t>-&gt;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55A3D2-774D-4A53-B1F1-41CC41032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7338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E05"/>
          </a:solidFill>
          <a:ln xmlns:a="http://schemas.openxmlformats.org/drawingml/2006/main" w="0">
            <a:solidFill>
              <a:srgbClr val="D89E05"/>
            </a:solidFill>
            <a:prstDash val="solid"/>
          </a:ln>
        </p:spPr>
      </p:sp>
      <p:sp>
        <p:nvSpPr>
          <p:cNvPr id="21" name="lane-label-Provider">
            <a:extLst xmlns:a="http://schemas.openxmlformats.org/drawingml/2006/main">
              <a:ext uri="{FF2B5EF4-FFF2-40B4-BE49-F238E27FC236}">
                <a16:creationId xmlns:a16="http://schemas.microsoft.com/office/drawing/2014/main" id="{50AA43F8-D873-4C74-A196-D5F4306C6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657600"/>
            <a:ext cx="2476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1220"/>
                </a:solidFill>
              </a:defRPr>
            </a:pPr>
            <a:r>
              <a:rPr sz="2025" b="1">
                <a:solidFill>
                  <a:srgbClr val="0B1220"/>
                </a:solidFill>
              </a:rPr>
              <a:t>Provider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58A5B1-A70B-4EFA-B8E8-DF25B968A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76700"/>
            <a:ext cx="2781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E05"/>
          </a:solidFill>
          <a:ln xmlns:a="http://schemas.openxmlformats.org/drawingml/2006/main" w="0">
            <a:solidFill>
              <a:srgbClr val="D89E05"/>
            </a:solidFill>
            <a:prstDash val="solid"/>
          </a:ln>
        </p:spPr>
      </p:sp>
      <p:sp>
        <p:nvSpPr>
          <p:cNvPr id="23" name="lane-detail-Provider">
            <a:extLst xmlns:a="http://schemas.openxmlformats.org/drawingml/2006/main">
              <a:ext uri="{FF2B5EF4-FFF2-40B4-BE49-F238E27FC236}">
                <a16:creationId xmlns:a16="http://schemas.microsoft.com/office/drawing/2014/main" id="{E4F86878-C3E0-4C90-8972-4AADB6D37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267200"/>
            <a:ext cx="27813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96473"/>
                </a:solidFill>
              </a:defRPr>
            </a:pPr>
            <a:r>
              <a:rPr sz="1425">
                <a:solidFill>
                  <a:srgbClr val="596473"/>
                </a:solidFill>
              </a:rPr>
              <a:t>Each proof returns data plus a provider-signed receipt.</a:t>
            </a:r>
          </a:p>
        </p:txBody>
      </p:sp>
      <p:sp>
        <p:nvSpPr>
          <p:cNvPr id="24" name="flow-arrow">
            <a:extLst xmlns:a="http://schemas.openxmlformats.org/drawingml/2006/main">
              <a:ext uri="{FF2B5EF4-FFF2-40B4-BE49-F238E27FC236}">
                <a16:creationId xmlns:a16="http://schemas.microsoft.com/office/drawing/2014/main" id="{D2612F6A-E3A6-4975-A9CF-8EF812D4E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6050" y="3676650"/>
            <a:ext cx="42862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8490A0"/>
                </a:solidFill>
              </a:defRPr>
            </a:pPr>
            <a:r>
              <a:rPr sz="1950" b="1">
                <a:solidFill>
                  <a:srgbClr val="8490A0"/>
                </a:solidFill>
              </a:rPr>
              <a:t>-&gt;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4C2E74-2B3C-46F7-8947-0076519D2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06600" y="37338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4F43"/>
          </a:solidFill>
          <a:ln xmlns:a="http://schemas.openxmlformats.org/drawingml/2006/main" w="0">
            <a:solidFill>
              <a:srgbClr val="E04F43"/>
            </a:solidFill>
            <a:prstDash val="solid"/>
          </a:ln>
        </p:spPr>
      </p:sp>
      <p:sp>
        <p:nvSpPr>
          <p:cNvPr id="26" name="lane-label-Arc">
            <a:extLst xmlns:a="http://schemas.openxmlformats.org/drawingml/2006/main">
              <a:ext uri="{FF2B5EF4-FFF2-40B4-BE49-F238E27FC236}">
                <a16:creationId xmlns:a16="http://schemas.microsoft.com/office/drawing/2014/main" id="{93CB446E-4BBB-4055-8848-844186404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92350" y="3657600"/>
            <a:ext cx="2476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1220"/>
                </a:solidFill>
              </a:defRPr>
            </a:pPr>
            <a:r>
              <a:rPr sz="2025" b="1">
                <a:solidFill>
                  <a:srgbClr val="0B1220"/>
                </a:solidFill>
              </a:rPr>
              <a:t>Arc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68DB1A-9624-4293-A561-76DB011D5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7550" y="4076700"/>
            <a:ext cx="2781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4F43"/>
          </a:solidFill>
          <a:ln xmlns:a="http://schemas.openxmlformats.org/drawingml/2006/main" w="0">
            <a:solidFill>
              <a:srgbClr val="E04F43"/>
            </a:solidFill>
            <a:prstDash val="solid"/>
          </a:ln>
        </p:spPr>
      </p:sp>
      <p:sp>
        <p:nvSpPr>
          <p:cNvPr id="28" name="lane-detail-Arc">
            <a:extLst xmlns:a="http://schemas.openxmlformats.org/drawingml/2006/main">
              <a:ext uri="{FF2B5EF4-FFF2-40B4-BE49-F238E27FC236}">
                <a16:creationId xmlns:a16="http://schemas.microsoft.com/office/drawing/2014/main" id="{3D482C85-4532-4C59-A324-4D4DBE054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7550" y="4267200"/>
            <a:ext cx="27813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96473"/>
                </a:solidFill>
              </a:defRPr>
            </a:pPr>
            <a:r>
              <a:rPr sz="1425">
                <a:solidFill>
                  <a:srgbClr val="596473"/>
                </a:solidFill>
              </a:rPr>
              <a:t>PennyPilot anchors the receipt batch on the user's spend card.</a:t>
            </a:r>
          </a:p>
        </p:txBody>
      </p:sp>
      <p:sp>
        <p:nvSpPr>
          <p:cNvPr id="29" name="payment-flow-proof-note">
            <a:extLst xmlns:a="http://schemas.openxmlformats.org/drawingml/2006/main">
              <a:ext uri="{FF2B5EF4-FFF2-40B4-BE49-F238E27FC236}">
                <a16:creationId xmlns:a16="http://schemas.microsoft.com/office/drawing/2014/main" id="{20BC9BC1-7395-4122-B8C7-0701D0923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496050"/>
            <a:ext cx="16649700" cy="1209675"/>
          </a:xfrm>
          <a:prstGeom xmlns:a="http://schemas.openxmlformats.org/drawingml/2006/main" prst="roundRect">
            <a:avLst>
              <a:gd name="adj" fmla="val 6299"/>
            </a:avLst>
          </a:prstGeom>
          <a:solidFill xmlns:a="http://schemas.openxmlformats.org/drawingml/2006/main">
            <a:srgbClr val="0E1116"/>
          </a:solidFill>
          <a:ln xmlns:a="http://schemas.openxmlformats.org/drawingml/2006/main" w="0">
            <a:solidFill>
              <a:srgbClr val="0E1116"/>
            </a:solidFill>
            <a:prstDash val="solid"/>
          </a:ln>
        </p:spPr>
      </p:sp>
      <p:sp>
        <p:nvSpPr>
          <p:cNvPr id="30" name="watch-label">
            <a:extLst xmlns:a="http://schemas.openxmlformats.org/drawingml/2006/main">
              <a:ext uri="{FF2B5EF4-FFF2-40B4-BE49-F238E27FC236}">
                <a16:creationId xmlns:a16="http://schemas.microsoft.com/office/drawing/2014/main" id="{2D7EDDD4-97BF-4B72-83EE-FB310F6E6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724650"/>
            <a:ext cx="10687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B8C2CC"/>
                </a:solidFill>
              </a:defRPr>
            </a:pPr>
            <a:r>
              <a:rPr sz="1425" b="1">
                <a:solidFill>
                  <a:srgbClr val="B8C2CC"/>
                </a:solidFill>
              </a:rPr>
              <a:t>What judges should watch in the video</a:t>
            </a:r>
          </a:p>
        </p:txBody>
      </p:sp>
      <p:sp>
        <p:nvSpPr>
          <p:cNvPr id="31" name="watch-copy">
            <a:extLst xmlns:a="http://schemas.openxmlformats.org/drawingml/2006/main">
              <a:ext uri="{FF2B5EF4-FFF2-40B4-BE49-F238E27FC236}">
                <a16:creationId xmlns:a16="http://schemas.microsoft.com/office/drawing/2014/main" id="{F9600ACE-2725-4E90-9809-F14AE40C8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991350"/>
            <a:ext cx="106870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FFFFFF"/>
                </a:solidFill>
              </a:defRPr>
            </a:pPr>
            <a:r>
              <a:rPr sz="1950">
                <a:solidFill>
                  <a:srgbClr val="FFFFFF"/>
                </a:solidFill>
              </a:rPr>
              <a:t>Circle-side payment authorization, then Arc-side receipt verification. The key product change is one signature for the selected proof batch.</a:t>
            </a:r>
          </a:p>
        </p:txBody>
      </p:sp>
      <p:sp>
        <p:nvSpPr>
          <p:cNvPr id="32" name="contract-function">
            <a:extLst xmlns:a="http://schemas.openxmlformats.org/drawingml/2006/main">
              <a:ext uri="{FF2B5EF4-FFF2-40B4-BE49-F238E27FC236}">
                <a16:creationId xmlns:a16="http://schemas.microsoft.com/office/drawing/2014/main" id="{6D34C012-85FA-438F-9121-1FC960F5B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7010400"/>
            <a:ext cx="4953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A7F3D0"/>
                </a:solidFill>
              </a:defRPr>
            </a:pPr>
            <a:r>
              <a:rPr sz="1500">
                <a:solidFill>
                  <a:srgbClr val="A7F3D0"/>
                </a:solidFill>
              </a:rPr>
              <a:t>recordSpendsWithProviderSignatures</a:t>
            </a:r>
          </a:p>
        </p:txBody>
      </p:sp>
      <p:sp>
        <p:nvSpPr>
          <p:cNvPr id="3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B7F11CF0-3797-4FED-AD1A-84A963CE7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525000"/>
            <a:ext cx="19812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8490A0"/>
                </a:solidFill>
              </a:defRPr>
            </a:pPr>
            <a:r>
              <a:rPr sz="1125">
                <a:solidFill>
                  <a:srgbClr val="8490A0"/>
                </a:solidFill>
              </a:rPr>
              <a:t>Circle Gateway x402 + Arc receipts</a:t>
            </a:r>
          </a:p>
        </p:txBody>
      </p:sp>
      <p:sp>
        <p:nvSpPr>
          <p:cNvPr id="34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491F8188-91DF-45E8-B5E8-F53FED7F0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3100" y="9525000"/>
            <a:ext cx="4095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7A58"/>
                </a:solidFill>
              </a:defRPr>
            </a:pPr>
            <a:r>
              <a:rPr sz="1125" b="1">
                <a:solidFill>
                  <a:srgbClr val="007A58"/>
                </a:solidFill>
              </a:rPr>
              <a:t>pennypilot-five.vercel.app</a:t>
            </a:r>
          </a:p>
        </p:txBody>
      </p:sp>
    </p:spTree>
    <p:extLst>
      <p:ext uri="{BB962C8B-B14F-4D97-AF65-F5344CB8AC3E}">
        <p14:creationId xmlns:p14="http://schemas.microsoft.com/office/powerpoint/2010/main" val="129770832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EE6460C8-0584-4C4C-BA9C-2F3AEFACB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F7FAFC"/>
            </a:solidFill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362FD533-DC47-4E61-9A78-1C75D551F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9600"/>
            <a:ext cx="16649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7A58"/>
                </a:solidFill>
              </a:defRPr>
            </a:pPr>
            <a:r>
              <a:rPr sz="1425" b="1">
                <a:solidFill>
                  <a:srgbClr val="007A58"/>
                </a:solidFill>
              </a:rPr>
              <a:t>PennyPilot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F80CC63-9718-4C66-8733-1B33FA77E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52500"/>
            <a:ext cx="166497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75" b="1">
                <a:solidFill>
                  <a:srgbClr val="0B1220"/>
                </a:solidFill>
              </a:defRPr>
            </a:pPr>
            <a:r>
              <a:rPr sz="3975" b="1">
                <a:solidFill>
                  <a:srgbClr val="0B1220"/>
                </a:solidFill>
              </a:rPr>
              <a:t>Proof package for the judges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8934AA6-9159-4BB4-A781-6B7B6C84C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16649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96473"/>
                </a:solidFill>
              </a:defRPr>
            </a:pPr>
            <a:r>
              <a:rPr sz="1875">
                <a:solidFill>
                  <a:srgbClr val="596473"/>
                </a:solidFill>
              </a:rPr>
              <a:t>A short video can show the live app, Circle flow, Arc explorer proof, and verifier commands.</a:t>
            </a:r>
          </a:p>
        </p:txBody>
      </p:sp>
      <p:sp>
        <p:nvSpPr>
          <p:cNvPr id="5" name="proof-claim">
            <a:extLst xmlns:a="http://schemas.openxmlformats.org/drawingml/2006/main">
              <a:ext uri="{FF2B5EF4-FFF2-40B4-BE49-F238E27FC236}">
                <a16:creationId xmlns:a16="http://schemas.microsoft.com/office/drawing/2014/main" id="{5F81625E-7DC4-443C-ABA8-1C44CB1B7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91000"/>
            <a:ext cx="83629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0B1220"/>
                </a:solidFill>
              </a:defRPr>
            </a:pPr>
            <a:r>
              <a:rPr sz="4125" b="1">
                <a:solidFill>
                  <a:srgbClr val="0B1220"/>
                </a:solidFill>
              </a:rPr>
              <a:t>Live, deployed, and verifier-backed.</a:t>
            </a:r>
          </a:p>
        </p:txBody>
      </p:sp>
      <p:sp>
        <p:nvSpPr>
          <p:cNvPr id="6" name="proof-copy">
            <a:extLst xmlns:a="http://schemas.openxmlformats.org/drawingml/2006/main">
              <a:ext uri="{FF2B5EF4-FFF2-40B4-BE49-F238E27FC236}">
                <a16:creationId xmlns:a16="http://schemas.microsoft.com/office/drawing/2014/main" id="{4F06F43A-16B3-467B-BF5B-7FFAC1015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53000"/>
            <a:ext cx="83629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596473"/>
                </a:solidFill>
              </a:defRPr>
            </a:pPr>
            <a:r>
              <a:rPr sz="2025">
                <a:solidFill>
                  <a:srgbClr val="596473"/>
                </a:solidFill>
              </a:rPr>
              <a:t>The submission is not just a mock UI: the repo includes proof scripts that read Arc Testnet and confirm bytecode, policy caps, receipt replay protection, provider spend, and digest equality.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CEDB77-9EB7-4B22-8791-8A0D91517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817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58"/>
          </a:solidFill>
          <a:ln xmlns:a="http://schemas.openxmlformats.org/drawingml/2006/main" w="0">
            <a:solidFill>
              <a:srgbClr val="007A58"/>
            </a:solidFill>
            <a:prstDash val="solid"/>
          </a:ln>
        </p:spPr>
      </p:sp>
      <p:sp>
        <p:nvSpPr>
          <p:cNvPr id="8" name="proof-label-Live app">
            <a:extLst xmlns:a="http://schemas.openxmlformats.org/drawingml/2006/main">
              <a:ext uri="{FF2B5EF4-FFF2-40B4-BE49-F238E27FC236}">
                <a16:creationId xmlns:a16="http://schemas.microsoft.com/office/drawing/2014/main" id="{CE809A21-301F-4572-B29D-A43544294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943600"/>
            <a:ext cx="2000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Live app</a:t>
            </a:r>
          </a:p>
        </p:txBody>
      </p:sp>
      <p:sp>
        <p:nvSpPr>
          <p:cNvPr id="9" name="proof-value-Live app">
            <a:extLst xmlns:a="http://schemas.openxmlformats.org/drawingml/2006/main">
              <a:ext uri="{FF2B5EF4-FFF2-40B4-BE49-F238E27FC236}">
                <a16:creationId xmlns:a16="http://schemas.microsoft.com/office/drawing/2014/main" id="{541B8D2F-A032-493B-B557-F158EDD61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943600"/>
            <a:ext cx="5924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84150"/>
                </a:solidFill>
              </a:defRPr>
            </a:pPr>
            <a:r>
              <a:rPr sz="1350">
                <a:solidFill>
                  <a:srgbClr val="384150"/>
                </a:solidFill>
              </a:rPr>
              <a:t>pennypilot-five.vercel.app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A55F5F-DD8F-4441-870A-A647417CF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3246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solidFill>
              <a:srgbClr val="0D9488"/>
            </a:solidFill>
            <a:prstDash val="solid"/>
          </a:ln>
        </p:spPr>
      </p:sp>
      <p:sp>
        <p:nvSpPr>
          <p:cNvPr id="11" name="proof-label-GitHub">
            <a:extLst xmlns:a="http://schemas.openxmlformats.org/drawingml/2006/main">
              <a:ext uri="{FF2B5EF4-FFF2-40B4-BE49-F238E27FC236}">
                <a16:creationId xmlns:a16="http://schemas.microsoft.com/office/drawing/2014/main" id="{2203513A-4F9C-4BE1-BB96-FA78B84FB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305550"/>
            <a:ext cx="2000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GitHub</a:t>
            </a:r>
          </a:p>
        </p:txBody>
      </p:sp>
      <p:sp>
        <p:nvSpPr>
          <p:cNvPr id="12" name="proof-value-GitHub">
            <a:extLst xmlns:a="http://schemas.openxmlformats.org/drawingml/2006/main">
              <a:ext uri="{FF2B5EF4-FFF2-40B4-BE49-F238E27FC236}">
                <a16:creationId xmlns:a16="http://schemas.microsoft.com/office/drawing/2014/main" id="{FBC2A2CE-8A25-4D09-AEA0-9865D04A1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6305550"/>
            <a:ext cx="5924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84150"/>
                </a:solidFill>
              </a:defRPr>
            </a:pPr>
            <a:r>
              <a:rPr sz="1350">
                <a:solidFill>
                  <a:srgbClr val="384150"/>
                </a:solidFill>
              </a:rPr>
              <a:t>github.com/Kxazar/pennypilot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318E44-111C-48C7-A99F-C3572CDDA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6865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58"/>
          </a:solidFill>
          <a:ln xmlns:a="http://schemas.openxmlformats.org/drawingml/2006/main" w="0">
            <a:solidFill>
              <a:srgbClr val="007A58"/>
            </a:solidFill>
            <a:prstDash val="solid"/>
          </a:ln>
        </p:spPr>
      </p:sp>
      <p:sp>
        <p:nvSpPr>
          <p:cNvPr id="14" name="proof-label-Contract">
            <a:extLst xmlns:a="http://schemas.openxmlformats.org/drawingml/2006/main">
              <a:ext uri="{FF2B5EF4-FFF2-40B4-BE49-F238E27FC236}">
                <a16:creationId xmlns:a16="http://schemas.microsoft.com/office/drawing/2014/main" id="{2EEF69C6-35F7-43B4-92C5-75E3BBEE6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648450"/>
            <a:ext cx="2000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Contract</a:t>
            </a:r>
          </a:p>
        </p:txBody>
      </p:sp>
      <p:sp>
        <p:nvSpPr>
          <p:cNvPr id="15" name="proof-value-Contract">
            <a:extLst xmlns:a="http://schemas.openxmlformats.org/drawingml/2006/main">
              <a:ext uri="{FF2B5EF4-FFF2-40B4-BE49-F238E27FC236}">
                <a16:creationId xmlns:a16="http://schemas.microsoft.com/office/drawing/2014/main" id="{AC6D419F-4331-42D3-8112-2A064005C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6648450"/>
            <a:ext cx="5924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84150"/>
                </a:solidFill>
              </a:defRPr>
            </a:pPr>
            <a:r>
              <a:rPr sz="1350">
                <a:solidFill>
                  <a:srgbClr val="384150"/>
                </a:solidFill>
              </a:rPr>
              <a:t>0x4c8E...3047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D3A9C0-F6E3-44D4-BB2F-552AA7652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0294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4F43"/>
          </a:solidFill>
          <a:ln xmlns:a="http://schemas.openxmlformats.org/drawingml/2006/main" w="0">
            <a:solidFill>
              <a:srgbClr val="E04F43"/>
            </a:solidFill>
            <a:prstDash val="solid"/>
          </a:ln>
        </p:spPr>
      </p:sp>
      <p:sp>
        <p:nvSpPr>
          <p:cNvPr id="17" name="proof-label-50 tx proof">
            <a:extLst xmlns:a="http://schemas.openxmlformats.org/drawingml/2006/main">
              <a:ext uri="{FF2B5EF4-FFF2-40B4-BE49-F238E27FC236}">
                <a16:creationId xmlns:a16="http://schemas.microsoft.com/office/drawing/2014/main" id="{07A0FC04-AFC3-4126-80D1-26658F5B5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7010400"/>
            <a:ext cx="2000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50 tx proof</a:t>
            </a:r>
          </a:p>
        </p:txBody>
      </p:sp>
      <p:sp>
        <p:nvSpPr>
          <p:cNvPr id="18" name="proof-value-50 tx proof">
            <a:extLst xmlns:a="http://schemas.openxmlformats.org/drawingml/2006/main">
              <a:ext uri="{FF2B5EF4-FFF2-40B4-BE49-F238E27FC236}">
                <a16:creationId xmlns:a16="http://schemas.microsoft.com/office/drawing/2014/main" id="{58DF9DB8-D91E-460A-8EBA-41E056C82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7010400"/>
            <a:ext cx="5924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84150"/>
                </a:solidFill>
              </a:defRPr>
            </a:pPr>
            <a:r>
              <a:rPr sz="1350">
                <a:solidFill>
                  <a:srgbClr val="384150"/>
                </a:solidFill>
              </a:rPr>
              <a:t>0x9f65...8ee7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84D3F2-74B3-422E-838B-6F68BD979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429000"/>
            <a:ext cx="7696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4F43"/>
          </a:solidFill>
          <a:ln xmlns:a="http://schemas.openxmlformats.org/drawingml/2006/main" w="0">
            <a:solidFill>
              <a:srgbClr val="E04F43"/>
            </a:solidFill>
            <a:prstDash val="solid"/>
          </a:ln>
        </p:spPr>
      </p:sp>
      <p:sp>
        <p:nvSpPr>
          <p:cNvPr id="20" name="metric-value-verified receipt transactions">
            <a:extLst xmlns:a="http://schemas.openxmlformats.org/drawingml/2006/main">
              <a:ext uri="{FF2B5EF4-FFF2-40B4-BE49-F238E27FC236}">
                <a16:creationId xmlns:a16="http://schemas.microsoft.com/office/drawing/2014/main" id="{9442255F-355A-444E-A883-94C488BE6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581400"/>
            <a:ext cx="76962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0B1220"/>
                </a:solidFill>
              </a:defRPr>
            </a:pPr>
            <a:r>
              <a:rPr sz="3750" b="1">
                <a:solidFill>
                  <a:srgbClr val="0B1220"/>
                </a:solidFill>
              </a:rPr>
              <a:t>50</a:t>
            </a:r>
          </a:p>
        </p:txBody>
      </p:sp>
      <p:sp>
        <p:nvSpPr>
          <p:cNvPr id="21" name="metric-label-verified receipt transactions">
            <a:extLst xmlns:a="http://schemas.openxmlformats.org/drawingml/2006/main">
              <a:ext uri="{FF2B5EF4-FFF2-40B4-BE49-F238E27FC236}">
                <a16:creationId xmlns:a16="http://schemas.microsoft.com/office/drawing/2014/main" id="{79863A65-116C-48D2-B242-0741787E3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133850"/>
            <a:ext cx="7696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96473"/>
                </a:solidFill>
              </a:defRPr>
            </a:pPr>
            <a:r>
              <a:rPr sz="1575">
                <a:solidFill>
                  <a:srgbClr val="596473"/>
                </a:solidFill>
              </a:rPr>
              <a:t>verified receipt transactions</a:t>
            </a:r>
          </a:p>
        </p:txBody>
      </p:sp>
      <p:sp>
        <p:nvSpPr>
          <p:cNvPr id="22" name="metric-note-verified receipt transactions">
            <a:extLst xmlns:a="http://schemas.openxmlformats.org/drawingml/2006/main">
              <a:ext uri="{FF2B5EF4-FFF2-40B4-BE49-F238E27FC236}">
                <a16:creationId xmlns:a16="http://schemas.microsoft.com/office/drawing/2014/main" id="{97468244-64CD-4704-98D6-F692DF972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419600"/>
            <a:ext cx="76962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490A0"/>
                </a:solidFill>
              </a:defRPr>
            </a:pPr>
            <a:r>
              <a:rPr sz="1200">
                <a:solidFill>
                  <a:srgbClr val="8490A0"/>
                </a:solidFill>
              </a:rPr>
              <a:t>Arc Testnet proof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1F59D8-0666-467E-BB9C-56BA77139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819650"/>
            <a:ext cx="7696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58"/>
          </a:solidFill>
          <a:ln xmlns:a="http://schemas.openxmlformats.org/drawingml/2006/main" w="0">
            <a:solidFill>
              <a:srgbClr val="007A58"/>
            </a:solidFill>
            <a:prstDash val="solid"/>
          </a:ln>
        </p:spPr>
      </p:sp>
      <p:sp>
        <p:nvSpPr>
          <p:cNvPr id="24" name="metric-value-paid action requirement">
            <a:extLst xmlns:a="http://schemas.openxmlformats.org/drawingml/2006/main">
              <a:ext uri="{FF2B5EF4-FFF2-40B4-BE49-F238E27FC236}">
                <a16:creationId xmlns:a16="http://schemas.microsoft.com/office/drawing/2014/main" id="{145A43DF-6CD1-4B96-B7E8-AC12A1446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972050"/>
            <a:ext cx="76962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0B1220"/>
                </a:solidFill>
              </a:defRPr>
            </a:pPr>
            <a:r>
              <a:rPr sz="3750" b="1">
                <a:solidFill>
                  <a:srgbClr val="0B1220"/>
                </a:solidFill>
              </a:rPr>
              <a:t>&lt;= $0.01</a:t>
            </a:r>
          </a:p>
        </p:txBody>
      </p:sp>
      <p:sp>
        <p:nvSpPr>
          <p:cNvPr id="25" name="metric-label-paid action requirement">
            <a:extLst xmlns:a="http://schemas.openxmlformats.org/drawingml/2006/main">
              <a:ext uri="{FF2B5EF4-FFF2-40B4-BE49-F238E27FC236}">
                <a16:creationId xmlns:a16="http://schemas.microsoft.com/office/drawing/2014/main" id="{B32441B0-47E7-4324-9DC0-AE0978FBF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5524500"/>
            <a:ext cx="7696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96473"/>
                </a:solidFill>
              </a:defRPr>
            </a:pPr>
            <a:r>
              <a:rPr sz="1575">
                <a:solidFill>
                  <a:srgbClr val="596473"/>
                </a:solidFill>
              </a:rPr>
              <a:t>paid action requirement</a:t>
            </a:r>
          </a:p>
        </p:txBody>
      </p:sp>
      <p:sp>
        <p:nvSpPr>
          <p:cNvPr id="26" name="metric-note-paid action requirement">
            <a:extLst xmlns:a="http://schemas.openxmlformats.org/drawingml/2006/main">
              <a:ext uri="{FF2B5EF4-FFF2-40B4-BE49-F238E27FC236}">
                <a16:creationId xmlns:a16="http://schemas.microsoft.com/office/drawing/2014/main" id="{A3BA1826-A11D-4B6A-9EC9-6C51A86FD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5810250"/>
            <a:ext cx="76962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490A0"/>
                </a:solidFill>
              </a:defRPr>
            </a:pPr>
            <a:r>
              <a:rPr sz="1200">
                <a:solidFill>
                  <a:srgbClr val="8490A0"/>
                </a:solidFill>
              </a:rPr>
              <a:t>provider prices stay below the cap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2F2DAB-122F-4688-B91A-C149467E8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6210300"/>
            <a:ext cx="7696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solidFill>
              <a:srgbClr val="0D9488"/>
            </a:solidFill>
            <a:prstDash val="solid"/>
          </a:ln>
        </p:spPr>
      </p:sp>
      <p:sp>
        <p:nvSpPr>
          <p:cNvPr id="28" name="metric-value-batch user authorization">
            <a:extLst xmlns:a="http://schemas.openxmlformats.org/drawingml/2006/main">
              <a:ext uri="{FF2B5EF4-FFF2-40B4-BE49-F238E27FC236}">
                <a16:creationId xmlns:a16="http://schemas.microsoft.com/office/drawing/2014/main" id="{1A05E34B-4CC5-413C-A766-CE98AE5A6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6362700"/>
            <a:ext cx="76962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0B1220"/>
                </a:solidFill>
              </a:defRPr>
            </a:pPr>
            <a:r>
              <a:rPr sz="3750" b="1">
                <a:solidFill>
                  <a:srgbClr val="0B1220"/>
                </a:solidFill>
              </a:rPr>
              <a:t>1</a:t>
            </a:r>
          </a:p>
        </p:txBody>
      </p:sp>
      <p:sp>
        <p:nvSpPr>
          <p:cNvPr id="29" name="metric-label-batch user authorization">
            <a:extLst xmlns:a="http://schemas.openxmlformats.org/drawingml/2006/main">
              <a:ext uri="{FF2B5EF4-FFF2-40B4-BE49-F238E27FC236}">
                <a16:creationId xmlns:a16="http://schemas.microsoft.com/office/drawing/2014/main" id="{3C2A8FA1-4723-4F95-AA03-D37DA3ECF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6915150"/>
            <a:ext cx="7696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96473"/>
                </a:solidFill>
              </a:defRPr>
            </a:pPr>
            <a:r>
              <a:rPr sz="1575">
                <a:solidFill>
                  <a:srgbClr val="596473"/>
                </a:solidFill>
              </a:rPr>
              <a:t>batch user authorization</a:t>
            </a:r>
          </a:p>
        </p:txBody>
      </p:sp>
      <p:sp>
        <p:nvSpPr>
          <p:cNvPr id="30" name="metric-note-batch user authorization">
            <a:extLst xmlns:a="http://schemas.openxmlformats.org/drawingml/2006/main">
              <a:ext uri="{FF2B5EF4-FFF2-40B4-BE49-F238E27FC236}">
                <a16:creationId xmlns:a16="http://schemas.microsoft.com/office/drawing/2014/main" id="{B7CB9331-C53E-43DC-807E-C4904B66B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7200900"/>
            <a:ext cx="76962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490A0"/>
                </a:solidFill>
              </a:defRPr>
            </a:pPr>
            <a:r>
              <a:rPr sz="1200">
                <a:solidFill>
                  <a:srgbClr val="8490A0"/>
                </a:solidFill>
              </a:rPr>
              <a:t>selected proof count, one signature</a:t>
            </a:r>
          </a:p>
        </p:txBody>
      </p:sp>
      <p:sp>
        <p:nvSpPr>
          <p:cNvPr id="31" name="badge-test">
            <a:extLst xmlns:a="http://schemas.openxmlformats.org/drawingml/2006/main">
              <a:ext uri="{FF2B5EF4-FFF2-40B4-BE49-F238E27FC236}">
                <a16:creationId xmlns:a16="http://schemas.microsoft.com/office/drawing/2014/main" id="{30F0B278-EC60-40E2-AAD3-1DB6EC75C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3841" y="7600950"/>
            <a:ext cx="1323975" cy="371475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7A5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BC3855C-9121-4096-896A-B77443FC8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773430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58"/>
          </a:solidFill>
          <a:ln xmlns:a="http://schemas.openxmlformats.org/drawingml/2006/main" w="0">
            <a:solidFill>
              <a:srgbClr val="007A58"/>
            </a:solidFill>
            <a:prstDash val="solid"/>
          </a:ln>
        </p:spPr>
      </p:sp>
      <p:sp>
        <p:nvSpPr>
          <p:cNvPr id="33" name="badge-text-test">
            <a:extLst xmlns:a="http://schemas.openxmlformats.org/drawingml/2006/main">
              <a:ext uri="{FF2B5EF4-FFF2-40B4-BE49-F238E27FC236}">
                <a16:creationId xmlns:a16="http://schemas.microsoft.com/office/drawing/2014/main" id="{C2BD986D-53E3-4540-9E1F-0D0A7262F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7715250"/>
            <a:ext cx="7429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test</a:t>
            </a:r>
          </a:p>
        </p:txBody>
      </p:sp>
      <p:sp>
        <p:nvSpPr>
          <p:cNvPr id="34" name="badge-arc proof">
            <a:extLst xmlns:a="http://schemas.openxmlformats.org/drawingml/2006/main">
              <a:ext uri="{FF2B5EF4-FFF2-40B4-BE49-F238E27FC236}">
                <a16:creationId xmlns:a16="http://schemas.microsoft.com/office/drawing/2014/main" id="{42F62485-4B73-48FA-BE1F-D27F96045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9266" y="7600950"/>
            <a:ext cx="1771650" cy="371475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D948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E9E4674-03C9-4A48-AE05-BBC31464F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773430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solidFill>
              <a:srgbClr val="0D9488"/>
            </a:solidFill>
            <a:prstDash val="solid"/>
          </a:ln>
        </p:spPr>
      </p:sp>
      <p:sp>
        <p:nvSpPr>
          <p:cNvPr id="36" name="badge-text-arc proof">
            <a:extLst xmlns:a="http://schemas.openxmlformats.org/drawingml/2006/main">
              <a:ext uri="{FF2B5EF4-FFF2-40B4-BE49-F238E27FC236}">
                <a16:creationId xmlns:a16="http://schemas.microsoft.com/office/drawing/2014/main" id="{6E79E221-E421-430F-9D23-DDD5AE300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7715250"/>
            <a:ext cx="1190625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arc proof</a:t>
            </a:r>
          </a:p>
        </p:txBody>
      </p:sp>
      <p:sp>
        <p:nvSpPr>
          <p:cNvPr id="37" name="badge-50 tx proof">
            <a:extLst xmlns:a="http://schemas.openxmlformats.org/drawingml/2006/main">
              <a:ext uri="{FF2B5EF4-FFF2-40B4-BE49-F238E27FC236}">
                <a16:creationId xmlns:a16="http://schemas.microsoft.com/office/drawing/2014/main" id="{8D96026F-79B6-4D5F-98F7-E24CD7B21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2366" y="7600950"/>
            <a:ext cx="1981200" cy="371475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04F4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5306E83-FF2C-43B9-AFC7-B6465F064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2150" y="773430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4F43"/>
          </a:solidFill>
          <a:ln xmlns:a="http://schemas.openxmlformats.org/drawingml/2006/main" w="0">
            <a:solidFill>
              <a:srgbClr val="E04F43"/>
            </a:solidFill>
            <a:prstDash val="solid"/>
          </a:ln>
        </p:spPr>
      </p:sp>
      <p:sp>
        <p:nvSpPr>
          <p:cNvPr id="39" name="badge-text-50 tx proof">
            <a:extLst xmlns:a="http://schemas.openxmlformats.org/drawingml/2006/main">
              <a:ext uri="{FF2B5EF4-FFF2-40B4-BE49-F238E27FC236}">
                <a16:creationId xmlns:a16="http://schemas.microsoft.com/office/drawing/2014/main" id="{CBEC7578-8EB7-4627-A953-39A6B39BD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7715250"/>
            <a:ext cx="1400175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50 tx proof</a:t>
            </a:r>
          </a:p>
        </p:txBody>
      </p:sp>
      <p:sp>
        <p:nvSpPr>
          <p:cNvPr id="4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2B10328F-187B-49E1-BAB0-BB03B3765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525000"/>
            <a:ext cx="14668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8490A0"/>
                </a:solidFill>
              </a:defRPr>
            </a:pPr>
            <a:r>
              <a:rPr sz="1125">
                <a:solidFill>
                  <a:srgbClr val="8490A0"/>
                </a:solidFill>
              </a:rPr>
              <a:t>Final submission package</a:t>
            </a:r>
          </a:p>
        </p:txBody>
      </p:sp>
      <p:sp>
        <p:nvSpPr>
          <p:cNvPr id="41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C4E225C6-9D99-4BCC-ACD6-FE1E917E5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3100" y="9525000"/>
            <a:ext cx="4095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7A58"/>
                </a:solidFill>
              </a:defRPr>
            </a:pPr>
            <a:r>
              <a:rPr sz="1125" b="1">
                <a:solidFill>
                  <a:srgbClr val="007A58"/>
                </a:solidFill>
              </a:rPr>
              <a:t>pennypilot-five.vercel.app</a:t>
            </a:r>
          </a:p>
        </p:txBody>
      </p:sp>
    </p:spTree>
    <p:extLst>
      <p:ext uri="{BB962C8B-B14F-4D97-AF65-F5344CB8AC3E}">
        <p14:creationId xmlns:p14="http://schemas.microsoft.com/office/powerpoint/2010/main" val="1577195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2026-04-24T13:13:12.4270000Z</dcterms:created>
  <dcterms:modified xsi:type="dcterms:W3CDTF">2026-04-24T13:13:12.4270000Z</dcterms:modified>
</coreProperties>
</file>